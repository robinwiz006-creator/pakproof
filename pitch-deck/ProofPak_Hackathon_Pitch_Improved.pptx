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ProofPak helps you prove your skills, get work, and build your reputation. It starts with one Skill Passport connecting your work, evidence, opportunities, and achievements.</a:t>
            </a:r>
          </a:p>
          <a:p/>
          <a:p>
            <a:r>
              <a:t>Reference / accuracy notes (not spoken): Website marketing screenshot is illustrative, not a real user or issued award. Node/website typography Arial; genuine site mark.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apply for work, your CV is one file, your projects live elsewhere, and certificates sit in email. You collect the same evidence again. Employers still need to understand the source of each claim and the work behind it. The problem is not a lack of work. It is a scattered professional record.</a:t>
            </a:r>
          </a:p>
          <a:p/>
          <a:p>
            <a:r>
              <a:t>Reference / accuracy notes (not spoken): Conceptual native diagram. No unemployment, market-size or user-study claims.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actual running Passport with demo data. Show your skills and practical projects. Prove your work with supporting evidence and credentials from authorized organizations. Build your reputation as your record grows. Your own claims remain separate from issued credentials. You control what to publish, then share one place that gives people the full picture.</a:t>
            </a:r>
          </a:p>
          <a:p/>
          <a:p>
            <a:r>
              <a:t>Reference / accuracy notes (not spoken): src/components/passport-view.tsx; credential-actions.ts. Demo data; no verified achievement. Shared evidence remains subject to host access controls.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 your Passport, then add work and evidence. Find a challenge or paid project that fits. For a paid project, agree on milestones before starting, submit your work, and receive a review. Supported payments are part of that work flow. An authorized organization can separately issue a credential, which the recipient chooses to accept and publish. Payment itself never creates a credential.</a:t>
            </a:r>
          </a:p>
          <a:p/>
          <a:p>
            <a:r>
              <a:t>Reference / accuracy notes (not spoken): docs/PAYMENTS-MVP.md; CREDENTIALS-WALLETS-DELIVERY.md. No escrow or guaranteed payment. Final achievement step includes separate issuance and consent, not an automatic payment effect.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Solana does two useful jobs. A credential can have a digital fingerprint recorded onchain, letting someone check whether that record changed. This checks integrity, not whether the skill claim is true. For approved project milestones, connected wallets can send test USDC and produce a checkable receipt. Low fees, fast settlement, and public records fit both jobs. The current implementation is devnet only, not real-money mainnet payments.</a:t>
            </a:r>
          </a:p>
          <a:p/>
          <a:p>
            <a:r>
              <a:t>Reference / accuracy notes (not spoken): credential-proof.ts; payment-chain.ts; payments.ts. No actual broadcast verified. Fast/low-cost design rationale, not measured performance. Organization approval does not establish legal identity.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ProofPak is different because the record carries forward. A CV lists claims, a certificate tool holds awards, and a work platform holds jobs. ProofPak connects skills, evidence, opportunities and completed work. Each new project or credential gives the next person more context, instead of making you start from zero. That is how a professional record can build reputation over time.</a:t>
            </a:r>
          </a:p>
          <a:p/>
          <a:p>
            <a:r>
              <a:t>Reference / accuracy notes (not spoken): Positioning comparison, not an exhaustive competitor audit or claim to have invented features. Timeline conceptual, not user traction.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more than an idea. The MVP includes Passport publication, evidence, credential issuance and acceptance, opportunity applications, agreed milestones, work reviews, wallet ownership checks, and devnet receipt logic. These are actual product captures, using demo and offline fixture data. The implementation has passed local and automated checks. The next important step is real-user testing, including hosted accounts and real wallet-to-devnet journeys.</a:t>
            </a:r>
          </a:p>
          <a:p/>
          <a:p>
            <a:r>
              <a:t>Reference / accuracy notes (not spoken): 60 unit tests, 112 browser tests, actual local PostgreSQL migrations/workflow/privacy checks, lint/typecheck/build passed in onboarding. Not real hosted E2E or actual token broadcast. Screenshot main: demo public profile; supporting: actual credential and project brief test components, no real award/payment. Next.js 16.4.0 security advisory remains. Live deployment inaccessible from environment (HTTP403).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Pakistan gives us a focused place to begin. We can test one shared journey: a student or graduate showing early work, a developer or freelancer carrying evidence forward, and an organization looking for practical talent or issuing recognition. The plan is to learn in small local pilots before expanding. We are choosing a starting market, not claiming that we already have adoption.</a:t>
            </a:r>
          </a:p>
          <a:p/>
          <a:p>
            <a:r>
              <a:t>Reference / accuracy notes (not spoken): No Pakistan population, graduate, freelancer or market-size statistic included because independently sourced current statistics were not available in supplied material. Geographic focus and audiences are proposed strategy, not demand validation.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proposed model starts free for individuals: a basic Skill Passport and sharing. Organizations could pay for useful credential, hiring and opportunity tools. That puts revenue around team needs while keeping it easy for talent to start. Later, project transaction fees may be an option, subject to validation and applicable rules. These are business hypotheses, not current revenue or announced prices.</a:t>
            </a:r>
          </a:p>
          <a:p/>
          <a:p>
            <a:r>
              <a:t>Reference / accuracy notes (not spoken): No billing implementation, paying customers, forecasts or current transaction fees asserted.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a small cohort through developer communities and education programs in Pakistan. Recruit one interested issuer or company around a practical challenge or project. Help the group complete the journey: work, review, and separate recognition where appropriate. Then test whether people share that record for their next opportunity. Use the feedback to improve and repeat before inviting more organizations. This is a pilot plan, not a partnership announcement.</a:t>
            </a:r>
          </a:p>
          <a:p/>
          <a:p>
            <a:r>
              <a:t>Reference / accuracy notes (not spoken): No confirmed customers, partnerships or adoption. Founder experience with communities, workshops and hackathons was not independently documented and therefore is not asserted. No numerical pilot target is presented as a commitment.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work should build your reputation. Our vision is a Skill Passport that grows with every project, credential and achievement. Next, we will test with real users, then run focused company and issuer pilots. Wider credential and payment support comes later. Mainnet remains a future step requiring separate validation. ProofPak: prove your skills, get work, build your reputation.</a:t>
            </a:r>
          </a:p>
          <a:p/>
          <a:p>
            <a:r>
              <a:t>Reference / accuracy notes (not spoken): Future roadmap only. Current payment implementation is devnet/test tokens. Portability across platforms, professions and countries is a long-term direction, not an existing integration.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11292840" y="6428232"/>
            <a:ext cx="411480" cy="228600"/>
          </a:xfrm>
          <a:prstGeom prst="rect">
            <a:avLst/>
          </a:prstGeom>
          <a:noFill/>
        </p:spPr>
        <p:txBody>
          <a:bodyPr wrap="square" lIns="0" rIns="0" tIns="0" bIns="0">
            <a:spAutoFit/>
          </a:bodyPr>
          <a:lstStyle/>
          <a:p>
            <a:pPr>
              <a:spcAft>
                <a:spcPts val="600"/>
              </a:spcAft>
              <a:defRPr sz="1000" b="0">
                <a:solidFill>
                  <a:srgbClr val="655F56"/>
                </a:solidFill>
                <a:latin typeface="Arial"/>
              </a:defRPr>
            </a:pPr>
            <a:r>
              <a:t>01</a:t>
            </a:r>
          </a:p>
        </p:txBody>
      </p:sp>
      <p:pic>
        <p:nvPicPr>
          <p:cNvPr id="3" name="Picture 2" descr="brand.png"/>
          <p:cNvPicPr>
            <a:picLocks noChangeAspect="1"/>
          </p:cNvPicPr>
          <p:nvPr/>
        </p:nvPicPr>
        <p:blipFill>
          <a:blip r:embed="rId2"/>
          <a:stretch>
            <a:fillRect/>
          </a:stretch>
        </p:blipFill>
        <p:spPr>
          <a:xfrm>
            <a:off x="570145" y="411480"/>
            <a:ext cx="341037" cy="347472"/>
          </a:xfrm>
          <a:prstGeom prst="rect">
            <a:avLst/>
          </a:prstGeom>
        </p:spPr>
      </p:pic>
      <p:sp>
        <p:nvSpPr>
          <p:cNvPr id="4" name="TextBox 3"/>
          <p:cNvSpPr txBox="1"/>
          <p:nvPr/>
        </p:nvSpPr>
        <p:spPr>
          <a:xfrm>
            <a:off x="1014983" y="406908"/>
            <a:ext cx="1645920" cy="411480"/>
          </a:xfrm>
          <a:prstGeom prst="rect">
            <a:avLst/>
          </a:prstGeom>
          <a:noFill/>
        </p:spPr>
        <p:txBody>
          <a:bodyPr wrap="square" lIns="0" rIns="0" tIns="0" bIns="0">
            <a:spAutoFit/>
          </a:bodyPr>
          <a:lstStyle/>
          <a:p>
            <a:pPr>
              <a:spcAft>
                <a:spcPts val="600"/>
              </a:spcAft>
              <a:defRPr sz="2200" b="1">
                <a:solidFill>
                  <a:srgbClr val="171717"/>
                </a:solidFill>
                <a:latin typeface="Arial"/>
              </a:defRPr>
            </a:pPr>
            <a:r>
              <a:t>ProofPak</a:t>
            </a:r>
          </a:p>
        </p:txBody>
      </p:sp>
      <p:sp>
        <p:nvSpPr>
          <p:cNvPr id="5" name="TextBox 4"/>
          <p:cNvSpPr txBox="1"/>
          <p:nvPr/>
        </p:nvSpPr>
        <p:spPr>
          <a:xfrm>
            <a:off x="585216" y="1371600"/>
            <a:ext cx="6583680" cy="1234440"/>
          </a:xfrm>
          <a:prstGeom prst="rect">
            <a:avLst/>
          </a:prstGeom>
          <a:noFill/>
        </p:spPr>
        <p:txBody>
          <a:bodyPr wrap="square" lIns="0" rIns="0" tIns="0" bIns="0">
            <a:spAutoFit/>
          </a:bodyPr>
          <a:lstStyle/>
          <a:p>
            <a:pPr>
              <a:spcAft>
                <a:spcPts val="600"/>
              </a:spcAft>
              <a:defRPr sz="7800" b="1">
                <a:solidFill>
                  <a:srgbClr val="171717"/>
                </a:solidFill>
                <a:latin typeface="Arial"/>
              </a:defRPr>
            </a:pPr>
            <a:r>
              <a:t>ProofPak</a:t>
            </a:r>
          </a:p>
        </p:txBody>
      </p:sp>
      <p:sp>
        <p:nvSpPr>
          <p:cNvPr id="6" name="TextBox 5"/>
          <p:cNvSpPr txBox="1"/>
          <p:nvPr/>
        </p:nvSpPr>
        <p:spPr>
          <a:xfrm>
            <a:off x="640080" y="2779776"/>
            <a:ext cx="6035040" cy="2103120"/>
          </a:xfrm>
          <a:prstGeom prst="rect">
            <a:avLst/>
          </a:prstGeom>
          <a:noFill/>
        </p:spPr>
        <p:txBody>
          <a:bodyPr wrap="square" lIns="0" rIns="0" tIns="0" bIns="0">
            <a:spAutoFit/>
          </a:bodyPr>
          <a:lstStyle/>
          <a:p>
            <a:pPr>
              <a:spcAft>
                <a:spcPts val="600"/>
              </a:spcAft>
              <a:defRPr sz="3500" b="1">
                <a:solidFill>
                  <a:srgbClr val="171717"/>
                </a:solidFill>
                <a:latin typeface="Arial"/>
              </a:defRPr>
            </a:pPr>
            <a:r>
              <a:t>Prove your skills.</a:t>
            </a:r>
          </a:p>
          <a:p>
            <a:pPr>
              <a:spcAft>
                <a:spcPts val="600"/>
              </a:spcAft>
              <a:defRPr sz="3500" b="1">
                <a:solidFill>
                  <a:srgbClr val="171717"/>
                </a:solidFill>
                <a:latin typeface="Arial"/>
              </a:defRPr>
            </a:pPr>
            <a:r>
              <a:t>Get work.</a:t>
            </a:r>
          </a:p>
          <a:p>
            <a:pPr>
              <a:spcAft>
                <a:spcPts val="600"/>
              </a:spcAft>
              <a:defRPr sz="3500" b="1">
                <a:solidFill>
                  <a:srgbClr val="171717"/>
                </a:solidFill>
                <a:latin typeface="Arial"/>
              </a:defRPr>
            </a:pPr>
            <a:r>
              <a:t>Build your reputation.</a:t>
            </a:r>
          </a:p>
        </p:txBody>
      </p:sp>
      <p:cxnSp>
        <p:nvCxnSpPr>
          <p:cNvPr id="7" name="Connector 6"/>
          <p:cNvCxnSpPr/>
          <p:nvPr/>
        </p:nvCxnSpPr>
        <p:spPr>
          <a:xfrm>
            <a:off x="640080" y="5285232"/>
            <a:ext cx="731520" cy="0"/>
          </a:xfrm>
          <a:prstGeom prst="line">
            <a:avLst/>
          </a:prstGeom>
          <a:ln w="63500">
            <a:solidFill>
              <a:srgbClr val="C6532C"/>
            </a:solidFill>
          </a:ln>
        </p:spPr>
      </p:cxnSp>
      <p:sp>
        <p:nvSpPr>
          <p:cNvPr id="8" name="TextBox 7"/>
          <p:cNvSpPr txBox="1"/>
          <p:nvPr/>
        </p:nvSpPr>
        <p:spPr>
          <a:xfrm>
            <a:off x="640080" y="5513832"/>
            <a:ext cx="5486400" cy="868680"/>
          </a:xfrm>
          <a:prstGeom prst="rect">
            <a:avLst/>
          </a:prstGeom>
          <a:noFill/>
        </p:spPr>
        <p:txBody>
          <a:bodyPr wrap="square" lIns="0" rIns="0" tIns="0" bIns="0">
            <a:spAutoFit/>
          </a:bodyPr>
          <a:lstStyle/>
          <a:p>
            <a:pPr>
              <a:spcAft>
                <a:spcPts val="600"/>
              </a:spcAft>
              <a:defRPr sz="2300" b="0">
                <a:solidFill>
                  <a:srgbClr val="655F56"/>
                </a:solidFill>
                <a:latin typeface="Arial"/>
              </a:defRPr>
            </a:pPr>
            <a:r>
              <a:t>One professional record.</a:t>
            </a:r>
          </a:p>
          <a:p>
            <a:pPr>
              <a:spcAft>
                <a:spcPts val="600"/>
              </a:spcAft>
              <a:defRPr sz="2300" b="0">
                <a:solidFill>
                  <a:srgbClr val="655F56"/>
                </a:solidFill>
                <a:latin typeface="Arial"/>
              </a:defRPr>
            </a:pPr>
            <a:r>
              <a:t>From skills to paid work.</a:t>
            </a:r>
          </a:p>
        </p:txBody>
      </p:sp>
      <p:sp>
        <p:nvSpPr>
          <p:cNvPr id="9" name="Rectangle 8"/>
          <p:cNvSpPr/>
          <p:nvPr/>
        </p:nvSpPr>
        <p:spPr>
          <a:xfrm>
            <a:off x="6903720" y="0"/>
            <a:ext cx="5285232" cy="6858000"/>
          </a:xfrm>
          <a:prstGeom prst="rect">
            <a:avLst/>
          </a:prstGeom>
          <a:solidFill>
            <a:srgbClr val="E7DECF"/>
          </a:solidFill>
          <a:ln>
            <a:noFill/>
          </a:ln>
        </p:spPr>
        <p:txBody>
          <a:bodyPr rtlCol="0" anchor="ctr"/>
          <a:lstStyle/>
          <a:p>
            <a:pPr algn="ctr"/>
          </a:p>
        </p:txBody>
      </p:sp>
      <p:pic>
        <p:nvPicPr>
          <p:cNvPr id="10" name="Picture 9" descr="passport-preview.png"/>
          <p:cNvPicPr>
            <a:picLocks noChangeAspect="1"/>
          </p:cNvPicPr>
          <p:nvPr/>
        </p:nvPicPr>
        <p:blipFill>
          <a:blip r:embed="rId3"/>
          <a:stretch>
            <a:fillRect/>
          </a:stretch>
        </p:blipFill>
        <p:spPr>
          <a:xfrm>
            <a:off x="7223760" y="720622"/>
            <a:ext cx="4617720" cy="5096714"/>
          </a:xfrm>
          <a:prstGeom prst="rect">
            <a:avLst/>
          </a:prstGeom>
        </p:spPr>
      </p:pic>
      <p:sp>
        <p:nvSpPr>
          <p:cNvPr id="11" name="Rounded Rectangle 10"/>
          <p:cNvSpPr/>
          <p:nvPr/>
        </p:nvSpPr>
        <p:spPr>
          <a:xfrm>
            <a:off x="7269480" y="6199632"/>
            <a:ext cx="4453128" cy="393192"/>
          </a:xfrm>
          <a:prstGeom prst="roundRect">
            <a:avLst>
              <a:gd name="adj" fmla="val 8000"/>
            </a:avLst>
          </a:prstGeom>
          <a:solidFill>
            <a:srgbClr val="F5F0E6"/>
          </a:solidFill>
          <a:ln>
            <a:noFill/>
          </a:ln>
        </p:spPr>
        <p:txBody>
          <a:bodyPr rtlCol="0" anchor="ctr"/>
          <a:lstStyle/>
          <a:p>
            <a:pPr algn="ctr"/>
          </a:p>
        </p:txBody>
      </p:sp>
      <p:sp>
        <p:nvSpPr>
          <p:cNvPr id="12" name="TextBox 11"/>
          <p:cNvSpPr txBox="1"/>
          <p:nvPr/>
        </p:nvSpPr>
        <p:spPr>
          <a:xfrm>
            <a:off x="7379208" y="6277356"/>
            <a:ext cx="4233672" cy="228600"/>
          </a:xfrm>
          <a:prstGeom prst="rect">
            <a:avLst/>
          </a:prstGeom>
          <a:noFill/>
        </p:spPr>
        <p:txBody>
          <a:bodyPr wrap="square" lIns="0" rIns="0" tIns="0" bIns="0">
            <a:spAutoFit/>
          </a:bodyPr>
          <a:lstStyle/>
          <a:p>
            <a:pPr>
              <a:spcAft>
                <a:spcPts val="600"/>
              </a:spcAft>
              <a:defRPr sz="1200" b="1">
                <a:solidFill>
                  <a:srgbClr val="655F56"/>
                </a:solidFill>
                <a:latin typeface="Arial"/>
              </a:defRPr>
            </a:pPr>
            <a:r>
              <a:t>ACTUAL WEBSITE · ILLUSTRATIVE PROFILE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11292840" y="6428232"/>
            <a:ext cx="411480" cy="228600"/>
          </a:xfrm>
          <a:prstGeom prst="rect">
            <a:avLst/>
          </a:prstGeom>
          <a:noFill/>
        </p:spPr>
        <p:txBody>
          <a:bodyPr wrap="square" lIns="0" rIns="0" tIns="0" bIns="0">
            <a:spAutoFit/>
          </a:bodyPr>
          <a:lstStyle/>
          <a:p>
            <a:pPr>
              <a:spcAft>
                <a:spcPts val="600"/>
              </a:spcAft>
              <a:defRPr sz="1000" b="0">
                <a:solidFill>
                  <a:srgbClr val="655F56"/>
                </a:solidFill>
                <a:latin typeface="Arial"/>
              </a:defRPr>
            </a:pPr>
            <a:r>
              <a:t>02</a:t>
            </a:r>
          </a:p>
        </p:txBody>
      </p:sp>
      <p:sp>
        <p:nvSpPr>
          <p:cNvPr id="3" name="TextBox 2"/>
          <p:cNvSpPr txBox="1"/>
          <p:nvPr/>
        </p:nvSpPr>
        <p:spPr>
          <a:xfrm>
            <a:off x="594360" y="502920"/>
            <a:ext cx="11064240" cy="1463040"/>
          </a:xfrm>
          <a:prstGeom prst="rect">
            <a:avLst/>
          </a:prstGeom>
          <a:noFill/>
        </p:spPr>
        <p:txBody>
          <a:bodyPr wrap="square" lIns="0" rIns="0" tIns="0" bIns="0">
            <a:spAutoFit/>
          </a:bodyPr>
          <a:lstStyle/>
          <a:p>
            <a:pPr>
              <a:spcAft>
                <a:spcPts val="600"/>
              </a:spcAft>
              <a:defRPr sz="4300" b="1">
                <a:solidFill>
                  <a:srgbClr val="171717"/>
                </a:solidFill>
                <a:latin typeface="Arial"/>
              </a:defRPr>
            </a:pPr>
            <a:r>
              <a:t>Your work is everywhere.</a:t>
            </a:r>
          </a:p>
          <a:p>
            <a:pPr>
              <a:spcAft>
                <a:spcPts val="600"/>
              </a:spcAft>
              <a:defRPr sz="4300" b="1">
                <a:solidFill>
                  <a:srgbClr val="171717"/>
                </a:solidFill>
                <a:latin typeface="Arial"/>
              </a:defRPr>
            </a:pPr>
            <a:r>
              <a:t>Your proof shouldn’t be.</a:t>
            </a:r>
          </a:p>
        </p:txBody>
      </p:sp>
      <p:sp>
        <p:nvSpPr>
          <p:cNvPr id="4" name="Rectangle 3"/>
          <p:cNvSpPr/>
          <p:nvPr/>
        </p:nvSpPr>
        <p:spPr>
          <a:xfrm>
            <a:off x="1014984" y="2578608"/>
            <a:ext cx="2834640" cy="2468880"/>
          </a:xfrm>
          <a:prstGeom prst="rect">
            <a:avLst/>
          </a:prstGeom>
          <a:solidFill>
            <a:srgbClr val="E7DECF"/>
          </a:solidFill>
          <a:ln>
            <a:noFill/>
          </a:ln>
        </p:spPr>
        <p:txBody>
          <a:bodyPr rtlCol="0" anchor="ctr"/>
          <a:lstStyle/>
          <a:p>
            <a:pPr algn="ctr"/>
          </a:p>
        </p:txBody>
      </p:sp>
      <p:sp>
        <p:nvSpPr>
          <p:cNvPr id="5" name="Rectangle 4"/>
          <p:cNvSpPr/>
          <p:nvPr/>
        </p:nvSpPr>
        <p:spPr>
          <a:xfrm>
            <a:off x="960120" y="2514600"/>
            <a:ext cx="2834640" cy="2468880"/>
          </a:xfrm>
          <a:prstGeom prst="rect">
            <a:avLst/>
          </a:prstGeom>
          <a:solidFill>
            <a:srgbClr val="FFFCF6"/>
          </a:solidFill>
          <a:ln>
            <a:noFill/>
          </a:ln>
        </p:spPr>
        <p:txBody>
          <a:bodyPr rtlCol="0" anchor="ctr"/>
          <a:lstStyle/>
          <a:p>
            <a:pPr algn="ctr"/>
          </a:p>
        </p:txBody>
      </p:sp>
      <p:cxnSp>
        <p:nvCxnSpPr>
          <p:cNvPr id="6" name="Connector 5"/>
          <p:cNvCxnSpPr/>
          <p:nvPr/>
        </p:nvCxnSpPr>
        <p:spPr>
          <a:xfrm>
            <a:off x="1213774" y="2725003"/>
            <a:ext cx="251643" cy="0"/>
          </a:xfrm>
          <a:prstGeom prst="line">
            <a:avLst/>
          </a:prstGeom>
          <a:ln w="21590">
            <a:solidFill>
              <a:srgbClr val="C6532C"/>
            </a:solidFill>
          </a:ln>
        </p:spPr>
      </p:cxnSp>
      <p:cxnSp>
        <p:nvCxnSpPr>
          <p:cNvPr id="7" name="Connector 6"/>
          <p:cNvCxnSpPr/>
          <p:nvPr/>
        </p:nvCxnSpPr>
        <p:spPr>
          <a:xfrm>
            <a:off x="1465417" y="2725003"/>
            <a:ext cx="0" cy="330281"/>
          </a:xfrm>
          <a:prstGeom prst="line">
            <a:avLst/>
          </a:prstGeom>
          <a:ln w="21590">
            <a:solidFill>
              <a:srgbClr val="C6532C"/>
            </a:solidFill>
          </a:ln>
        </p:spPr>
      </p:cxnSp>
      <p:cxnSp>
        <p:nvCxnSpPr>
          <p:cNvPr id="8" name="Connector 7"/>
          <p:cNvCxnSpPr/>
          <p:nvPr/>
        </p:nvCxnSpPr>
        <p:spPr>
          <a:xfrm flipH="1">
            <a:off x="1213774" y="3055284"/>
            <a:ext cx="251643" cy="0"/>
          </a:xfrm>
          <a:prstGeom prst="line">
            <a:avLst/>
          </a:prstGeom>
          <a:ln w="21590">
            <a:solidFill>
              <a:srgbClr val="C6532C"/>
            </a:solidFill>
          </a:ln>
        </p:spPr>
      </p:cxnSp>
      <p:cxnSp>
        <p:nvCxnSpPr>
          <p:cNvPr id="9" name="Connector 8"/>
          <p:cNvCxnSpPr/>
          <p:nvPr/>
        </p:nvCxnSpPr>
        <p:spPr>
          <a:xfrm flipV="1">
            <a:off x="1213774" y="2725003"/>
            <a:ext cx="0" cy="330281"/>
          </a:xfrm>
          <a:prstGeom prst="line">
            <a:avLst/>
          </a:prstGeom>
          <a:ln w="21590">
            <a:solidFill>
              <a:srgbClr val="C6532C"/>
            </a:solidFill>
          </a:ln>
        </p:spPr>
      </p:cxnSp>
      <p:sp>
        <p:nvSpPr>
          <p:cNvPr id="10" name="Oval 9"/>
          <p:cNvSpPr/>
          <p:nvPr/>
        </p:nvSpPr>
        <p:spPr>
          <a:xfrm>
            <a:off x="1284549" y="2795778"/>
            <a:ext cx="106161" cy="106161"/>
          </a:xfrm>
          <a:prstGeom prst="ellipse">
            <a:avLst/>
          </a:prstGeom>
          <a:solidFill>
            <a:srgbClr val="C6532C"/>
          </a:solidFill>
          <a:ln>
            <a:noFill/>
          </a:ln>
        </p:spPr>
        <p:txBody>
          <a:bodyPr rtlCol="0" anchor="ctr"/>
          <a:lstStyle/>
          <a:p>
            <a:pPr algn="ctr"/>
          </a:p>
        </p:txBody>
      </p:sp>
      <p:cxnSp>
        <p:nvCxnSpPr>
          <p:cNvPr id="11" name="Connector 10"/>
          <p:cNvCxnSpPr/>
          <p:nvPr/>
        </p:nvCxnSpPr>
        <p:spPr>
          <a:xfrm>
            <a:off x="1268821" y="2956986"/>
            <a:ext cx="141549" cy="0"/>
          </a:xfrm>
          <a:prstGeom prst="line">
            <a:avLst/>
          </a:prstGeom>
          <a:ln w="21590">
            <a:solidFill>
              <a:srgbClr val="C6532C"/>
            </a:solidFill>
          </a:ln>
        </p:spPr>
      </p:cxnSp>
      <p:cxnSp>
        <p:nvCxnSpPr>
          <p:cNvPr id="12" name="Connector 11"/>
          <p:cNvCxnSpPr/>
          <p:nvPr/>
        </p:nvCxnSpPr>
        <p:spPr>
          <a:xfrm>
            <a:off x="1268821" y="3000237"/>
            <a:ext cx="141549" cy="0"/>
          </a:xfrm>
          <a:prstGeom prst="line">
            <a:avLst/>
          </a:prstGeom>
          <a:ln w="21590">
            <a:solidFill>
              <a:srgbClr val="C6532C"/>
            </a:solidFill>
          </a:ln>
        </p:spPr>
      </p:cxnSp>
      <p:sp>
        <p:nvSpPr>
          <p:cNvPr id="13" name="TextBox 12"/>
          <p:cNvSpPr txBox="1"/>
          <p:nvPr/>
        </p:nvSpPr>
        <p:spPr>
          <a:xfrm>
            <a:off x="1691640" y="2734056"/>
            <a:ext cx="1965960" cy="457200"/>
          </a:xfrm>
          <a:prstGeom prst="rect">
            <a:avLst/>
          </a:prstGeom>
          <a:noFill/>
        </p:spPr>
        <p:txBody>
          <a:bodyPr wrap="square" lIns="0" rIns="0" tIns="0" bIns="0">
            <a:spAutoFit/>
          </a:bodyPr>
          <a:lstStyle/>
          <a:p>
            <a:pPr>
              <a:spcAft>
                <a:spcPts val="600"/>
              </a:spcAft>
              <a:defRPr sz="2200" b="1">
                <a:solidFill>
                  <a:srgbClr val="171717"/>
                </a:solidFill>
                <a:latin typeface="Arial"/>
              </a:defRPr>
            </a:pPr>
            <a:r>
              <a:t>CV</a:t>
            </a:r>
          </a:p>
        </p:txBody>
      </p:sp>
      <p:sp>
        <p:nvSpPr>
          <p:cNvPr id="14" name="TextBox 13"/>
          <p:cNvSpPr txBox="1"/>
          <p:nvPr/>
        </p:nvSpPr>
        <p:spPr>
          <a:xfrm>
            <a:off x="1179576" y="3383280"/>
            <a:ext cx="2468880" cy="1536192"/>
          </a:xfrm>
          <a:prstGeom prst="rect">
            <a:avLst/>
          </a:prstGeom>
          <a:noFill/>
        </p:spPr>
        <p:txBody>
          <a:bodyPr wrap="square" lIns="0" rIns="0" tIns="0" bIns="0">
            <a:spAutoFit/>
          </a:bodyPr>
          <a:lstStyle/>
          <a:p>
            <a:pPr>
              <a:spcAft>
                <a:spcPts val="600"/>
              </a:spcAft>
              <a:defRPr sz="1800" b="0">
                <a:solidFill>
                  <a:srgbClr val="655F56"/>
                </a:solidFill>
                <a:latin typeface="Arial"/>
              </a:defRPr>
            </a:pPr>
            <a:r>
              <a:t>Skills</a:t>
            </a:r>
          </a:p>
          <a:p>
            <a:pPr>
              <a:spcAft>
                <a:spcPts val="600"/>
              </a:spcAft>
              <a:defRPr sz="1800" b="0">
                <a:solidFill>
                  <a:srgbClr val="655F56"/>
                </a:solidFill>
                <a:latin typeface="Arial"/>
              </a:defRPr>
            </a:pPr>
            <a:r>
              <a:t>Experience</a:t>
            </a:r>
          </a:p>
        </p:txBody>
      </p:sp>
      <p:sp>
        <p:nvSpPr>
          <p:cNvPr id="15" name="Rectangle 14"/>
          <p:cNvSpPr/>
          <p:nvPr/>
        </p:nvSpPr>
        <p:spPr>
          <a:xfrm>
            <a:off x="3941063" y="2240279"/>
            <a:ext cx="2971800" cy="2331720"/>
          </a:xfrm>
          <a:prstGeom prst="rect">
            <a:avLst/>
          </a:prstGeom>
          <a:solidFill>
            <a:srgbClr val="E7DECF"/>
          </a:solidFill>
          <a:ln>
            <a:noFill/>
          </a:ln>
        </p:spPr>
        <p:txBody>
          <a:bodyPr rtlCol="0" anchor="ctr"/>
          <a:lstStyle/>
          <a:p>
            <a:pPr algn="ctr"/>
          </a:p>
        </p:txBody>
      </p:sp>
      <p:sp>
        <p:nvSpPr>
          <p:cNvPr id="16" name="Rectangle 15"/>
          <p:cNvSpPr/>
          <p:nvPr/>
        </p:nvSpPr>
        <p:spPr>
          <a:xfrm>
            <a:off x="3886200" y="2176272"/>
            <a:ext cx="2971800" cy="2331720"/>
          </a:xfrm>
          <a:prstGeom prst="rect">
            <a:avLst/>
          </a:prstGeom>
          <a:solidFill>
            <a:srgbClr val="FFFCF6"/>
          </a:solidFill>
          <a:ln>
            <a:noFill/>
          </a:ln>
        </p:spPr>
        <p:txBody>
          <a:bodyPr rtlCol="0" anchor="ctr"/>
          <a:lstStyle/>
          <a:p>
            <a:pPr algn="ctr"/>
          </a:p>
        </p:txBody>
      </p:sp>
      <p:cxnSp>
        <p:nvCxnSpPr>
          <p:cNvPr id="17" name="Connector 16"/>
          <p:cNvCxnSpPr/>
          <p:nvPr/>
        </p:nvCxnSpPr>
        <p:spPr>
          <a:xfrm flipH="1">
            <a:off x="4108399" y="2453518"/>
            <a:ext cx="86502" cy="102230"/>
          </a:xfrm>
          <a:prstGeom prst="line">
            <a:avLst/>
          </a:prstGeom>
          <a:ln w="21590">
            <a:solidFill>
              <a:srgbClr val="C6532C"/>
            </a:solidFill>
          </a:ln>
        </p:spPr>
      </p:cxnSp>
      <p:cxnSp>
        <p:nvCxnSpPr>
          <p:cNvPr id="18" name="Connector 17"/>
          <p:cNvCxnSpPr/>
          <p:nvPr/>
        </p:nvCxnSpPr>
        <p:spPr>
          <a:xfrm>
            <a:off x="4108399" y="2555748"/>
            <a:ext cx="86502" cy="102229"/>
          </a:xfrm>
          <a:prstGeom prst="line">
            <a:avLst/>
          </a:prstGeom>
          <a:ln w="21590">
            <a:solidFill>
              <a:srgbClr val="C6532C"/>
            </a:solidFill>
          </a:ln>
        </p:spPr>
      </p:cxnSp>
      <p:cxnSp>
        <p:nvCxnSpPr>
          <p:cNvPr id="19" name="Connector 18"/>
          <p:cNvCxnSpPr/>
          <p:nvPr/>
        </p:nvCxnSpPr>
        <p:spPr>
          <a:xfrm>
            <a:off x="4336450" y="2453518"/>
            <a:ext cx="86502" cy="102230"/>
          </a:xfrm>
          <a:prstGeom prst="line">
            <a:avLst/>
          </a:prstGeom>
          <a:ln w="21590">
            <a:solidFill>
              <a:srgbClr val="C6532C"/>
            </a:solidFill>
          </a:ln>
        </p:spPr>
      </p:cxnSp>
      <p:cxnSp>
        <p:nvCxnSpPr>
          <p:cNvPr id="20" name="Connector 19"/>
          <p:cNvCxnSpPr/>
          <p:nvPr/>
        </p:nvCxnSpPr>
        <p:spPr>
          <a:xfrm flipH="1">
            <a:off x="4336450" y="2555748"/>
            <a:ext cx="86502" cy="102229"/>
          </a:xfrm>
          <a:prstGeom prst="line">
            <a:avLst/>
          </a:prstGeom>
          <a:ln w="21590">
            <a:solidFill>
              <a:srgbClr val="C6532C"/>
            </a:solidFill>
          </a:ln>
        </p:spPr>
      </p:cxnSp>
      <p:cxnSp>
        <p:nvCxnSpPr>
          <p:cNvPr id="21" name="Connector 20"/>
          <p:cNvCxnSpPr/>
          <p:nvPr/>
        </p:nvCxnSpPr>
        <p:spPr>
          <a:xfrm flipH="1">
            <a:off x="4234220" y="2418130"/>
            <a:ext cx="62911" cy="275235"/>
          </a:xfrm>
          <a:prstGeom prst="line">
            <a:avLst/>
          </a:prstGeom>
          <a:ln w="21590">
            <a:solidFill>
              <a:srgbClr val="C6532C"/>
            </a:solidFill>
          </a:ln>
        </p:spPr>
      </p:cxnSp>
      <p:sp>
        <p:nvSpPr>
          <p:cNvPr id="22" name="TextBox 21"/>
          <p:cNvSpPr txBox="1"/>
          <p:nvPr/>
        </p:nvSpPr>
        <p:spPr>
          <a:xfrm>
            <a:off x="4617720" y="2395728"/>
            <a:ext cx="2103120" cy="457200"/>
          </a:xfrm>
          <a:prstGeom prst="rect">
            <a:avLst/>
          </a:prstGeom>
          <a:noFill/>
        </p:spPr>
        <p:txBody>
          <a:bodyPr wrap="square" lIns="0" rIns="0" tIns="0" bIns="0">
            <a:spAutoFit/>
          </a:bodyPr>
          <a:lstStyle/>
          <a:p>
            <a:pPr>
              <a:spcAft>
                <a:spcPts val="600"/>
              </a:spcAft>
              <a:defRPr sz="2200" b="1">
                <a:solidFill>
                  <a:srgbClr val="171717"/>
                </a:solidFill>
                <a:latin typeface="Arial"/>
              </a:defRPr>
            </a:pPr>
            <a:r>
              <a:t>Projects</a:t>
            </a:r>
          </a:p>
        </p:txBody>
      </p:sp>
      <p:sp>
        <p:nvSpPr>
          <p:cNvPr id="23" name="TextBox 22"/>
          <p:cNvSpPr txBox="1"/>
          <p:nvPr/>
        </p:nvSpPr>
        <p:spPr>
          <a:xfrm>
            <a:off x="4105656" y="3044952"/>
            <a:ext cx="2606040" cy="1399031"/>
          </a:xfrm>
          <a:prstGeom prst="rect">
            <a:avLst/>
          </a:prstGeom>
          <a:noFill/>
        </p:spPr>
        <p:txBody>
          <a:bodyPr wrap="square" lIns="0" rIns="0" tIns="0" bIns="0">
            <a:spAutoFit/>
          </a:bodyPr>
          <a:lstStyle/>
          <a:p>
            <a:pPr>
              <a:spcAft>
                <a:spcPts val="600"/>
              </a:spcAft>
              <a:defRPr sz="1800" b="0">
                <a:solidFill>
                  <a:srgbClr val="655F56"/>
                </a:solidFill>
                <a:latin typeface="Arial"/>
              </a:defRPr>
            </a:pPr>
            <a:r>
              <a:t>Code + demos</a:t>
            </a:r>
          </a:p>
        </p:txBody>
      </p:sp>
      <p:sp>
        <p:nvSpPr>
          <p:cNvPr id="24" name="Rectangle 23"/>
          <p:cNvSpPr/>
          <p:nvPr/>
        </p:nvSpPr>
        <p:spPr>
          <a:xfrm>
            <a:off x="1975104" y="4224528"/>
            <a:ext cx="2834640" cy="1874519"/>
          </a:xfrm>
          <a:prstGeom prst="rect">
            <a:avLst/>
          </a:prstGeom>
          <a:solidFill>
            <a:srgbClr val="E7DECF"/>
          </a:solidFill>
          <a:ln>
            <a:noFill/>
          </a:ln>
        </p:spPr>
        <p:txBody>
          <a:bodyPr rtlCol="0" anchor="ctr"/>
          <a:lstStyle/>
          <a:p>
            <a:pPr algn="ctr"/>
          </a:p>
        </p:txBody>
      </p:sp>
      <p:sp>
        <p:nvSpPr>
          <p:cNvPr id="25" name="Rectangle 24"/>
          <p:cNvSpPr/>
          <p:nvPr/>
        </p:nvSpPr>
        <p:spPr>
          <a:xfrm>
            <a:off x="1920240" y="4160520"/>
            <a:ext cx="2834640" cy="1874519"/>
          </a:xfrm>
          <a:prstGeom prst="rect">
            <a:avLst/>
          </a:prstGeom>
          <a:solidFill>
            <a:srgbClr val="FFFCF6"/>
          </a:solidFill>
          <a:ln>
            <a:noFill/>
          </a:ln>
        </p:spPr>
        <p:txBody>
          <a:bodyPr rtlCol="0" anchor="ctr"/>
          <a:lstStyle/>
          <a:p>
            <a:pPr algn="ctr"/>
          </a:p>
        </p:txBody>
      </p:sp>
      <p:cxnSp>
        <p:nvCxnSpPr>
          <p:cNvPr id="26" name="Connector 25"/>
          <p:cNvCxnSpPr/>
          <p:nvPr/>
        </p:nvCxnSpPr>
        <p:spPr>
          <a:xfrm>
            <a:off x="2173894" y="4370923"/>
            <a:ext cx="251643" cy="0"/>
          </a:xfrm>
          <a:prstGeom prst="line">
            <a:avLst/>
          </a:prstGeom>
          <a:ln w="21590">
            <a:solidFill>
              <a:srgbClr val="C6532C"/>
            </a:solidFill>
          </a:ln>
        </p:spPr>
      </p:cxnSp>
      <p:cxnSp>
        <p:nvCxnSpPr>
          <p:cNvPr id="27" name="Connector 26"/>
          <p:cNvCxnSpPr/>
          <p:nvPr/>
        </p:nvCxnSpPr>
        <p:spPr>
          <a:xfrm>
            <a:off x="2425537" y="4370923"/>
            <a:ext cx="0" cy="330281"/>
          </a:xfrm>
          <a:prstGeom prst="line">
            <a:avLst/>
          </a:prstGeom>
          <a:ln w="21590">
            <a:solidFill>
              <a:srgbClr val="C6532C"/>
            </a:solidFill>
          </a:ln>
        </p:spPr>
      </p:cxnSp>
      <p:cxnSp>
        <p:nvCxnSpPr>
          <p:cNvPr id="28" name="Connector 27"/>
          <p:cNvCxnSpPr/>
          <p:nvPr/>
        </p:nvCxnSpPr>
        <p:spPr>
          <a:xfrm flipH="1">
            <a:off x="2173894" y="4701204"/>
            <a:ext cx="251643" cy="0"/>
          </a:xfrm>
          <a:prstGeom prst="line">
            <a:avLst/>
          </a:prstGeom>
          <a:ln w="21590">
            <a:solidFill>
              <a:srgbClr val="C6532C"/>
            </a:solidFill>
          </a:ln>
        </p:spPr>
      </p:cxnSp>
      <p:cxnSp>
        <p:nvCxnSpPr>
          <p:cNvPr id="29" name="Connector 28"/>
          <p:cNvCxnSpPr/>
          <p:nvPr/>
        </p:nvCxnSpPr>
        <p:spPr>
          <a:xfrm flipV="1">
            <a:off x="2173894" y="4370923"/>
            <a:ext cx="0" cy="330281"/>
          </a:xfrm>
          <a:prstGeom prst="line">
            <a:avLst/>
          </a:prstGeom>
          <a:ln w="21590">
            <a:solidFill>
              <a:srgbClr val="C6532C"/>
            </a:solidFill>
          </a:ln>
        </p:spPr>
      </p:cxnSp>
      <p:sp>
        <p:nvSpPr>
          <p:cNvPr id="30" name="Oval 29"/>
          <p:cNvSpPr/>
          <p:nvPr/>
        </p:nvSpPr>
        <p:spPr>
          <a:xfrm>
            <a:off x="2236805" y="4445629"/>
            <a:ext cx="125821" cy="125821"/>
          </a:xfrm>
          <a:prstGeom prst="ellipse">
            <a:avLst/>
          </a:prstGeom>
          <a:solidFill>
            <a:srgbClr val="C6532C"/>
          </a:solidFill>
          <a:ln>
            <a:noFill/>
          </a:ln>
        </p:spPr>
        <p:txBody>
          <a:bodyPr rtlCol="0" anchor="ctr"/>
          <a:lstStyle/>
          <a:p>
            <a:pPr algn="ctr"/>
          </a:p>
        </p:txBody>
      </p:sp>
      <p:cxnSp>
        <p:nvCxnSpPr>
          <p:cNvPr id="31" name="Connector 30"/>
          <p:cNvCxnSpPr/>
          <p:nvPr/>
        </p:nvCxnSpPr>
        <p:spPr>
          <a:xfrm flipH="1">
            <a:off x="2236805" y="4571451"/>
            <a:ext cx="23591" cy="78638"/>
          </a:xfrm>
          <a:prstGeom prst="line">
            <a:avLst/>
          </a:prstGeom>
          <a:ln w="21590">
            <a:solidFill>
              <a:srgbClr val="C6532C"/>
            </a:solidFill>
          </a:ln>
        </p:spPr>
      </p:cxnSp>
      <p:cxnSp>
        <p:nvCxnSpPr>
          <p:cNvPr id="32" name="Connector 31"/>
          <p:cNvCxnSpPr/>
          <p:nvPr/>
        </p:nvCxnSpPr>
        <p:spPr>
          <a:xfrm>
            <a:off x="2331171" y="4571451"/>
            <a:ext cx="23591" cy="78638"/>
          </a:xfrm>
          <a:prstGeom prst="line">
            <a:avLst/>
          </a:prstGeom>
          <a:ln w="21590">
            <a:solidFill>
              <a:srgbClr val="C6532C"/>
            </a:solidFill>
          </a:ln>
        </p:spPr>
      </p:cxnSp>
      <p:sp>
        <p:nvSpPr>
          <p:cNvPr id="33" name="TextBox 32"/>
          <p:cNvSpPr txBox="1"/>
          <p:nvPr/>
        </p:nvSpPr>
        <p:spPr>
          <a:xfrm>
            <a:off x="2651760" y="4379976"/>
            <a:ext cx="1965960" cy="457200"/>
          </a:xfrm>
          <a:prstGeom prst="rect">
            <a:avLst/>
          </a:prstGeom>
          <a:noFill/>
        </p:spPr>
        <p:txBody>
          <a:bodyPr wrap="square" lIns="0" rIns="0" tIns="0" bIns="0">
            <a:spAutoFit/>
          </a:bodyPr>
          <a:lstStyle/>
          <a:p>
            <a:pPr>
              <a:spcAft>
                <a:spcPts val="600"/>
              </a:spcAft>
              <a:defRPr sz="2200" b="1">
                <a:solidFill>
                  <a:srgbClr val="171717"/>
                </a:solidFill>
                <a:latin typeface="Arial"/>
              </a:defRPr>
            </a:pPr>
            <a:r>
              <a:t>Certificates</a:t>
            </a:r>
          </a:p>
        </p:txBody>
      </p:sp>
      <p:sp>
        <p:nvSpPr>
          <p:cNvPr id="34" name="TextBox 33"/>
          <p:cNvSpPr txBox="1"/>
          <p:nvPr/>
        </p:nvSpPr>
        <p:spPr>
          <a:xfrm>
            <a:off x="2139696" y="5029200"/>
            <a:ext cx="2468880" cy="941831"/>
          </a:xfrm>
          <a:prstGeom prst="rect">
            <a:avLst/>
          </a:prstGeom>
          <a:noFill/>
        </p:spPr>
        <p:txBody>
          <a:bodyPr wrap="square" lIns="0" rIns="0" tIns="0" bIns="0">
            <a:spAutoFit/>
          </a:bodyPr>
          <a:lstStyle/>
          <a:p>
            <a:pPr>
              <a:spcAft>
                <a:spcPts val="600"/>
              </a:spcAft>
              <a:defRPr sz="1800" b="0">
                <a:solidFill>
                  <a:srgbClr val="655F56"/>
                </a:solidFill>
                <a:latin typeface="Arial"/>
              </a:defRPr>
            </a:pPr>
            <a:r>
              <a:t>Different issuers</a:t>
            </a:r>
          </a:p>
        </p:txBody>
      </p:sp>
      <p:sp>
        <p:nvSpPr>
          <p:cNvPr id="35" name="Rectangle 34"/>
          <p:cNvSpPr/>
          <p:nvPr/>
        </p:nvSpPr>
        <p:spPr>
          <a:xfrm>
            <a:off x="5038344" y="4361688"/>
            <a:ext cx="2377440" cy="1463040"/>
          </a:xfrm>
          <a:prstGeom prst="rect">
            <a:avLst/>
          </a:prstGeom>
          <a:solidFill>
            <a:srgbClr val="E7DECF"/>
          </a:solidFill>
          <a:ln>
            <a:noFill/>
          </a:ln>
        </p:spPr>
        <p:txBody>
          <a:bodyPr rtlCol="0" anchor="ctr"/>
          <a:lstStyle/>
          <a:p>
            <a:pPr algn="ctr"/>
          </a:p>
        </p:txBody>
      </p:sp>
      <p:sp>
        <p:nvSpPr>
          <p:cNvPr id="36" name="Rectangle 35"/>
          <p:cNvSpPr/>
          <p:nvPr/>
        </p:nvSpPr>
        <p:spPr>
          <a:xfrm>
            <a:off x="4983480" y="4297680"/>
            <a:ext cx="2377440" cy="1463040"/>
          </a:xfrm>
          <a:prstGeom prst="rect">
            <a:avLst/>
          </a:prstGeom>
          <a:solidFill>
            <a:srgbClr val="FFFCF6"/>
          </a:solidFill>
          <a:ln>
            <a:noFill/>
          </a:ln>
        </p:spPr>
        <p:txBody>
          <a:bodyPr rtlCol="0" anchor="ctr"/>
          <a:lstStyle/>
          <a:p>
            <a:pPr algn="ctr"/>
          </a:p>
        </p:txBody>
      </p:sp>
      <p:cxnSp>
        <p:nvCxnSpPr>
          <p:cNvPr id="37" name="Connector 36"/>
          <p:cNvCxnSpPr/>
          <p:nvPr/>
        </p:nvCxnSpPr>
        <p:spPr>
          <a:xfrm>
            <a:off x="5237134" y="4508083"/>
            <a:ext cx="251643" cy="0"/>
          </a:xfrm>
          <a:prstGeom prst="line">
            <a:avLst/>
          </a:prstGeom>
          <a:ln w="21590">
            <a:solidFill>
              <a:srgbClr val="C6532C"/>
            </a:solidFill>
          </a:ln>
        </p:spPr>
      </p:cxnSp>
      <p:cxnSp>
        <p:nvCxnSpPr>
          <p:cNvPr id="38" name="Connector 37"/>
          <p:cNvCxnSpPr/>
          <p:nvPr/>
        </p:nvCxnSpPr>
        <p:spPr>
          <a:xfrm>
            <a:off x="5488777" y="4508083"/>
            <a:ext cx="0" cy="330281"/>
          </a:xfrm>
          <a:prstGeom prst="line">
            <a:avLst/>
          </a:prstGeom>
          <a:ln w="21590">
            <a:solidFill>
              <a:srgbClr val="C6532C"/>
            </a:solidFill>
          </a:ln>
        </p:spPr>
      </p:cxnSp>
      <p:cxnSp>
        <p:nvCxnSpPr>
          <p:cNvPr id="39" name="Connector 38"/>
          <p:cNvCxnSpPr/>
          <p:nvPr/>
        </p:nvCxnSpPr>
        <p:spPr>
          <a:xfrm flipH="1">
            <a:off x="5237134" y="4838364"/>
            <a:ext cx="251643" cy="0"/>
          </a:xfrm>
          <a:prstGeom prst="line">
            <a:avLst/>
          </a:prstGeom>
          <a:ln w="21590">
            <a:solidFill>
              <a:srgbClr val="C6532C"/>
            </a:solidFill>
          </a:ln>
        </p:spPr>
      </p:cxnSp>
      <p:cxnSp>
        <p:nvCxnSpPr>
          <p:cNvPr id="40" name="Connector 39"/>
          <p:cNvCxnSpPr/>
          <p:nvPr/>
        </p:nvCxnSpPr>
        <p:spPr>
          <a:xfrm flipV="1">
            <a:off x="5237134" y="4508083"/>
            <a:ext cx="0" cy="330281"/>
          </a:xfrm>
          <a:prstGeom prst="line">
            <a:avLst/>
          </a:prstGeom>
          <a:ln w="21590">
            <a:solidFill>
              <a:srgbClr val="C6532C"/>
            </a:solidFill>
          </a:ln>
        </p:spPr>
      </p:cxnSp>
      <p:cxnSp>
        <p:nvCxnSpPr>
          <p:cNvPr id="41" name="Connector 40"/>
          <p:cNvCxnSpPr/>
          <p:nvPr/>
        </p:nvCxnSpPr>
        <p:spPr>
          <a:xfrm>
            <a:off x="5288249" y="4610313"/>
            <a:ext cx="149413" cy="0"/>
          </a:xfrm>
          <a:prstGeom prst="line">
            <a:avLst/>
          </a:prstGeom>
          <a:ln w="21590">
            <a:solidFill>
              <a:srgbClr val="C6532C"/>
            </a:solidFill>
          </a:ln>
        </p:spPr>
      </p:cxnSp>
      <p:cxnSp>
        <p:nvCxnSpPr>
          <p:cNvPr id="42" name="Connector 41"/>
          <p:cNvCxnSpPr/>
          <p:nvPr/>
        </p:nvCxnSpPr>
        <p:spPr>
          <a:xfrm>
            <a:off x="5288249" y="4673224"/>
            <a:ext cx="149413" cy="0"/>
          </a:xfrm>
          <a:prstGeom prst="line">
            <a:avLst/>
          </a:prstGeom>
          <a:ln w="21590">
            <a:solidFill>
              <a:srgbClr val="C6532C"/>
            </a:solidFill>
          </a:ln>
        </p:spPr>
      </p:cxnSp>
      <p:cxnSp>
        <p:nvCxnSpPr>
          <p:cNvPr id="43" name="Connector 42"/>
          <p:cNvCxnSpPr/>
          <p:nvPr/>
        </p:nvCxnSpPr>
        <p:spPr>
          <a:xfrm>
            <a:off x="5288249" y="4736134"/>
            <a:ext cx="149413" cy="0"/>
          </a:xfrm>
          <a:prstGeom prst="line">
            <a:avLst/>
          </a:prstGeom>
          <a:ln w="21590">
            <a:solidFill>
              <a:srgbClr val="C6532C"/>
            </a:solidFill>
          </a:ln>
        </p:spPr>
      </p:cxnSp>
      <p:sp>
        <p:nvSpPr>
          <p:cNvPr id="44" name="TextBox 43"/>
          <p:cNvSpPr txBox="1"/>
          <p:nvPr/>
        </p:nvSpPr>
        <p:spPr>
          <a:xfrm>
            <a:off x="5715000" y="4517136"/>
            <a:ext cx="1508760" cy="457200"/>
          </a:xfrm>
          <a:prstGeom prst="rect">
            <a:avLst/>
          </a:prstGeom>
          <a:noFill/>
        </p:spPr>
        <p:txBody>
          <a:bodyPr wrap="square" lIns="0" rIns="0" tIns="0" bIns="0">
            <a:spAutoFit/>
          </a:bodyPr>
          <a:lstStyle/>
          <a:p>
            <a:pPr>
              <a:spcAft>
                <a:spcPts val="600"/>
              </a:spcAft>
              <a:defRPr sz="2200" b="1">
                <a:solidFill>
                  <a:srgbClr val="171717"/>
                </a:solidFill>
                <a:latin typeface="Arial"/>
              </a:defRPr>
            </a:pPr>
            <a:r>
              <a:t>Evidence</a:t>
            </a:r>
          </a:p>
        </p:txBody>
      </p:sp>
      <p:sp>
        <p:nvSpPr>
          <p:cNvPr id="45" name="TextBox 44"/>
          <p:cNvSpPr txBox="1"/>
          <p:nvPr/>
        </p:nvSpPr>
        <p:spPr>
          <a:xfrm>
            <a:off x="5202936" y="5166360"/>
            <a:ext cx="2011680" cy="530352"/>
          </a:xfrm>
          <a:prstGeom prst="rect">
            <a:avLst/>
          </a:prstGeom>
          <a:noFill/>
        </p:spPr>
        <p:txBody>
          <a:bodyPr wrap="square" lIns="0" rIns="0" tIns="0" bIns="0">
            <a:spAutoFit/>
          </a:bodyPr>
          <a:lstStyle/>
          <a:p>
            <a:pPr>
              <a:spcAft>
                <a:spcPts val="600"/>
              </a:spcAft>
              <a:defRPr sz="1800" b="0">
                <a:solidFill>
                  <a:srgbClr val="655F56"/>
                </a:solidFill>
                <a:latin typeface="Arial"/>
              </a:defRPr>
            </a:pPr>
            <a:r>
              <a:t>Links + emails</a:t>
            </a:r>
          </a:p>
        </p:txBody>
      </p:sp>
      <p:cxnSp>
        <p:nvCxnSpPr>
          <p:cNvPr id="46" name="Connector 45"/>
          <p:cNvCxnSpPr/>
          <p:nvPr/>
        </p:nvCxnSpPr>
        <p:spPr>
          <a:xfrm>
            <a:off x="8001000" y="2834640"/>
            <a:ext cx="365760" cy="0"/>
          </a:xfrm>
          <a:prstGeom prst="line">
            <a:avLst/>
          </a:prstGeom>
          <a:ln w="38100">
            <a:solidFill>
              <a:srgbClr val="C6532C"/>
            </a:solidFill>
          </a:ln>
        </p:spPr>
      </p:cxnSp>
      <p:sp>
        <p:nvSpPr>
          <p:cNvPr id="47" name="TextBox 46"/>
          <p:cNvSpPr txBox="1"/>
          <p:nvPr/>
        </p:nvSpPr>
        <p:spPr>
          <a:xfrm>
            <a:off x="8595360" y="2606040"/>
            <a:ext cx="3154680" cy="868680"/>
          </a:xfrm>
          <a:prstGeom prst="rect">
            <a:avLst/>
          </a:prstGeom>
          <a:noFill/>
        </p:spPr>
        <p:txBody>
          <a:bodyPr wrap="square" lIns="0" rIns="0" tIns="0" bIns="0">
            <a:spAutoFit/>
          </a:bodyPr>
          <a:lstStyle/>
          <a:p>
            <a:pPr>
              <a:spcAft>
                <a:spcPts val="600"/>
              </a:spcAft>
              <a:defRPr sz="2600" b="1">
                <a:solidFill>
                  <a:srgbClr val="171717"/>
                </a:solidFill>
                <a:latin typeface="Arial"/>
              </a:defRPr>
            </a:pPr>
            <a:r>
              <a:t>Collect it again.</a:t>
            </a:r>
          </a:p>
        </p:txBody>
      </p:sp>
      <p:cxnSp>
        <p:nvCxnSpPr>
          <p:cNvPr id="48" name="Connector 47"/>
          <p:cNvCxnSpPr/>
          <p:nvPr/>
        </p:nvCxnSpPr>
        <p:spPr>
          <a:xfrm>
            <a:off x="8001000" y="4069080"/>
            <a:ext cx="365760" cy="0"/>
          </a:xfrm>
          <a:prstGeom prst="line">
            <a:avLst/>
          </a:prstGeom>
          <a:ln w="38100">
            <a:solidFill>
              <a:srgbClr val="C6532C"/>
            </a:solidFill>
          </a:ln>
        </p:spPr>
      </p:cxnSp>
      <p:sp>
        <p:nvSpPr>
          <p:cNvPr id="49" name="TextBox 48"/>
          <p:cNvSpPr txBox="1"/>
          <p:nvPr/>
        </p:nvSpPr>
        <p:spPr>
          <a:xfrm>
            <a:off x="8595360" y="3840480"/>
            <a:ext cx="3154680" cy="868680"/>
          </a:xfrm>
          <a:prstGeom prst="rect">
            <a:avLst/>
          </a:prstGeom>
          <a:noFill/>
        </p:spPr>
        <p:txBody>
          <a:bodyPr wrap="square" lIns="0" rIns="0" tIns="0" bIns="0">
            <a:spAutoFit/>
          </a:bodyPr>
          <a:lstStyle/>
          <a:p>
            <a:pPr>
              <a:spcAft>
                <a:spcPts val="600"/>
              </a:spcAft>
              <a:defRPr sz="2600" b="1">
                <a:solidFill>
                  <a:srgbClr val="171717"/>
                </a:solidFill>
                <a:latin typeface="Arial"/>
              </a:defRPr>
            </a:pPr>
            <a:r>
              <a:t>Explain the source.</a:t>
            </a:r>
          </a:p>
        </p:txBody>
      </p:sp>
      <p:cxnSp>
        <p:nvCxnSpPr>
          <p:cNvPr id="50" name="Connector 49"/>
          <p:cNvCxnSpPr/>
          <p:nvPr/>
        </p:nvCxnSpPr>
        <p:spPr>
          <a:xfrm>
            <a:off x="8001000" y="5303520"/>
            <a:ext cx="365760" cy="0"/>
          </a:xfrm>
          <a:prstGeom prst="line">
            <a:avLst/>
          </a:prstGeom>
          <a:ln w="38100">
            <a:solidFill>
              <a:srgbClr val="C6532C"/>
            </a:solidFill>
          </a:ln>
        </p:spPr>
      </p:cxnSp>
      <p:sp>
        <p:nvSpPr>
          <p:cNvPr id="51" name="TextBox 50"/>
          <p:cNvSpPr txBox="1"/>
          <p:nvPr/>
        </p:nvSpPr>
        <p:spPr>
          <a:xfrm>
            <a:off x="8595360" y="5074920"/>
            <a:ext cx="3154680" cy="868680"/>
          </a:xfrm>
          <a:prstGeom prst="rect">
            <a:avLst/>
          </a:prstGeom>
          <a:noFill/>
        </p:spPr>
        <p:txBody>
          <a:bodyPr wrap="square" lIns="0" rIns="0" tIns="0" bIns="0">
            <a:spAutoFit/>
          </a:bodyPr>
          <a:lstStyle/>
          <a:p>
            <a:pPr>
              <a:spcAft>
                <a:spcPts val="600"/>
              </a:spcAft>
              <a:defRPr sz="2600" b="1">
                <a:solidFill>
                  <a:srgbClr val="171717"/>
                </a:solidFill>
                <a:latin typeface="Arial"/>
              </a:defRPr>
            </a:pPr>
            <a:r>
              <a:t>Prove what you did.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11292840" y="6428232"/>
            <a:ext cx="411480" cy="228600"/>
          </a:xfrm>
          <a:prstGeom prst="rect">
            <a:avLst/>
          </a:prstGeom>
          <a:noFill/>
        </p:spPr>
        <p:txBody>
          <a:bodyPr wrap="square" lIns="0" rIns="0" tIns="0" bIns="0">
            <a:spAutoFit/>
          </a:bodyPr>
          <a:lstStyle/>
          <a:p>
            <a:pPr>
              <a:spcAft>
                <a:spcPts val="600"/>
              </a:spcAft>
              <a:defRPr sz="1000" b="0">
                <a:solidFill>
                  <a:srgbClr val="655F56"/>
                </a:solidFill>
                <a:latin typeface="Arial"/>
              </a:defRPr>
            </a:pPr>
            <a:r>
              <a:t>03</a:t>
            </a:r>
          </a:p>
        </p:txBody>
      </p:sp>
      <p:sp>
        <p:nvSpPr>
          <p:cNvPr id="3" name="TextBox 2"/>
          <p:cNvSpPr txBox="1"/>
          <p:nvPr/>
        </p:nvSpPr>
        <p:spPr>
          <a:xfrm>
            <a:off x="594360" y="438912"/>
            <a:ext cx="10972800" cy="914400"/>
          </a:xfrm>
          <a:prstGeom prst="rect">
            <a:avLst/>
          </a:prstGeom>
          <a:noFill/>
        </p:spPr>
        <p:txBody>
          <a:bodyPr wrap="square" lIns="0" rIns="0" tIns="0" bIns="0">
            <a:spAutoFit/>
          </a:bodyPr>
          <a:lstStyle/>
          <a:p>
            <a:pPr>
              <a:spcAft>
                <a:spcPts val="600"/>
              </a:spcAft>
              <a:defRPr sz="4300" b="1">
                <a:solidFill>
                  <a:srgbClr val="171717"/>
                </a:solidFill>
                <a:latin typeface="Arial"/>
              </a:defRPr>
            </a:pPr>
            <a:r>
              <a:t>Meet your Skill Passport.</a:t>
            </a:r>
          </a:p>
        </p:txBody>
      </p:sp>
      <p:sp>
        <p:nvSpPr>
          <p:cNvPr id="4" name="TextBox 3"/>
          <p:cNvSpPr txBox="1"/>
          <p:nvPr/>
        </p:nvSpPr>
        <p:spPr>
          <a:xfrm>
            <a:off x="640080" y="2103120"/>
            <a:ext cx="2743200" cy="548640"/>
          </a:xfrm>
          <a:prstGeom prst="rect">
            <a:avLst/>
          </a:prstGeom>
          <a:noFill/>
        </p:spPr>
        <p:txBody>
          <a:bodyPr wrap="square" lIns="0" rIns="0" tIns="0" bIns="0">
            <a:spAutoFit/>
          </a:bodyPr>
          <a:lstStyle/>
          <a:p>
            <a:pPr>
              <a:spcAft>
                <a:spcPts val="600"/>
              </a:spcAft>
              <a:defRPr sz="3500" b="1">
                <a:solidFill>
                  <a:srgbClr val="C6532C"/>
                </a:solidFill>
                <a:latin typeface="Arial"/>
              </a:defRPr>
            </a:pPr>
            <a:r>
              <a:t>Show</a:t>
            </a:r>
          </a:p>
        </p:txBody>
      </p:sp>
      <p:sp>
        <p:nvSpPr>
          <p:cNvPr id="5" name="TextBox 4"/>
          <p:cNvSpPr txBox="1"/>
          <p:nvPr/>
        </p:nvSpPr>
        <p:spPr>
          <a:xfrm>
            <a:off x="640080" y="2688336"/>
            <a:ext cx="3154680" cy="548640"/>
          </a:xfrm>
          <a:prstGeom prst="rect">
            <a:avLst/>
          </a:prstGeom>
          <a:noFill/>
        </p:spPr>
        <p:txBody>
          <a:bodyPr wrap="square" lIns="0" rIns="0" tIns="0" bIns="0">
            <a:spAutoFit/>
          </a:bodyPr>
          <a:lstStyle/>
          <a:p>
            <a:pPr>
              <a:spcAft>
                <a:spcPts val="600"/>
              </a:spcAft>
              <a:defRPr sz="2500" b="0">
                <a:solidFill>
                  <a:srgbClr val="171717"/>
                </a:solidFill>
                <a:latin typeface="Arial"/>
              </a:defRPr>
            </a:pPr>
            <a:r>
              <a:t>your skills.</a:t>
            </a:r>
          </a:p>
        </p:txBody>
      </p:sp>
      <p:sp>
        <p:nvSpPr>
          <p:cNvPr id="6" name="TextBox 5"/>
          <p:cNvSpPr txBox="1"/>
          <p:nvPr/>
        </p:nvSpPr>
        <p:spPr>
          <a:xfrm>
            <a:off x="640080" y="3474720"/>
            <a:ext cx="2743200" cy="548640"/>
          </a:xfrm>
          <a:prstGeom prst="rect">
            <a:avLst/>
          </a:prstGeom>
          <a:noFill/>
        </p:spPr>
        <p:txBody>
          <a:bodyPr wrap="square" lIns="0" rIns="0" tIns="0" bIns="0">
            <a:spAutoFit/>
          </a:bodyPr>
          <a:lstStyle/>
          <a:p>
            <a:pPr>
              <a:spcAft>
                <a:spcPts val="600"/>
              </a:spcAft>
              <a:defRPr sz="3500" b="1">
                <a:solidFill>
                  <a:srgbClr val="C6532C"/>
                </a:solidFill>
                <a:latin typeface="Arial"/>
              </a:defRPr>
            </a:pPr>
            <a:r>
              <a:t>Prove</a:t>
            </a:r>
          </a:p>
        </p:txBody>
      </p:sp>
      <p:sp>
        <p:nvSpPr>
          <p:cNvPr id="7" name="TextBox 6"/>
          <p:cNvSpPr txBox="1"/>
          <p:nvPr/>
        </p:nvSpPr>
        <p:spPr>
          <a:xfrm>
            <a:off x="640080" y="4059935"/>
            <a:ext cx="3154680" cy="548640"/>
          </a:xfrm>
          <a:prstGeom prst="rect">
            <a:avLst/>
          </a:prstGeom>
          <a:noFill/>
        </p:spPr>
        <p:txBody>
          <a:bodyPr wrap="square" lIns="0" rIns="0" tIns="0" bIns="0">
            <a:spAutoFit/>
          </a:bodyPr>
          <a:lstStyle/>
          <a:p>
            <a:pPr>
              <a:spcAft>
                <a:spcPts val="600"/>
              </a:spcAft>
              <a:defRPr sz="2500" b="0">
                <a:solidFill>
                  <a:srgbClr val="171717"/>
                </a:solidFill>
                <a:latin typeface="Arial"/>
              </a:defRPr>
            </a:pPr>
            <a:r>
              <a:t>your work.</a:t>
            </a:r>
          </a:p>
        </p:txBody>
      </p:sp>
      <p:sp>
        <p:nvSpPr>
          <p:cNvPr id="8" name="TextBox 7"/>
          <p:cNvSpPr txBox="1"/>
          <p:nvPr/>
        </p:nvSpPr>
        <p:spPr>
          <a:xfrm>
            <a:off x="640080" y="4846320"/>
            <a:ext cx="2743200" cy="548640"/>
          </a:xfrm>
          <a:prstGeom prst="rect">
            <a:avLst/>
          </a:prstGeom>
          <a:noFill/>
        </p:spPr>
        <p:txBody>
          <a:bodyPr wrap="square" lIns="0" rIns="0" tIns="0" bIns="0">
            <a:spAutoFit/>
          </a:bodyPr>
          <a:lstStyle/>
          <a:p>
            <a:pPr>
              <a:spcAft>
                <a:spcPts val="600"/>
              </a:spcAft>
              <a:defRPr sz="3500" b="1">
                <a:solidFill>
                  <a:srgbClr val="C6532C"/>
                </a:solidFill>
                <a:latin typeface="Arial"/>
              </a:defRPr>
            </a:pPr>
            <a:r>
              <a:t>Build</a:t>
            </a:r>
          </a:p>
        </p:txBody>
      </p:sp>
      <p:sp>
        <p:nvSpPr>
          <p:cNvPr id="9" name="TextBox 8"/>
          <p:cNvSpPr txBox="1"/>
          <p:nvPr/>
        </p:nvSpPr>
        <p:spPr>
          <a:xfrm>
            <a:off x="640080" y="5431536"/>
            <a:ext cx="3154680" cy="548640"/>
          </a:xfrm>
          <a:prstGeom prst="rect">
            <a:avLst/>
          </a:prstGeom>
          <a:noFill/>
        </p:spPr>
        <p:txBody>
          <a:bodyPr wrap="square" lIns="0" rIns="0" tIns="0" bIns="0">
            <a:spAutoFit/>
          </a:bodyPr>
          <a:lstStyle/>
          <a:p>
            <a:pPr>
              <a:spcAft>
                <a:spcPts val="600"/>
              </a:spcAft>
              <a:defRPr sz="2500" b="0">
                <a:solidFill>
                  <a:srgbClr val="171717"/>
                </a:solidFill>
                <a:latin typeface="Arial"/>
              </a:defRPr>
            </a:pPr>
            <a:r>
              <a:t>your reputation.</a:t>
            </a:r>
          </a:p>
        </p:txBody>
      </p:sp>
      <p:sp>
        <p:nvSpPr>
          <p:cNvPr id="10" name="Rounded Rectangle 9"/>
          <p:cNvSpPr/>
          <p:nvPr/>
        </p:nvSpPr>
        <p:spPr>
          <a:xfrm>
            <a:off x="3831336" y="1545336"/>
            <a:ext cx="7744967" cy="4837176"/>
          </a:xfrm>
          <a:prstGeom prst="roundRect">
            <a:avLst>
              <a:gd name="adj" fmla="val 8000"/>
            </a:avLst>
          </a:prstGeom>
          <a:solidFill>
            <a:srgbClr val="FFFCF6"/>
          </a:solidFill>
          <a:ln>
            <a:noFill/>
          </a:ln>
        </p:spPr>
        <p:txBody>
          <a:bodyPr rtlCol="0" anchor="ctr"/>
          <a:lstStyle/>
          <a:p>
            <a:pPr algn="ctr"/>
          </a:p>
        </p:txBody>
      </p:sp>
      <p:pic>
        <p:nvPicPr>
          <p:cNvPr id="11" name="Picture 10" descr="improved-passport.png"/>
          <p:cNvPicPr>
            <a:picLocks noChangeAspect="1"/>
          </p:cNvPicPr>
          <p:nvPr/>
        </p:nvPicPr>
        <p:blipFill>
          <a:blip r:embed="rId2"/>
          <a:stretch>
            <a:fillRect/>
          </a:stretch>
        </p:blipFill>
        <p:spPr>
          <a:xfrm>
            <a:off x="3886200" y="1745940"/>
            <a:ext cx="7635240" cy="4435966"/>
          </a:xfrm>
          <a:prstGeom prst="rect">
            <a:avLst/>
          </a:prstGeom>
        </p:spPr>
      </p:pic>
      <p:sp>
        <p:nvSpPr>
          <p:cNvPr id="12" name="Rounded Rectangle 11"/>
          <p:cNvSpPr/>
          <p:nvPr/>
        </p:nvSpPr>
        <p:spPr>
          <a:xfrm>
            <a:off x="8275320" y="6373368"/>
            <a:ext cx="3246120" cy="393192"/>
          </a:xfrm>
          <a:prstGeom prst="roundRect">
            <a:avLst>
              <a:gd name="adj" fmla="val 8000"/>
            </a:avLst>
          </a:prstGeom>
          <a:solidFill>
            <a:srgbClr val="E7DECF"/>
          </a:solidFill>
          <a:ln>
            <a:noFill/>
          </a:ln>
        </p:spPr>
        <p:txBody>
          <a:bodyPr rtlCol="0" anchor="ctr"/>
          <a:lstStyle/>
          <a:p>
            <a:pPr algn="ctr"/>
          </a:p>
        </p:txBody>
      </p:sp>
      <p:sp>
        <p:nvSpPr>
          <p:cNvPr id="13" name="TextBox 12"/>
          <p:cNvSpPr txBox="1"/>
          <p:nvPr/>
        </p:nvSpPr>
        <p:spPr>
          <a:xfrm>
            <a:off x="8385048" y="6451092"/>
            <a:ext cx="3026663" cy="228600"/>
          </a:xfrm>
          <a:prstGeom prst="rect">
            <a:avLst/>
          </a:prstGeom>
          <a:noFill/>
        </p:spPr>
        <p:txBody>
          <a:bodyPr wrap="square" lIns="0" rIns="0" tIns="0" bIns="0">
            <a:spAutoFit/>
          </a:bodyPr>
          <a:lstStyle/>
          <a:p>
            <a:pPr>
              <a:spcAft>
                <a:spcPts val="600"/>
              </a:spcAft>
              <a:defRPr sz="1200" b="1">
                <a:solidFill>
                  <a:srgbClr val="655F56"/>
                </a:solidFill>
                <a:latin typeface="Arial"/>
              </a:defRPr>
            </a:pPr>
            <a:r>
              <a:t>RUNNING APP · DEMO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11292840" y="6428232"/>
            <a:ext cx="411480" cy="228600"/>
          </a:xfrm>
          <a:prstGeom prst="rect">
            <a:avLst/>
          </a:prstGeom>
          <a:noFill/>
        </p:spPr>
        <p:txBody>
          <a:bodyPr wrap="square" lIns="0" rIns="0" tIns="0" bIns="0">
            <a:spAutoFit/>
          </a:bodyPr>
          <a:lstStyle/>
          <a:p>
            <a:pPr>
              <a:spcAft>
                <a:spcPts val="600"/>
              </a:spcAft>
              <a:defRPr sz="1000" b="0">
                <a:solidFill>
                  <a:srgbClr val="655F56"/>
                </a:solidFill>
                <a:latin typeface="Arial"/>
              </a:defRPr>
            </a:pPr>
            <a:r>
              <a:t>04</a:t>
            </a:r>
          </a:p>
        </p:txBody>
      </p:sp>
      <p:sp>
        <p:nvSpPr>
          <p:cNvPr id="3" name="TextBox 2"/>
          <p:cNvSpPr txBox="1"/>
          <p:nvPr/>
        </p:nvSpPr>
        <p:spPr>
          <a:xfrm>
            <a:off x="594360" y="502920"/>
            <a:ext cx="10789920" cy="1325880"/>
          </a:xfrm>
          <a:prstGeom prst="rect">
            <a:avLst/>
          </a:prstGeom>
          <a:noFill/>
        </p:spPr>
        <p:txBody>
          <a:bodyPr wrap="square" lIns="0" rIns="0" tIns="0" bIns="0">
            <a:spAutoFit/>
          </a:bodyPr>
          <a:lstStyle/>
          <a:p>
            <a:pPr>
              <a:spcAft>
                <a:spcPts val="600"/>
              </a:spcAft>
              <a:defRPr sz="4300" b="1">
                <a:solidFill>
                  <a:srgbClr val="171717"/>
                </a:solidFill>
                <a:latin typeface="Arial"/>
              </a:defRPr>
            </a:pPr>
            <a:r>
              <a:t>Turn work into</a:t>
            </a:r>
          </a:p>
          <a:p>
            <a:pPr>
              <a:spcAft>
                <a:spcPts val="600"/>
              </a:spcAft>
              <a:defRPr sz="4300" b="1">
                <a:solidFill>
                  <a:srgbClr val="171717"/>
                </a:solidFill>
                <a:latin typeface="Arial"/>
              </a:defRPr>
            </a:pPr>
            <a:r>
              <a:t>a growing reputation.</a:t>
            </a:r>
          </a:p>
        </p:txBody>
      </p:sp>
      <p:cxnSp>
        <p:nvCxnSpPr>
          <p:cNvPr id="4" name="Connector 3"/>
          <p:cNvCxnSpPr/>
          <p:nvPr/>
        </p:nvCxnSpPr>
        <p:spPr>
          <a:xfrm>
            <a:off x="1353312" y="2999232"/>
            <a:ext cx="7223760" cy="0"/>
          </a:xfrm>
          <a:prstGeom prst="line">
            <a:avLst/>
          </a:prstGeom>
          <a:ln w="101600">
            <a:solidFill>
              <a:srgbClr val="E7DECF"/>
            </a:solidFill>
          </a:ln>
        </p:spPr>
      </p:cxnSp>
      <p:cxnSp>
        <p:nvCxnSpPr>
          <p:cNvPr id="5" name="Connector 4"/>
          <p:cNvCxnSpPr/>
          <p:nvPr/>
        </p:nvCxnSpPr>
        <p:spPr>
          <a:xfrm>
            <a:off x="8577072" y="2999232"/>
            <a:ext cx="0" cy="2286000"/>
          </a:xfrm>
          <a:prstGeom prst="line">
            <a:avLst/>
          </a:prstGeom>
          <a:ln w="101600">
            <a:solidFill>
              <a:srgbClr val="E7DECF"/>
            </a:solidFill>
          </a:ln>
        </p:spPr>
      </p:cxnSp>
      <p:cxnSp>
        <p:nvCxnSpPr>
          <p:cNvPr id="6" name="Connector 5"/>
          <p:cNvCxnSpPr/>
          <p:nvPr/>
        </p:nvCxnSpPr>
        <p:spPr>
          <a:xfrm>
            <a:off x="4965192" y="5285232"/>
            <a:ext cx="3611880" cy="0"/>
          </a:xfrm>
          <a:prstGeom prst="line">
            <a:avLst/>
          </a:prstGeom>
          <a:ln w="101600">
            <a:solidFill>
              <a:srgbClr val="E7DECF"/>
            </a:solidFill>
          </a:ln>
        </p:spPr>
      </p:cxnSp>
      <p:sp>
        <p:nvSpPr>
          <p:cNvPr id="7" name="Oval 6"/>
          <p:cNvSpPr/>
          <p:nvPr/>
        </p:nvSpPr>
        <p:spPr>
          <a:xfrm>
            <a:off x="868680" y="2514600"/>
            <a:ext cx="969264" cy="969264"/>
          </a:xfrm>
          <a:prstGeom prst="ellipse">
            <a:avLst/>
          </a:prstGeom>
          <a:solidFill>
            <a:srgbClr val="C6532C"/>
          </a:solidFill>
          <a:ln>
            <a:noFill/>
          </a:ln>
        </p:spPr>
        <p:txBody>
          <a:bodyPr rtlCol="0" anchor="ctr"/>
          <a:lstStyle/>
          <a:p>
            <a:pPr algn="ctr"/>
          </a:p>
        </p:txBody>
      </p:sp>
      <p:cxnSp>
        <p:nvCxnSpPr>
          <p:cNvPr id="8" name="Connector 7"/>
          <p:cNvCxnSpPr/>
          <p:nvPr/>
        </p:nvCxnSpPr>
        <p:spPr>
          <a:xfrm>
            <a:off x="1160190" y="2739725"/>
            <a:ext cx="386243" cy="0"/>
          </a:xfrm>
          <a:prstGeom prst="line">
            <a:avLst/>
          </a:prstGeom>
          <a:ln w="21590">
            <a:solidFill>
              <a:srgbClr val="F5F0E6"/>
            </a:solidFill>
          </a:ln>
        </p:spPr>
      </p:cxnSp>
      <p:cxnSp>
        <p:nvCxnSpPr>
          <p:cNvPr id="9" name="Connector 8"/>
          <p:cNvCxnSpPr/>
          <p:nvPr/>
        </p:nvCxnSpPr>
        <p:spPr>
          <a:xfrm>
            <a:off x="1546433" y="2739725"/>
            <a:ext cx="0" cy="506943"/>
          </a:xfrm>
          <a:prstGeom prst="line">
            <a:avLst/>
          </a:prstGeom>
          <a:ln w="21590">
            <a:solidFill>
              <a:srgbClr val="F5F0E6"/>
            </a:solidFill>
          </a:ln>
        </p:spPr>
      </p:cxnSp>
      <p:cxnSp>
        <p:nvCxnSpPr>
          <p:cNvPr id="10" name="Connector 9"/>
          <p:cNvCxnSpPr/>
          <p:nvPr/>
        </p:nvCxnSpPr>
        <p:spPr>
          <a:xfrm flipH="1">
            <a:off x="1160190" y="3246668"/>
            <a:ext cx="386243" cy="0"/>
          </a:xfrm>
          <a:prstGeom prst="line">
            <a:avLst/>
          </a:prstGeom>
          <a:ln w="21590">
            <a:solidFill>
              <a:srgbClr val="F5F0E6"/>
            </a:solidFill>
          </a:ln>
        </p:spPr>
      </p:cxnSp>
      <p:cxnSp>
        <p:nvCxnSpPr>
          <p:cNvPr id="11" name="Connector 10"/>
          <p:cNvCxnSpPr/>
          <p:nvPr/>
        </p:nvCxnSpPr>
        <p:spPr>
          <a:xfrm flipV="1">
            <a:off x="1160190" y="2739725"/>
            <a:ext cx="0" cy="506943"/>
          </a:xfrm>
          <a:prstGeom prst="line">
            <a:avLst/>
          </a:prstGeom>
          <a:ln w="21590">
            <a:solidFill>
              <a:srgbClr val="F5F0E6"/>
            </a:solidFill>
          </a:ln>
        </p:spPr>
      </p:cxnSp>
      <p:sp>
        <p:nvSpPr>
          <p:cNvPr id="12" name="Oval 11"/>
          <p:cNvSpPr/>
          <p:nvPr/>
        </p:nvSpPr>
        <p:spPr>
          <a:xfrm>
            <a:off x="1268821" y="2848356"/>
            <a:ext cx="162946" cy="162946"/>
          </a:xfrm>
          <a:prstGeom prst="ellipse">
            <a:avLst/>
          </a:prstGeom>
          <a:solidFill>
            <a:srgbClr val="F5F0E6"/>
          </a:solidFill>
          <a:ln>
            <a:noFill/>
          </a:ln>
        </p:spPr>
        <p:txBody>
          <a:bodyPr rtlCol="0" anchor="ctr"/>
          <a:lstStyle/>
          <a:p>
            <a:pPr algn="ctr"/>
          </a:p>
        </p:txBody>
      </p:sp>
      <p:cxnSp>
        <p:nvCxnSpPr>
          <p:cNvPr id="13" name="Connector 12"/>
          <p:cNvCxnSpPr/>
          <p:nvPr/>
        </p:nvCxnSpPr>
        <p:spPr>
          <a:xfrm>
            <a:off x="1244681" y="3095792"/>
            <a:ext cx="217261" cy="0"/>
          </a:xfrm>
          <a:prstGeom prst="line">
            <a:avLst/>
          </a:prstGeom>
          <a:ln w="21590">
            <a:solidFill>
              <a:srgbClr val="F5F0E6"/>
            </a:solidFill>
          </a:ln>
        </p:spPr>
      </p:cxnSp>
      <p:cxnSp>
        <p:nvCxnSpPr>
          <p:cNvPr id="14" name="Connector 13"/>
          <p:cNvCxnSpPr/>
          <p:nvPr/>
        </p:nvCxnSpPr>
        <p:spPr>
          <a:xfrm>
            <a:off x="1244681" y="3162178"/>
            <a:ext cx="217261" cy="0"/>
          </a:xfrm>
          <a:prstGeom prst="line">
            <a:avLst/>
          </a:prstGeom>
          <a:ln w="21590">
            <a:solidFill>
              <a:srgbClr val="F5F0E6"/>
            </a:solidFill>
          </a:ln>
        </p:spPr>
      </p:cxnSp>
      <p:sp>
        <p:nvSpPr>
          <p:cNvPr id="15" name="TextBox 14"/>
          <p:cNvSpPr txBox="1"/>
          <p:nvPr/>
        </p:nvSpPr>
        <p:spPr>
          <a:xfrm>
            <a:off x="731519" y="3593591"/>
            <a:ext cx="3383280" cy="594360"/>
          </a:xfrm>
          <a:prstGeom prst="rect">
            <a:avLst/>
          </a:prstGeom>
          <a:noFill/>
        </p:spPr>
        <p:txBody>
          <a:bodyPr wrap="square" lIns="0" rIns="0" tIns="0" bIns="0">
            <a:spAutoFit/>
          </a:bodyPr>
          <a:lstStyle/>
          <a:p>
            <a:pPr>
              <a:spcAft>
                <a:spcPts val="600"/>
              </a:spcAft>
              <a:defRPr sz="2200" b="1">
                <a:solidFill>
                  <a:srgbClr val="171717"/>
                </a:solidFill>
                <a:latin typeface="Arial"/>
              </a:defRPr>
            </a:pPr>
            <a:r>
              <a:t>Create a Passport</a:t>
            </a:r>
          </a:p>
        </p:txBody>
      </p:sp>
      <p:sp>
        <p:nvSpPr>
          <p:cNvPr id="16" name="Oval 15"/>
          <p:cNvSpPr/>
          <p:nvPr/>
        </p:nvSpPr>
        <p:spPr>
          <a:xfrm>
            <a:off x="4480560" y="2514600"/>
            <a:ext cx="969264" cy="969264"/>
          </a:xfrm>
          <a:prstGeom prst="ellipse">
            <a:avLst/>
          </a:prstGeom>
          <a:solidFill>
            <a:srgbClr val="C6532C"/>
          </a:solidFill>
          <a:ln>
            <a:noFill/>
          </a:ln>
        </p:spPr>
        <p:txBody>
          <a:bodyPr rtlCol="0" anchor="ctr"/>
          <a:lstStyle/>
          <a:p>
            <a:pPr algn="ctr"/>
          </a:p>
        </p:txBody>
      </p:sp>
      <p:cxnSp>
        <p:nvCxnSpPr>
          <p:cNvPr id="17" name="Connector 16"/>
          <p:cNvCxnSpPr/>
          <p:nvPr/>
        </p:nvCxnSpPr>
        <p:spPr>
          <a:xfrm flipH="1">
            <a:off x="4723790" y="2842320"/>
            <a:ext cx="132771" cy="156912"/>
          </a:xfrm>
          <a:prstGeom prst="line">
            <a:avLst/>
          </a:prstGeom>
          <a:ln w="21590">
            <a:solidFill>
              <a:srgbClr val="F5F0E6"/>
            </a:solidFill>
          </a:ln>
        </p:spPr>
      </p:cxnSp>
      <p:cxnSp>
        <p:nvCxnSpPr>
          <p:cNvPr id="18" name="Connector 17"/>
          <p:cNvCxnSpPr/>
          <p:nvPr/>
        </p:nvCxnSpPr>
        <p:spPr>
          <a:xfrm>
            <a:off x="4723790" y="2999232"/>
            <a:ext cx="132771" cy="156911"/>
          </a:xfrm>
          <a:prstGeom prst="line">
            <a:avLst/>
          </a:prstGeom>
          <a:ln w="21590">
            <a:solidFill>
              <a:srgbClr val="F5F0E6"/>
            </a:solidFill>
          </a:ln>
        </p:spPr>
      </p:cxnSp>
      <p:cxnSp>
        <p:nvCxnSpPr>
          <p:cNvPr id="19" name="Connector 18"/>
          <p:cNvCxnSpPr/>
          <p:nvPr/>
        </p:nvCxnSpPr>
        <p:spPr>
          <a:xfrm>
            <a:off x="5073822" y="2842320"/>
            <a:ext cx="132771" cy="156912"/>
          </a:xfrm>
          <a:prstGeom prst="line">
            <a:avLst/>
          </a:prstGeom>
          <a:ln w="21590">
            <a:solidFill>
              <a:srgbClr val="F5F0E6"/>
            </a:solidFill>
          </a:ln>
        </p:spPr>
      </p:cxnSp>
      <p:cxnSp>
        <p:nvCxnSpPr>
          <p:cNvPr id="20" name="Connector 19"/>
          <p:cNvCxnSpPr/>
          <p:nvPr/>
        </p:nvCxnSpPr>
        <p:spPr>
          <a:xfrm flipH="1">
            <a:off x="5073822" y="2999232"/>
            <a:ext cx="132771" cy="156911"/>
          </a:xfrm>
          <a:prstGeom prst="line">
            <a:avLst/>
          </a:prstGeom>
          <a:ln w="21590">
            <a:solidFill>
              <a:srgbClr val="F5F0E6"/>
            </a:solidFill>
          </a:ln>
        </p:spPr>
      </p:cxnSp>
      <p:cxnSp>
        <p:nvCxnSpPr>
          <p:cNvPr id="21" name="Connector 20"/>
          <p:cNvCxnSpPr/>
          <p:nvPr/>
        </p:nvCxnSpPr>
        <p:spPr>
          <a:xfrm flipH="1">
            <a:off x="4916911" y="2788005"/>
            <a:ext cx="96561" cy="422453"/>
          </a:xfrm>
          <a:prstGeom prst="line">
            <a:avLst/>
          </a:prstGeom>
          <a:ln w="21590">
            <a:solidFill>
              <a:srgbClr val="F5F0E6"/>
            </a:solidFill>
          </a:ln>
        </p:spPr>
      </p:cxnSp>
      <p:sp>
        <p:nvSpPr>
          <p:cNvPr id="22" name="TextBox 21"/>
          <p:cNvSpPr txBox="1"/>
          <p:nvPr/>
        </p:nvSpPr>
        <p:spPr>
          <a:xfrm>
            <a:off x="4343400" y="3593591"/>
            <a:ext cx="3383280" cy="594360"/>
          </a:xfrm>
          <a:prstGeom prst="rect">
            <a:avLst/>
          </a:prstGeom>
          <a:noFill/>
        </p:spPr>
        <p:txBody>
          <a:bodyPr wrap="square" lIns="0" rIns="0" tIns="0" bIns="0">
            <a:spAutoFit/>
          </a:bodyPr>
          <a:lstStyle/>
          <a:p>
            <a:pPr>
              <a:spcAft>
                <a:spcPts val="600"/>
              </a:spcAft>
              <a:defRPr sz="2200" b="1">
                <a:solidFill>
                  <a:srgbClr val="171717"/>
                </a:solidFill>
                <a:latin typeface="Arial"/>
              </a:defRPr>
            </a:pPr>
            <a:r>
              <a:t>Show work</a:t>
            </a:r>
          </a:p>
        </p:txBody>
      </p:sp>
      <p:sp>
        <p:nvSpPr>
          <p:cNvPr id="23" name="Oval 22"/>
          <p:cNvSpPr/>
          <p:nvPr/>
        </p:nvSpPr>
        <p:spPr>
          <a:xfrm>
            <a:off x="8092440" y="2514600"/>
            <a:ext cx="969264" cy="969264"/>
          </a:xfrm>
          <a:prstGeom prst="ellipse">
            <a:avLst/>
          </a:prstGeom>
          <a:solidFill>
            <a:srgbClr val="C6532C"/>
          </a:solidFill>
          <a:ln>
            <a:noFill/>
          </a:ln>
        </p:spPr>
        <p:txBody>
          <a:bodyPr rtlCol="0" anchor="ctr"/>
          <a:lstStyle/>
          <a:p>
            <a:pPr algn="ctr"/>
          </a:p>
        </p:txBody>
      </p:sp>
      <p:cxnSp>
        <p:nvCxnSpPr>
          <p:cNvPr id="24" name="Connector 23"/>
          <p:cNvCxnSpPr/>
          <p:nvPr/>
        </p:nvCxnSpPr>
        <p:spPr>
          <a:xfrm>
            <a:off x="8323600" y="2878531"/>
            <a:ext cx="506943" cy="0"/>
          </a:xfrm>
          <a:prstGeom prst="line">
            <a:avLst/>
          </a:prstGeom>
          <a:ln w="21590">
            <a:solidFill>
              <a:srgbClr val="F5F0E6"/>
            </a:solidFill>
          </a:ln>
        </p:spPr>
      </p:cxnSp>
      <p:cxnSp>
        <p:nvCxnSpPr>
          <p:cNvPr id="25" name="Connector 24"/>
          <p:cNvCxnSpPr/>
          <p:nvPr/>
        </p:nvCxnSpPr>
        <p:spPr>
          <a:xfrm>
            <a:off x="8830543" y="2878531"/>
            <a:ext cx="0" cy="350032"/>
          </a:xfrm>
          <a:prstGeom prst="line">
            <a:avLst/>
          </a:prstGeom>
          <a:ln w="21590">
            <a:solidFill>
              <a:srgbClr val="F5F0E6"/>
            </a:solidFill>
          </a:ln>
        </p:spPr>
      </p:cxnSp>
      <p:cxnSp>
        <p:nvCxnSpPr>
          <p:cNvPr id="26" name="Connector 25"/>
          <p:cNvCxnSpPr/>
          <p:nvPr/>
        </p:nvCxnSpPr>
        <p:spPr>
          <a:xfrm flipH="1">
            <a:off x="8323600" y="3228563"/>
            <a:ext cx="506943" cy="0"/>
          </a:xfrm>
          <a:prstGeom prst="line">
            <a:avLst/>
          </a:prstGeom>
          <a:ln w="21590">
            <a:solidFill>
              <a:srgbClr val="F5F0E6"/>
            </a:solidFill>
          </a:ln>
        </p:spPr>
      </p:cxnSp>
      <p:cxnSp>
        <p:nvCxnSpPr>
          <p:cNvPr id="27" name="Connector 26"/>
          <p:cNvCxnSpPr/>
          <p:nvPr/>
        </p:nvCxnSpPr>
        <p:spPr>
          <a:xfrm flipV="1">
            <a:off x="8323600" y="2878531"/>
            <a:ext cx="0" cy="350032"/>
          </a:xfrm>
          <a:prstGeom prst="line">
            <a:avLst/>
          </a:prstGeom>
          <a:ln w="21590">
            <a:solidFill>
              <a:srgbClr val="F5F0E6"/>
            </a:solidFill>
          </a:ln>
        </p:spPr>
      </p:cxnSp>
      <p:cxnSp>
        <p:nvCxnSpPr>
          <p:cNvPr id="28" name="Connector 27"/>
          <p:cNvCxnSpPr/>
          <p:nvPr/>
        </p:nvCxnSpPr>
        <p:spPr>
          <a:xfrm flipV="1">
            <a:off x="8468441" y="2775935"/>
            <a:ext cx="0" cy="102596"/>
          </a:xfrm>
          <a:prstGeom prst="line">
            <a:avLst/>
          </a:prstGeom>
          <a:ln w="21590">
            <a:solidFill>
              <a:srgbClr val="F5F0E6"/>
            </a:solidFill>
          </a:ln>
        </p:spPr>
      </p:cxnSp>
      <p:cxnSp>
        <p:nvCxnSpPr>
          <p:cNvPr id="29" name="Connector 28"/>
          <p:cNvCxnSpPr/>
          <p:nvPr/>
        </p:nvCxnSpPr>
        <p:spPr>
          <a:xfrm>
            <a:off x="8468441" y="2775935"/>
            <a:ext cx="217261" cy="0"/>
          </a:xfrm>
          <a:prstGeom prst="line">
            <a:avLst/>
          </a:prstGeom>
          <a:ln w="21590">
            <a:solidFill>
              <a:srgbClr val="F5F0E6"/>
            </a:solidFill>
          </a:ln>
        </p:spPr>
      </p:cxnSp>
      <p:cxnSp>
        <p:nvCxnSpPr>
          <p:cNvPr id="30" name="Connector 29"/>
          <p:cNvCxnSpPr/>
          <p:nvPr/>
        </p:nvCxnSpPr>
        <p:spPr>
          <a:xfrm>
            <a:off x="8685702" y="2775935"/>
            <a:ext cx="0" cy="102596"/>
          </a:xfrm>
          <a:prstGeom prst="line">
            <a:avLst/>
          </a:prstGeom>
          <a:ln w="21590">
            <a:solidFill>
              <a:srgbClr val="F5F0E6"/>
            </a:solidFill>
          </a:ln>
        </p:spPr>
      </p:cxnSp>
      <p:cxnSp>
        <p:nvCxnSpPr>
          <p:cNvPr id="31" name="Connector 30"/>
          <p:cNvCxnSpPr/>
          <p:nvPr/>
        </p:nvCxnSpPr>
        <p:spPr>
          <a:xfrm>
            <a:off x="8323600" y="3011302"/>
            <a:ext cx="506943" cy="0"/>
          </a:xfrm>
          <a:prstGeom prst="line">
            <a:avLst/>
          </a:prstGeom>
          <a:ln w="21590">
            <a:solidFill>
              <a:srgbClr val="F5F0E6"/>
            </a:solidFill>
          </a:ln>
        </p:spPr>
      </p:cxnSp>
      <p:sp>
        <p:nvSpPr>
          <p:cNvPr id="32" name="TextBox 31"/>
          <p:cNvSpPr txBox="1"/>
          <p:nvPr/>
        </p:nvSpPr>
        <p:spPr>
          <a:xfrm>
            <a:off x="7955279" y="3593591"/>
            <a:ext cx="3383280" cy="594360"/>
          </a:xfrm>
          <a:prstGeom prst="rect">
            <a:avLst/>
          </a:prstGeom>
          <a:noFill/>
        </p:spPr>
        <p:txBody>
          <a:bodyPr wrap="square" lIns="0" rIns="0" tIns="0" bIns="0">
            <a:spAutoFit/>
          </a:bodyPr>
          <a:lstStyle/>
          <a:p>
            <a:pPr>
              <a:spcAft>
                <a:spcPts val="600"/>
              </a:spcAft>
              <a:defRPr sz="2200" b="1">
                <a:solidFill>
                  <a:srgbClr val="171717"/>
                </a:solidFill>
                <a:latin typeface="Arial"/>
              </a:defRPr>
            </a:pPr>
            <a:r>
              <a:t>Find an opportunity</a:t>
            </a:r>
          </a:p>
        </p:txBody>
      </p:sp>
      <p:sp>
        <p:nvSpPr>
          <p:cNvPr id="33" name="Oval 32"/>
          <p:cNvSpPr/>
          <p:nvPr/>
        </p:nvSpPr>
        <p:spPr>
          <a:xfrm>
            <a:off x="8092440" y="4800600"/>
            <a:ext cx="969264" cy="969264"/>
          </a:xfrm>
          <a:prstGeom prst="ellipse">
            <a:avLst/>
          </a:prstGeom>
          <a:solidFill>
            <a:srgbClr val="C6532C"/>
          </a:solidFill>
          <a:ln>
            <a:noFill/>
          </a:ln>
        </p:spPr>
        <p:txBody>
          <a:bodyPr rtlCol="0" anchor="ctr"/>
          <a:lstStyle/>
          <a:p>
            <a:pPr algn="ctr"/>
          </a:p>
        </p:txBody>
      </p:sp>
      <p:cxnSp>
        <p:nvCxnSpPr>
          <p:cNvPr id="34" name="Connector 33"/>
          <p:cNvCxnSpPr/>
          <p:nvPr/>
        </p:nvCxnSpPr>
        <p:spPr>
          <a:xfrm>
            <a:off x="8365845" y="5285232"/>
            <a:ext cx="150876" cy="150876"/>
          </a:xfrm>
          <a:prstGeom prst="line">
            <a:avLst/>
          </a:prstGeom>
          <a:ln w="21590">
            <a:solidFill>
              <a:srgbClr val="F5F0E6"/>
            </a:solidFill>
          </a:ln>
        </p:spPr>
      </p:cxnSp>
      <p:cxnSp>
        <p:nvCxnSpPr>
          <p:cNvPr id="35" name="Connector 34"/>
          <p:cNvCxnSpPr/>
          <p:nvPr/>
        </p:nvCxnSpPr>
        <p:spPr>
          <a:xfrm flipV="1">
            <a:off x="8516721" y="5104180"/>
            <a:ext cx="289682" cy="331928"/>
          </a:xfrm>
          <a:prstGeom prst="line">
            <a:avLst/>
          </a:prstGeom>
          <a:ln w="21590">
            <a:solidFill>
              <a:srgbClr val="F5F0E6"/>
            </a:solidFill>
          </a:ln>
        </p:spPr>
      </p:cxnSp>
      <p:sp>
        <p:nvSpPr>
          <p:cNvPr id="36" name="TextBox 35"/>
          <p:cNvSpPr txBox="1"/>
          <p:nvPr/>
        </p:nvSpPr>
        <p:spPr>
          <a:xfrm>
            <a:off x="7955279" y="5879592"/>
            <a:ext cx="3383280" cy="594360"/>
          </a:xfrm>
          <a:prstGeom prst="rect">
            <a:avLst/>
          </a:prstGeom>
          <a:noFill/>
        </p:spPr>
        <p:txBody>
          <a:bodyPr wrap="square" lIns="0" rIns="0" tIns="0" bIns="0">
            <a:spAutoFit/>
          </a:bodyPr>
          <a:lstStyle/>
          <a:p>
            <a:pPr>
              <a:spcAft>
                <a:spcPts val="600"/>
              </a:spcAft>
              <a:defRPr sz="2200" b="1">
                <a:solidFill>
                  <a:srgbClr val="171717"/>
                </a:solidFill>
                <a:latin typeface="Arial"/>
              </a:defRPr>
            </a:pPr>
            <a:r>
              <a:t>Complete the work</a:t>
            </a:r>
          </a:p>
        </p:txBody>
      </p:sp>
      <p:sp>
        <p:nvSpPr>
          <p:cNvPr id="37" name="Oval 36"/>
          <p:cNvSpPr/>
          <p:nvPr/>
        </p:nvSpPr>
        <p:spPr>
          <a:xfrm>
            <a:off x="4480560" y="4800600"/>
            <a:ext cx="969264" cy="969264"/>
          </a:xfrm>
          <a:prstGeom prst="ellipse">
            <a:avLst/>
          </a:prstGeom>
          <a:solidFill>
            <a:srgbClr val="171717"/>
          </a:solidFill>
          <a:ln>
            <a:noFill/>
          </a:ln>
        </p:spPr>
        <p:txBody>
          <a:bodyPr rtlCol="0" anchor="ctr"/>
          <a:lstStyle/>
          <a:p>
            <a:pPr algn="ctr"/>
          </a:p>
        </p:txBody>
      </p:sp>
      <p:cxnSp>
        <p:nvCxnSpPr>
          <p:cNvPr id="38" name="Connector 37"/>
          <p:cNvCxnSpPr/>
          <p:nvPr/>
        </p:nvCxnSpPr>
        <p:spPr>
          <a:xfrm>
            <a:off x="4772070" y="5025725"/>
            <a:ext cx="386243" cy="0"/>
          </a:xfrm>
          <a:prstGeom prst="line">
            <a:avLst/>
          </a:prstGeom>
          <a:ln w="21590">
            <a:solidFill>
              <a:srgbClr val="F5F0E6"/>
            </a:solidFill>
          </a:ln>
        </p:spPr>
      </p:cxnSp>
      <p:cxnSp>
        <p:nvCxnSpPr>
          <p:cNvPr id="39" name="Connector 38"/>
          <p:cNvCxnSpPr/>
          <p:nvPr/>
        </p:nvCxnSpPr>
        <p:spPr>
          <a:xfrm>
            <a:off x="5158313" y="5025725"/>
            <a:ext cx="0" cy="506943"/>
          </a:xfrm>
          <a:prstGeom prst="line">
            <a:avLst/>
          </a:prstGeom>
          <a:ln w="21590">
            <a:solidFill>
              <a:srgbClr val="F5F0E6"/>
            </a:solidFill>
          </a:ln>
        </p:spPr>
      </p:cxnSp>
      <p:cxnSp>
        <p:nvCxnSpPr>
          <p:cNvPr id="40" name="Connector 39"/>
          <p:cNvCxnSpPr/>
          <p:nvPr/>
        </p:nvCxnSpPr>
        <p:spPr>
          <a:xfrm flipH="1">
            <a:off x="4772070" y="5532668"/>
            <a:ext cx="386243" cy="0"/>
          </a:xfrm>
          <a:prstGeom prst="line">
            <a:avLst/>
          </a:prstGeom>
          <a:ln w="21590">
            <a:solidFill>
              <a:srgbClr val="F5F0E6"/>
            </a:solidFill>
          </a:ln>
        </p:spPr>
      </p:cxnSp>
      <p:cxnSp>
        <p:nvCxnSpPr>
          <p:cNvPr id="41" name="Connector 40"/>
          <p:cNvCxnSpPr/>
          <p:nvPr/>
        </p:nvCxnSpPr>
        <p:spPr>
          <a:xfrm flipV="1">
            <a:off x="4772070" y="5025725"/>
            <a:ext cx="0" cy="506943"/>
          </a:xfrm>
          <a:prstGeom prst="line">
            <a:avLst/>
          </a:prstGeom>
          <a:ln w="21590">
            <a:solidFill>
              <a:srgbClr val="F5F0E6"/>
            </a:solidFill>
          </a:ln>
        </p:spPr>
      </p:cxnSp>
      <p:sp>
        <p:nvSpPr>
          <p:cNvPr id="42" name="Oval 41"/>
          <p:cNvSpPr/>
          <p:nvPr/>
        </p:nvSpPr>
        <p:spPr>
          <a:xfrm>
            <a:off x="4868631" y="5140391"/>
            <a:ext cx="193121" cy="193121"/>
          </a:xfrm>
          <a:prstGeom prst="ellipse">
            <a:avLst/>
          </a:prstGeom>
          <a:solidFill>
            <a:srgbClr val="F5F0E6"/>
          </a:solidFill>
          <a:ln>
            <a:noFill/>
          </a:ln>
        </p:spPr>
        <p:txBody>
          <a:bodyPr rtlCol="0" anchor="ctr"/>
          <a:lstStyle/>
          <a:p>
            <a:pPr algn="ctr"/>
          </a:p>
        </p:txBody>
      </p:sp>
      <p:cxnSp>
        <p:nvCxnSpPr>
          <p:cNvPr id="43" name="Connector 42"/>
          <p:cNvCxnSpPr/>
          <p:nvPr/>
        </p:nvCxnSpPr>
        <p:spPr>
          <a:xfrm flipH="1">
            <a:off x="4868631" y="5333512"/>
            <a:ext cx="36210" cy="120701"/>
          </a:xfrm>
          <a:prstGeom prst="line">
            <a:avLst/>
          </a:prstGeom>
          <a:ln w="21590">
            <a:solidFill>
              <a:srgbClr val="F5F0E6"/>
            </a:solidFill>
          </a:ln>
        </p:spPr>
      </p:cxnSp>
      <p:cxnSp>
        <p:nvCxnSpPr>
          <p:cNvPr id="44" name="Connector 43"/>
          <p:cNvCxnSpPr/>
          <p:nvPr/>
        </p:nvCxnSpPr>
        <p:spPr>
          <a:xfrm>
            <a:off x="5013472" y="5333512"/>
            <a:ext cx="36210" cy="120701"/>
          </a:xfrm>
          <a:prstGeom prst="line">
            <a:avLst/>
          </a:prstGeom>
          <a:ln w="21590">
            <a:solidFill>
              <a:srgbClr val="F5F0E6"/>
            </a:solidFill>
          </a:ln>
        </p:spPr>
      </p:cxnSp>
      <p:sp>
        <p:nvSpPr>
          <p:cNvPr id="45" name="TextBox 44"/>
          <p:cNvSpPr txBox="1"/>
          <p:nvPr/>
        </p:nvSpPr>
        <p:spPr>
          <a:xfrm>
            <a:off x="4343400" y="5879592"/>
            <a:ext cx="3383280" cy="594360"/>
          </a:xfrm>
          <a:prstGeom prst="rect">
            <a:avLst/>
          </a:prstGeom>
          <a:noFill/>
        </p:spPr>
        <p:txBody>
          <a:bodyPr wrap="square" lIns="0" rIns="0" tIns="0" bIns="0">
            <a:spAutoFit/>
          </a:bodyPr>
          <a:lstStyle/>
          <a:p>
            <a:pPr>
              <a:spcAft>
                <a:spcPts val="600"/>
              </a:spcAft>
              <a:defRPr sz="2200" b="1">
                <a:solidFill>
                  <a:srgbClr val="171717"/>
                </a:solidFill>
                <a:latin typeface="Arial"/>
              </a:defRPr>
            </a:pPr>
            <a:r>
              <a:t>Build your reputation</a:t>
            </a:r>
          </a:p>
        </p:txBody>
      </p:sp>
      <p:sp>
        <p:nvSpPr>
          <p:cNvPr id="46" name="TextBox 45"/>
          <p:cNvSpPr txBox="1"/>
          <p:nvPr/>
        </p:nvSpPr>
        <p:spPr>
          <a:xfrm>
            <a:off x="2926080" y="2679192"/>
            <a:ext cx="502920" cy="457200"/>
          </a:xfrm>
          <a:prstGeom prst="rect">
            <a:avLst/>
          </a:prstGeom>
          <a:noFill/>
        </p:spPr>
        <p:txBody>
          <a:bodyPr wrap="square" lIns="0" rIns="0" tIns="0" bIns="0">
            <a:spAutoFit/>
          </a:bodyPr>
          <a:lstStyle/>
          <a:p>
            <a:pPr>
              <a:spcAft>
                <a:spcPts val="600"/>
              </a:spcAft>
              <a:defRPr sz="3000" b="1">
                <a:solidFill>
                  <a:srgbClr val="C6532C"/>
                </a:solidFill>
                <a:latin typeface="Arial"/>
              </a:defRPr>
            </a:pPr>
            <a:r>
              <a:t>→</a:t>
            </a:r>
          </a:p>
        </p:txBody>
      </p:sp>
      <p:sp>
        <p:nvSpPr>
          <p:cNvPr id="47" name="TextBox 46"/>
          <p:cNvSpPr txBox="1"/>
          <p:nvPr/>
        </p:nvSpPr>
        <p:spPr>
          <a:xfrm>
            <a:off x="6537960" y="2679192"/>
            <a:ext cx="502920" cy="457200"/>
          </a:xfrm>
          <a:prstGeom prst="rect">
            <a:avLst/>
          </a:prstGeom>
          <a:noFill/>
        </p:spPr>
        <p:txBody>
          <a:bodyPr wrap="square" lIns="0" rIns="0" tIns="0" bIns="0">
            <a:spAutoFit/>
          </a:bodyPr>
          <a:lstStyle/>
          <a:p>
            <a:pPr>
              <a:spcAft>
                <a:spcPts val="600"/>
              </a:spcAft>
              <a:defRPr sz="3000" b="1">
                <a:solidFill>
                  <a:srgbClr val="C6532C"/>
                </a:solidFill>
                <a:latin typeface="Arial"/>
              </a:defRPr>
            </a:pPr>
            <a:r>
              <a:t>→</a:t>
            </a:r>
          </a:p>
        </p:txBody>
      </p:sp>
      <p:sp>
        <p:nvSpPr>
          <p:cNvPr id="48" name="TextBox 47"/>
          <p:cNvSpPr txBox="1"/>
          <p:nvPr/>
        </p:nvSpPr>
        <p:spPr>
          <a:xfrm>
            <a:off x="8366760" y="3977639"/>
            <a:ext cx="502920" cy="457200"/>
          </a:xfrm>
          <a:prstGeom prst="rect">
            <a:avLst/>
          </a:prstGeom>
          <a:noFill/>
        </p:spPr>
        <p:txBody>
          <a:bodyPr wrap="square" lIns="0" rIns="0" tIns="0" bIns="0">
            <a:spAutoFit/>
          </a:bodyPr>
          <a:lstStyle/>
          <a:p>
            <a:pPr>
              <a:spcAft>
                <a:spcPts val="600"/>
              </a:spcAft>
              <a:defRPr sz="3000" b="1">
                <a:solidFill>
                  <a:srgbClr val="C6532C"/>
                </a:solidFill>
                <a:latin typeface="Arial"/>
              </a:defRPr>
            </a:pPr>
            <a:r>
              <a:t>↓</a:t>
            </a:r>
          </a:p>
        </p:txBody>
      </p:sp>
      <p:sp>
        <p:nvSpPr>
          <p:cNvPr id="49" name="TextBox 48"/>
          <p:cNvSpPr txBox="1"/>
          <p:nvPr/>
        </p:nvSpPr>
        <p:spPr>
          <a:xfrm>
            <a:off x="6537960" y="4965192"/>
            <a:ext cx="502920" cy="457200"/>
          </a:xfrm>
          <a:prstGeom prst="rect">
            <a:avLst/>
          </a:prstGeom>
          <a:noFill/>
        </p:spPr>
        <p:txBody>
          <a:bodyPr wrap="square" lIns="0" rIns="0" tIns="0" bIns="0">
            <a:spAutoFit/>
          </a:bodyPr>
          <a:lstStyle/>
          <a:p>
            <a:pPr>
              <a:spcAft>
                <a:spcPts val="600"/>
              </a:spcAft>
              <a:defRPr sz="3000" b="1">
                <a:solidFill>
                  <a:srgbClr val="C6532C"/>
                </a:solidFill>
                <a:latin typeface="Arial"/>
              </a:defRPr>
            </a:pPr>
            <a:r>
              <a:t>←</a:t>
            </a:r>
          </a:p>
        </p:txBody>
      </p:sp>
      <p:sp>
        <p:nvSpPr>
          <p:cNvPr id="50" name="TextBox 49"/>
          <p:cNvSpPr txBox="1"/>
          <p:nvPr/>
        </p:nvSpPr>
        <p:spPr>
          <a:xfrm>
            <a:off x="868680" y="4892040"/>
            <a:ext cx="3200400" cy="914400"/>
          </a:xfrm>
          <a:prstGeom prst="rect">
            <a:avLst/>
          </a:prstGeom>
          <a:noFill/>
        </p:spPr>
        <p:txBody>
          <a:bodyPr wrap="square" lIns="0" rIns="0" tIns="0" bIns="0">
            <a:spAutoFit/>
          </a:bodyPr>
          <a:lstStyle/>
          <a:p>
            <a:pPr>
              <a:spcAft>
                <a:spcPts val="600"/>
              </a:spcAft>
              <a:defRPr sz="2100" b="1">
                <a:solidFill>
                  <a:srgbClr val="171717"/>
                </a:solidFill>
                <a:latin typeface="Arial"/>
              </a:defRPr>
            </a:pPr>
            <a:r>
              <a:t>Milestones. Reviews.</a:t>
            </a:r>
          </a:p>
          <a:p>
            <a:pPr>
              <a:spcAft>
                <a:spcPts val="600"/>
              </a:spcAft>
              <a:defRPr sz="2100" b="1">
                <a:solidFill>
                  <a:srgbClr val="171717"/>
                </a:solidFill>
                <a:latin typeface="Arial"/>
              </a:defRPr>
            </a:pPr>
            <a:r>
              <a:t>Supported payments.</a:t>
            </a:r>
          </a:p>
        </p:txBody>
      </p:sp>
      <p:sp>
        <p:nvSpPr>
          <p:cNvPr id="51" name="TextBox 50"/>
          <p:cNvSpPr txBox="1"/>
          <p:nvPr/>
        </p:nvSpPr>
        <p:spPr>
          <a:xfrm>
            <a:off x="640080" y="6419088"/>
            <a:ext cx="10332720" cy="292608"/>
          </a:xfrm>
          <a:prstGeom prst="rect">
            <a:avLst/>
          </a:prstGeom>
          <a:noFill/>
        </p:spPr>
        <p:txBody>
          <a:bodyPr wrap="square" lIns="0" rIns="0" tIns="0" bIns="0">
            <a:spAutoFit/>
          </a:bodyPr>
          <a:lstStyle/>
          <a:p>
            <a:pPr>
              <a:spcAft>
                <a:spcPts val="600"/>
              </a:spcAft>
              <a:defRPr sz="1500" b="0">
                <a:solidFill>
                  <a:srgbClr val="655F56"/>
                </a:solidFill>
                <a:latin typeface="Arial"/>
              </a:defRPr>
            </a:pPr>
            <a:r>
              <a:t>Credentials are issued separately by authorized organizations.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1717"/>
        </a:solidFill>
        <a:effectLst/>
      </p:bgPr>
    </p:bg>
    <p:spTree>
      <p:nvGrpSpPr>
        <p:cNvPr id="1" name=""/>
        <p:cNvGrpSpPr/>
        <p:nvPr/>
      </p:nvGrpSpPr>
      <p:grpSpPr/>
      <p:sp>
        <p:nvSpPr>
          <p:cNvPr id="2" name="TextBox 1"/>
          <p:cNvSpPr txBox="1"/>
          <p:nvPr/>
        </p:nvSpPr>
        <p:spPr>
          <a:xfrm>
            <a:off x="11292840" y="6428232"/>
            <a:ext cx="411480" cy="228600"/>
          </a:xfrm>
          <a:prstGeom prst="rect">
            <a:avLst/>
          </a:prstGeom>
          <a:noFill/>
        </p:spPr>
        <p:txBody>
          <a:bodyPr wrap="square" lIns="0" rIns="0" tIns="0" bIns="0">
            <a:spAutoFit/>
          </a:bodyPr>
          <a:lstStyle/>
          <a:p>
            <a:pPr>
              <a:spcAft>
                <a:spcPts val="600"/>
              </a:spcAft>
              <a:defRPr sz="1000" b="0">
                <a:solidFill>
                  <a:srgbClr val="B5AA9A"/>
                </a:solidFill>
                <a:latin typeface="Arial"/>
              </a:defRPr>
            </a:pPr>
            <a:r>
              <a:t>05</a:t>
            </a:r>
          </a:p>
        </p:txBody>
      </p:sp>
      <p:sp>
        <p:nvSpPr>
          <p:cNvPr id="3" name="TextBox 2"/>
          <p:cNvSpPr txBox="1"/>
          <p:nvPr/>
        </p:nvSpPr>
        <p:spPr>
          <a:xfrm>
            <a:off x="594360" y="548640"/>
            <a:ext cx="10972800" cy="914400"/>
          </a:xfrm>
          <a:prstGeom prst="rect">
            <a:avLst/>
          </a:prstGeom>
          <a:noFill/>
        </p:spPr>
        <p:txBody>
          <a:bodyPr wrap="square" lIns="0" rIns="0" tIns="0" bIns="0">
            <a:spAutoFit/>
          </a:bodyPr>
          <a:lstStyle/>
          <a:p>
            <a:pPr>
              <a:spcAft>
                <a:spcPts val="600"/>
              </a:spcAft>
              <a:defRPr sz="4400" b="1">
                <a:solidFill>
                  <a:srgbClr val="F5F0E6"/>
                </a:solidFill>
                <a:latin typeface="Arial"/>
              </a:defRPr>
            </a:pPr>
            <a:r>
              <a:t>Two jobs. One fast network.</a:t>
            </a:r>
          </a:p>
        </p:txBody>
      </p:sp>
      <p:sp>
        <p:nvSpPr>
          <p:cNvPr id="4" name="TextBox 3"/>
          <p:cNvSpPr txBox="1"/>
          <p:nvPr/>
        </p:nvSpPr>
        <p:spPr>
          <a:xfrm>
            <a:off x="640080" y="1920240"/>
            <a:ext cx="3840480" cy="960120"/>
          </a:xfrm>
          <a:prstGeom prst="rect">
            <a:avLst/>
          </a:prstGeom>
          <a:noFill/>
        </p:spPr>
        <p:txBody>
          <a:bodyPr wrap="square" lIns="0" rIns="0" tIns="0" bIns="0">
            <a:spAutoFit/>
          </a:bodyPr>
          <a:lstStyle/>
          <a:p>
            <a:pPr>
              <a:spcAft>
                <a:spcPts val="600"/>
              </a:spcAft>
              <a:defRPr sz="2800" b="1">
                <a:solidFill>
                  <a:srgbClr val="F5F0E6"/>
                </a:solidFill>
                <a:latin typeface="Arial"/>
              </a:defRPr>
            </a:pPr>
            <a:r>
              <a:t>Keep credential records checkable.</a:t>
            </a:r>
          </a:p>
        </p:txBody>
      </p:sp>
      <p:cxnSp>
        <p:nvCxnSpPr>
          <p:cNvPr id="5" name="Connector 4"/>
          <p:cNvCxnSpPr/>
          <p:nvPr/>
        </p:nvCxnSpPr>
        <p:spPr>
          <a:xfrm>
            <a:off x="5025542" y="1965045"/>
            <a:ext cx="409651" cy="0"/>
          </a:xfrm>
          <a:prstGeom prst="line">
            <a:avLst/>
          </a:prstGeom>
          <a:ln w="21590">
            <a:solidFill>
              <a:srgbClr val="E9A58C"/>
            </a:solidFill>
          </a:ln>
        </p:spPr>
      </p:cxnSp>
      <p:cxnSp>
        <p:nvCxnSpPr>
          <p:cNvPr id="6" name="Connector 5"/>
          <p:cNvCxnSpPr/>
          <p:nvPr/>
        </p:nvCxnSpPr>
        <p:spPr>
          <a:xfrm>
            <a:off x="5435193" y="1965045"/>
            <a:ext cx="0" cy="537667"/>
          </a:xfrm>
          <a:prstGeom prst="line">
            <a:avLst/>
          </a:prstGeom>
          <a:ln w="21590">
            <a:solidFill>
              <a:srgbClr val="E9A58C"/>
            </a:solidFill>
          </a:ln>
        </p:spPr>
      </p:cxnSp>
      <p:cxnSp>
        <p:nvCxnSpPr>
          <p:cNvPr id="7" name="Connector 6"/>
          <p:cNvCxnSpPr/>
          <p:nvPr/>
        </p:nvCxnSpPr>
        <p:spPr>
          <a:xfrm flipH="1">
            <a:off x="5025542" y="2502712"/>
            <a:ext cx="409651" cy="0"/>
          </a:xfrm>
          <a:prstGeom prst="line">
            <a:avLst/>
          </a:prstGeom>
          <a:ln w="21590">
            <a:solidFill>
              <a:srgbClr val="E9A58C"/>
            </a:solidFill>
          </a:ln>
        </p:spPr>
      </p:cxnSp>
      <p:cxnSp>
        <p:nvCxnSpPr>
          <p:cNvPr id="8" name="Connector 7"/>
          <p:cNvCxnSpPr/>
          <p:nvPr/>
        </p:nvCxnSpPr>
        <p:spPr>
          <a:xfrm flipV="1">
            <a:off x="5025542" y="1965045"/>
            <a:ext cx="0" cy="537667"/>
          </a:xfrm>
          <a:prstGeom prst="line">
            <a:avLst/>
          </a:prstGeom>
          <a:ln w="21590">
            <a:solidFill>
              <a:srgbClr val="E9A58C"/>
            </a:solidFill>
          </a:ln>
        </p:spPr>
      </p:cxnSp>
      <p:sp>
        <p:nvSpPr>
          <p:cNvPr id="9" name="Oval 8"/>
          <p:cNvSpPr/>
          <p:nvPr/>
        </p:nvSpPr>
        <p:spPr>
          <a:xfrm>
            <a:off x="5127955" y="2086660"/>
            <a:ext cx="204825" cy="204825"/>
          </a:xfrm>
          <a:prstGeom prst="ellipse">
            <a:avLst/>
          </a:prstGeom>
          <a:solidFill>
            <a:srgbClr val="E9A58C"/>
          </a:solidFill>
          <a:ln>
            <a:noFill/>
          </a:ln>
        </p:spPr>
        <p:txBody>
          <a:bodyPr rtlCol="0" anchor="ctr"/>
          <a:lstStyle/>
          <a:p>
            <a:pPr algn="ctr"/>
          </a:p>
        </p:txBody>
      </p:sp>
      <p:cxnSp>
        <p:nvCxnSpPr>
          <p:cNvPr id="10" name="Connector 9"/>
          <p:cNvCxnSpPr/>
          <p:nvPr/>
        </p:nvCxnSpPr>
        <p:spPr>
          <a:xfrm flipH="1">
            <a:off x="5127955" y="2291486"/>
            <a:ext cx="38405" cy="128016"/>
          </a:xfrm>
          <a:prstGeom prst="line">
            <a:avLst/>
          </a:prstGeom>
          <a:ln w="21590">
            <a:solidFill>
              <a:srgbClr val="E9A58C"/>
            </a:solidFill>
          </a:ln>
        </p:spPr>
      </p:cxnSp>
      <p:cxnSp>
        <p:nvCxnSpPr>
          <p:cNvPr id="11" name="Connector 10"/>
          <p:cNvCxnSpPr/>
          <p:nvPr/>
        </p:nvCxnSpPr>
        <p:spPr>
          <a:xfrm>
            <a:off x="5281574" y="2291486"/>
            <a:ext cx="38405" cy="128016"/>
          </a:xfrm>
          <a:prstGeom prst="line">
            <a:avLst/>
          </a:prstGeom>
          <a:ln w="21590">
            <a:solidFill>
              <a:srgbClr val="E9A58C"/>
            </a:solidFill>
          </a:ln>
        </p:spPr>
      </p:cxnSp>
      <p:sp>
        <p:nvSpPr>
          <p:cNvPr id="12" name="TextBox 11"/>
          <p:cNvSpPr txBox="1"/>
          <p:nvPr/>
        </p:nvSpPr>
        <p:spPr>
          <a:xfrm>
            <a:off x="4544568" y="2788920"/>
            <a:ext cx="2194560" cy="685800"/>
          </a:xfrm>
          <a:prstGeom prst="rect">
            <a:avLst/>
          </a:prstGeom>
          <a:noFill/>
        </p:spPr>
        <p:txBody>
          <a:bodyPr wrap="square" lIns="0" rIns="0" tIns="0" bIns="0">
            <a:spAutoFit/>
          </a:bodyPr>
          <a:lstStyle/>
          <a:p>
            <a:pPr>
              <a:spcAft>
                <a:spcPts val="600"/>
              </a:spcAft>
              <a:defRPr sz="1800" b="1">
                <a:solidFill>
                  <a:srgbClr val="F5F0E6"/>
                </a:solidFill>
                <a:latin typeface="Arial"/>
              </a:defRPr>
            </a:pPr>
            <a:r>
              <a:t>Credential</a:t>
            </a:r>
          </a:p>
        </p:txBody>
      </p:sp>
      <p:sp>
        <p:nvSpPr>
          <p:cNvPr id="13" name="TextBox 12"/>
          <p:cNvSpPr txBox="1"/>
          <p:nvPr/>
        </p:nvSpPr>
        <p:spPr>
          <a:xfrm>
            <a:off x="6007608" y="2084832"/>
            <a:ext cx="548640" cy="411480"/>
          </a:xfrm>
          <a:prstGeom prst="rect">
            <a:avLst/>
          </a:prstGeom>
          <a:noFill/>
        </p:spPr>
        <p:txBody>
          <a:bodyPr wrap="square" lIns="0" rIns="0" tIns="0" bIns="0">
            <a:spAutoFit/>
          </a:bodyPr>
          <a:lstStyle/>
          <a:p>
            <a:pPr>
              <a:spcAft>
                <a:spcPts val="600"/>
              </a:spcAft>
              <a:defRPr sz="2500" b="1">
                <a:solidFill>
                  <a:srgbClr val="C6532C"/>
                </a:solidFill>
                <a:latin typeface="Arial"/>
              </a:defRPr>
            </a:pPr>
            <a:r>
              <a:t>→</a:t>
            </a:r>
          </a:p>
        </p:txBody>
      </p:sp>
      <p:cxnSp>
        <p:nvCxnSpPr>
          <p:cNvPr id="14" name="Connector 13"/>
          <p:cNvCxnSpPr/>
          <p:nvPr/>
        </p:nvCxnSpPr>
        <p:spPr>
          <a:xfrm flipH="1">
            <a:off x="7429500" y="1984248"/>
            <a:ext cx="96012" cy="512064"/>
          </a:xfrm>
          <a:prstGeom prst="line">
            <a:avLst/>
          </a:prstGeom>
          <a:ln w="21590">
            <a:solidFill>
              <a:srgbClr val="E9A58C"/>
            </a:solidFill>
          </a:ln>
        </p:spPr>
      </p:cxnSp>
      <p:cxnSp>
        <p:nvCxnSpPr>
          <p:cNvPr id="15" name="Connector 14"/>
          <p:cNvCxnSpPr/>
          <p:nvPr/>
        </p:nvCxnSpPr>
        <p:spPr>
          <a:xfrm flipH="1">
            <a:off x="7653528" y="1984248"/>
            <a:ext cx="96012" cy="512064"/>
          </a:xfrm>
          <a:prstGeom prst="line">
            <a:avLst/>
          </a:prstGeom>
          <a:ln w="21590">
            <a:solidFill>
              <a:srgbClr val="E9A58C"/>
            </a:solidFill>
          </a:ln>
        </p:spPr>
      </p:cxnSp>
      <p:cxnSp>
        <p:nvCxnSpPr>
          <p:cNvPr id="16" name="Connector 15"/>
          <p:cNvCxnSpPr/>
          <p:nvPr/>
        </p:nvCxnSpPr>
        <p:spPr>
          <a:xfrm>
            <a:off x="7333488" y="2157069"/>
            <a:ext cx="524865" cy="0"/>
          </a:xfrm>
          <a:prstGeom prst="line">
            <a:avLst/>
          </a:prstGeom>
          <a:ln w="21590">
            <a:solidFill>
              <a:srgbClr val="E9A58C"/>
            </a:solidFill>
          </a:ln>
        </p:spPr>
      </p:cxnSp>
      <p:cxnSp>
        <p:nvCxnSpPr>
          <p:cNvPr id="17" name="Connector 16"/>
          <p:cNvCxnSpPr/>
          <p:nvPr/>
        </p:nvCxnSpPr>
        <p:spPr>
          <a:xfrm>
            <a:off x="7301484" y="2336292"/>
            <a:ext cx="524865" cy="0"/>
          </a:xfrm>
          <a:prstGeom prst="line">
            <a:avLst/>
          </a:prstGeom>
          <a:ln w="21590">
            <a:solidFill>
              <a:srgbClr val="E9A58C"/>
            </a:solidFill>
          </a:ln>
        </p:spPr>
      </p:cxnSp>
      <p:sp>
        <p:nvSpPr>
          <p:cNvPr id="18" name="TextBox 17"/>
          <p:cNvSpPr txBox="1"/>
          <p:nvPr/>
        </p:nvSpPr>
        <p:spPr>
          <a:xfrm>
            <a:off x="6903720" y="2788920"/>
            <a:ext cx="2194560" cy="685800"/>
          </a:xfrm>
          <a:prstGeom prst="rect">
            <a:avLst/>
          </a:prstGeom>
          <a:noFill/>
        </p:spPr>
        <p:txBody>
          <a:bodyPr wrap="square" lIns="0" rIns="0" tIns="0" bIns="0">
            <a:spAutoFit/>
          </a:bodyPr>
          <a:lstStyle/>
          <a:p>
            <a:pPr>
              <a:spcAft>
                <a:spcPts val="600"/>
              </a:spcAft>
              <a:defRPr sz="1800" b="1">
                <a:solidFill>
                  <a:srgbClr val="F5F0E6"/>
                </a:solidFill>
                <a:latin typeface="Arial"/>
              </a:defRPr>
            </a:pPr>
            <a:r>
              <a:t>Digital fingerprint</a:t>
            </a:r>
          </a:p>
        </p:txBody>
      </p:sp>
      <p:sp>
        <p:nvSpPr>
          <p:cNvPr id="19" name="TextBox 18"/>
          <p:cNvSpPr txBox="1"/>
          <p:nvPr/>
        </p:nvSpPr>
        <p:spPr>
          <a:xfrm>
            <a:off x="8366760" y="2084832"/>
            <a:ext cx="548640" cy="411480"/>
          </a:xfrm>
          <a:prstGeom prst="rect">
            <a:avLst/>
          </a:prstGeom>
          <a:noFill/>
        </p:spPr>
        <p:txBody>
          <a:bodyPr wrap="square" lIns="0" rIns="0" tIns="0" bIns="0">
            <a:spAutoFit/>
          </a:bodyPr>
          <a:lstStyle/>
          <a:p>
            <a:pPr>
              <a:spcAft>
                <a:spcPts val="600"/>
              </a:spcAft>
              <a:defRPr sz="2500" b="1">
                <a:solidFill>
                  <a:srgbClr val="C6532C"/>
                </a:solidFill>
                <a:latin typeface="Arial"/>
              </a:defRPr>
            </a:pPr>
            <a:r>
              <a:t>→</a:t>
            </a:r>
          </a:p>
        </p:txBody>
      </p:sp>
      <p:sp>
        <p:nvSpPr>
          <p:cNvPr id="20" name="Oval 19"/>
          <p:cNvSpPr/>
          <p:nvPr/>
        </p:nvSpPr>
        <p:spPr>
          <a:xfrm>
            <a:off x="9692640" y="1984248"/>
            <a:ext cx="128015" cy="128015"/>
          </a:xfrm>
          <a:prstGeom prst="ellipse">
            <a:avLst/>
          </a:prstGeom>
          <a:solidFill>
            <a:srgbClr val="E9A58C"/>
          </a:solidFill>
          <a:ln>
            <a:noFill/>
          </a:ln>
        </p:spPr>
        <p:txBody>
          <a:bodyPr rtlCol="0" anchor="ctr"/>
          <a:lstStyle/>
          <a:p>
            <a:pPr algn="ctr"/>
          </a:p>
        </p:txBody>
      </p:sp>
      <p:sp>
        <p:nvSpPr>
          <p:cNvPr id="21" name="Oval 20"/>
          <p:cNvSpPr/>
          <p:nvPr/>
        </p:nvSpPr>
        <p:spPr>
          <a:xfrm>
            <a:off x="10076688" y="1984248"/>
            <a:ext cx="128015" cy="128015"/>
          </a:xfrm>
          <a:prstGeom prst="ellipse">
            <a:avLst/>
          </a:prstGeom>
          <a:solidFill>
            <a:srgbClr val="E9A58C"/>
          </a:solidFill>
          <a:ln>
            <a:noFill/>
          </a:ln>
        </p:spPr>
        <p:txBody>
          <a:bodyPr rtlCol="0" anchor="ctr"/>
          <a:lstStyle/>
          <a:p>
            <a:pPr algn="ctr"/>
          </a:p>
        </p:txBody>
      </p:sp>
      <p:sp>
        <p:nvSpPr>
          <p:cNvPr id="22" name="Oval 21"/>
          <p:cNvSpPr/>
          <p:nvPr/>
        </p:nvSpPr>
        <p:spPr>
          <a:xfrm>
            <a:off x="9884664" y="2368296"/>
            <a:ext cx="128015" cy="128015"/>
          </a:xfrm>
          <a:prstGeom prst="ellipse">
            <a:avLst/>
          </a:prstGeom>
          <a:solidFill>
            <a:srgbClr val="E9A58C"/>
          </a:solidFill>
          <a:ln>
            <a:noFill/>
          </a:ln>
        </p:spPr>
        <p:txBody>
          <a:bodyPr rtlCol="0" anchor="ctr"/>
          <a:lstStyle/>
          <a:p>
            <a:pPr algn="ctr"/>
          </a:p>
        </p:txBody>
      </p:sp>
      <p:cxnSp>
        <p:nvCxnSpPr>
          <p:cNvPr id="23" name="Connector 22"/>
          <p:cNvCxnSpPr/>
          <p:nvPr/>
        </p:nvCxnSpPr>
        <p:spPr>
          <a:xfrm>
            <a:off x="9820656" y="2048256"/>
            <a:ext cx="256032" cy="0"/>
          </a:xfrm>
          <a:prstGeom prst="line">
            <a:avLst/>
          </a:prstGeom>
          <a:ln w="21590">
            <a:solidFill>
              <a:srgbClr val="E9A58C"/>
            </a:solidFill>
          </a:ln>
        </p:spPr>
      </p:cxnSp>
      <p:cxnSp>
        <p:nvCxnSpPr>
          <p:cNvPr id="24" name="Connector 23"/>
          <p:cNvCxnSpPr/>
          <p:nvPr/>
        </p:nvCxnSpPr>
        <p:spPr>
          <a:xfrm>
            <a:off x="9756648" y="2112264"/>
            <a:ext cx="179222" cy="256032"/>
          </a:xfrm>
          <a:prstGeom prst="line">
            <a:avLst/>
          </a:prstGeom>
          <a:ln w="21590">
            <a:solidFill>
              <a:srgbClr val="E9A58C"/>
            </a:solidFill>
          </a:ln>
        </p:spPr>
      </p:cxnSp>
      <p:cxnSp>
        <p:nvCxnSpPr>
          <p:cNvPr id="25" name="Connector 24"/>
          <p:cNvCxnSpPr/>
          <p:nvPr/>
        </p:nvCxnSpPr>
        <p:spPr>
          <a:xfrm flipH="1">
            <a:off x="9999878" y="2112264"/>
            <a:ext cx="140818" cy="256032"/>
          </a:xfrm>
          <a:prstGeom prst="line">
            <a:avLst/>
          </a:prstGeom>
          <a:ln w="21590">
            <a:solidFill>
              <a:srgbClr val="E9A58C"/>
            </a:solidFill>
          </a:ln>
        </p:spPr>
      </p:cxnSp>
      <p:sp>
        <p:nvSpPr>
          <p:cNvPr id="26" name="TextBox 25"/>
          <p:cNvSpPr txBox="1"/>
          <p:nvPr/>
        </p:nvSpPr>
        <p:spPr>
          <a:xfrm>
            <a:off x="9262872" y="2788920"/>
            <a:ext cx="2194560" cy="685800"/>
          </a:xfrm>
          <a:prstGeom prst="rect">
            <a:avLst/>
          </a:prstGeom>
          <a:noFill/>
        </p:spPr>
        <p:txBody>
          <a:bodyPr wrap="square" lIns="0" rIns="0" tIns="0" bIns="0">
            <a:spAutoFit/>
          </a:bodyPr>
          <a:lstStyle/>
          <a:p>
            <a:pPr>
              <a:spcAft>
                <a:spcPts val="600"/>
              </a:spcAft>
              <a:defRPr sz="1800" b="1">
                <a:solidFill>
                  <a:srgbClr val="F5F0E6"/>
                </a:solidFill>
                <a:latin typeface="Arial"/>
              </a:defRPr>
            </a:pPr>
            <a:r>
              <a:t>Solana check</a:t>
            </a:r>
          </a:p>
        </p:txBody>
      </p:sp>
      <p:sp>
        <p:nvSpPr>
          <p:cNvPr id="27" name="TextBox 26"/>
          <p:cNvSpPr txBox="1"/>
          <p:nvPr/>
        </p:nvSpPr>
        <p:spPr>
          <a:xfrm>
            <a:off x="640080" y="4096512"/>
            <a:ext cx="3840480" cy="960120"/>
          </a:xfrm>
          <a:prstGeom prst="rect">
            <a:avLst/>
          </a:prstGeom>
          <a:noFill/>
        </p:spPr>
        <p:txBody>
          <a:bodyPr wrap="square" lIns="0" rIns="0" tIns="0" bIns="0">
            <a:spAutoFit/>
          </a:bodyPr>
          <a:lstStyle/>
          <a:p>
            <a:pPr>
              <a:spcAft>
                <a:spcPts val="600"/>
              </a:spcAft>
              <a:defRPr sz="2800" b="1">
                <a:solidFill>
                  <a:srgbClr val="F5F0E6"/>
                </a:solidFill>
                <a:latin typeface="Arial"/>
              </a:defRPr>
            </a:pPr>
            <a:r>
              <a:t>Move milestone payments.</a:t>
            </a:r>
          </a:p>
        </p:txBody>
      </p:sp>
      <p:cxnSp>
        <p:nvCxnSpPr>
          <p:cNvPr id="28" name="Connector 27"/>
          <p:cNvCxnSpPr/>
          <p:nvPr/>
        </p:nvCxnSpPr>
        <p:spPr>
          <a:xfrm>
            <a:off x="5006340" y="4416552"/>
            <a:ext cx="160020" cy="160020"/>
          </a:xfrm>
          <a:prstGeom prst="line">
            <a:avLst/>
          </a:prstGeom>
          <a:ln w="21590">
            <a:solidFill>
              <a:srgbClr val="E9A58C"/>
            </a:solidFill>
          </a:ln>
        </p:spPr>
      </p:cxnSp>
      <p:cxnSp>
        <p:nvCxnSpPr>
          <p:cNvPr id="29" name="Connector 28"/>
          <p:cNvCxnSpPr/>
          <p:nvPr/>
        </p:nvCxnSpPr>
        <p:spPr>
          <a:xfrm flipV="1">
            <a:off x="5166360" y="4224528"/>
            <a:ext cx="307238" cy="352044"/>
          </a:xfrm>
          <a:prstGeom prst="line">
            <a:avLst/>
          </a:prstGeom>
          <a:ln w="21590">
            <a:solidFill>
              <a:srgbClr val="E9A58C"/>
            </a:solidFill>
          </a:ln>
        </p:spPr>
      </p:cxnSp>
      <p:sp>
        <p:nvSpPr>
          <p:cNvPr id="30" name="TextBox 29"/>
          <p:cNvSpPr txBox="1"/>
          <p:nvPr/>
        </p:nvSpPr>
        <p:spPr>
          <a:xfrm>
            <a:off x="4544568" y="4965192"/>
            <a:ext cx="2194560" cy="685800"/>
          </a:xfrm>
          <a:prstGeom prst="rect">
            <a:avLst/>
          </a:prstGeom>
          <a:noFill/>
        </p:spPr>
        <p:txBody>
          <a:bodyPr wrap="square" lIns="0" rIns="0" tIns="0" bIns="0">
            <a:spAutoFit/>
          </a:bodyPr>
          <a:lstStyle/>
          <a:p>
            <a:pPr>
              <a:spcAft>
                <a:spcPts val="600"/>
              </a:spcAft>
              <a:defRPr sz="1800" b="1">
                <a:solidFill>
                  <a:srgbClr val="F5F0E6"/>
                </a:solidFill>
                <a:latin typeface="Arial"/>
              </a:defRPr>
            </a:pPr>
            <a:r>
              <a:t>Approved milestone</a:t>
            </a:r>
          </a:p>
        </p:txBody>
      </p:sp>
      <p:sp>
        <p:nvSpPr>
          <p:cNvPr id="31" name="TextBox 30"/>
          <p:cNvSpPr txBox="1"/>
          <p:nvPr/>
        </p:nvSpPr>
        <p:spPr>
          <a:xfrm>
            <a:off x="6007608" y="4261104"/>
            <a:ext cx="548640" cy="411480"/>
          </a:xfrm>
          <a:prstGeom prst="rect">
            <a:avLst/>
          </a:prstGeom>
          <a:noFill/>
        </p:spPr>
        <p:txBody>
          <a:bodyPr wrap="square" lIns="0" rIns="0" tIns="0" bIns="0">
            <a:spAutoFit/>
          </a:bodyPr>
          <a:lstStyle/>
          <a:p>
            <a:pPr>
              <a:spcAft>
                <a:spcPts val="600"/>
              </a:spcAft>
              <a:defRPr sz="2500" b="1">
                <a:solidFill>
                  <a:srgbClr val="C6532C"/>
                </a:solidFill>
                <a:latin typeface="Arial"/>
              </a:defRPr>
            </a:pPr>
            <a:r>
              <a:t>→</a:t>
            </a:r>
          </a:p>
        </p:txBody>
      </p:sp>
      <p:cxnSp>
        <p:nvCxnSpPr>
          <p:cNvPr id="32" name="Connector 31"/>
          <p:cNvCxnSpPr/>
          <p:nvPr/>
        </p:nvCxnSpPr>
        <p:spPr>
          <a:xfrm>
            <a:off x="7333488" y="4224528"/>
            <a:ext cx="480060" cy="0"/>
          </a:xfrm>
          <a:prstGeom prst="line">
            <a:avLst/>
          </a:prstGeom>
          <a:ln w="21590">
            <a:solidFill>
              <a:srgbClr val="E9A58C"/>
            </a:solidFill>
          </a:ln>
        </p:spPr>
      </p:cxnSp>
      <p:cxnSp>
        <p:nvCxnSpPr>
          <p:cNvPr id="33" name="Connector 32"/>
          <p:cNvCxnSpPr/>
          <p:nvPr/>
        </p:nvCxnSpPr>
        <p:spPr>
          <a:xfrm>
            <a:off x="7333488" y="4224528"/>
            <a:ext cx="0" cy="403250"/>
          </a:xfrm>
          <a:prstGeom prst="line">
            <a:avLst/>
          </a:prstGeom>
          <a:ln w="21590">
            <a:solidFill>
              <a:srgbClr val="E9A58C"/>
            </a:solidFill>
          </a:ln>
        </p:spPr>
      </p:cxnSp>
      <p:cxnSp>
        <p:nvCxnSpPr>
          <p:cNvPr id="34" name="Connector 33"/>
          <p:cNvCxnSpPr/>
          <p:nvPr/>
        </p:nvCxnSpPr>
        <p:spPr>
          <a:xfrm>
            <a:off x="7333488" y="4627778"/>
            <a:ext cx="480060" cy="0"/>
          </a:xfrm>
          <a:prstGeom prst="line">
            <a:avLst/>
          </a:prstGeom>
          <a:ln w="21590">
            <a:solidFill>
              <a:srgbClr val="E9A58C"/>
            </a:solidFill>
          </a:ln>
        </p:spPr>
      </p:cxnSp>
      <p:cxnSp>
        <p:nvCxnSpPr>
          <p:cNvPr id="35" name="Connector 34"/>
          <p:cNvCxnSpPr/>
          <p:nvPr/>
        </p:nvCxnSpPr>
        <p:spPr>
          <a:xfrm flipV="1">
            <a:off x="7813548" y="4224528"/>
            <a:ext cx="0" cy="403250"/>
          </a:xfrm>
          <a:prstGeom prst="line">
            <a:avLst/>
          </a:prstGeom>
          <a:ln w="21590">
            <a:solidFill>
              <a:srgbClr val="E9A58C"/>
            </a:solidFill>
          </a:ln>
        </p:spPr>
      </p:cxnSp>
      <p:cxnSp>
        <p:nvCxnSpPr>
          <p:cNvPr id="36" name="Connector 35"/>
          <p:cNvCxnSpPr/>
          <p:nvPr/>
        </p:nvCxnSpPr>
        <p:spPr>
          <a:xfrm>
            <a:off x="7685531" y="4365345"/>
            <a:ext cx="192025" cy="0"/>
          </a:xfrm>
          <a:prstGeom prst="line">
            <a:avLst/>
          </a:prstGeom>
          <a:ln w="21590">
            <a:solidFill>
              <a:srgbClr val="E9A58C"/>
            </a:solidFill>
          </a:ln>
        </p:spPr>
      </p:cxnSp>
      <p:cxnSp>
        <p:nvCxnSpPr>
          <p:cNvPr id="37" name="Connector 36"/>
          <p:cNvCxnSpPr/>
          <p:nvPr/>
        </p:nvCxnSpPr>
        <p:spPr>
          <a:xfrm>
            <a:off x="7877556" y="4365345"/>
            <a:ext cx="0" cy="140818"/>
          </a:xfrm>
          <a:prstGeom prst="line">
            <a:avLst/>
          </a:prstGeom>
          <a:ln w="21590">
            <a:solidFill>
              <a:srgbClr val="E9A58C"/>
            </a:solidFill>
          </a:ln>
        </p:spPr>
      </p:cxnSp>
      <p:cxnSp>
        <p:nvCxnSpPr>
          <p:cNvPr id="38" name="Connector 37"/>
          <p:cNvCxnSpPr/>
          <p:nvPr/>
        </p:nvCxnSpPr>
        <p:spPr>
          <a:xfrm flipH="1">
            <a:off x="7685531" y="4506163"/>
            <a:ext cx="192025" cy="0"/>
          </a:xfrm>
          <a:prstGeom prst="line">
            <a:avLst/>
          </a:prstGeom>
          <a:ln w="21590">
            <a:solidFill>
              <a:srgbClr val="E9A58C"/>
            </a:solidFill>
          </a:ln>
        </p:spPr>
      </p:cxnSp>
      <p:cxnSp>
        <p:nvCxnSpPr>
          <p:cNvPr id="39" name="Connector 38"/>
          <p:cNvCxnSpPr/>
          <p:nvPr/>
        </p:nvCxnSpPr>
        <p:spPr>
          <a:xfrm flipV="1">
            <a:off x="7685531" y="4365345"/>
            <a:ext cx="0" cy="140818"/>
          </a:xfrm>
          <a:prstGeom prst="line">
            <a:avLst/>
          </a:prstGeom>
          <a:ln w="21590">
            <a:solidFill>
              <a:srgbClr val="E9A58C"/>
            </a:solidFill>
          </a:ln>
        </p:spPr>
      </p:cxnSp>
      <p:sp>
        <p:nvSpPr>
          <p:cNvPr id="40" name="TextBox 39"/>
          <p:cNvSpPr txBox="1"/>
          <p:nvPr/>
        </p:nvSpPr>
        <p:spPr>
          <a:xfrm>
            <a:off x="6903720" y="4965192"/>
            <a:ext cx="2194560" cy="685800"/>
          </a:xfrm>
          <a:prstGeom prst="rect">
            <a:avLst/>
          </a:prstGeom>
          <a:noFill/>
        </p:spPr>
        <p:txBody>
          <a:bodyPr wrap="square" lIns="0" rIns="0" tIns="0" bIns="0">
            <a:spAutoFit/>
          </a:bodyPr>
          <a:lstStyle/>
          <a:p>
            <a:pPr>
              <a:spcAft>
                <a:spcPts val="600"/>
              </a:spcAft>
              <a:defRPr sz="1800" b="1">
                <a:solidFill>
                  <a:srgbClr val="F5F0E6"/>
                </a:solidFill>
                <a:latin typeface="Arial"/>
              </a:defRPr>
            </a:pPr>
            <a:r>
              <a:t>Wallet payment</a:t>
            </a:r>
          </a:p>
        </p:txBody>
      </p:sp>
      <p:sp>
        <p:nvSpPr>
          <p:cNvPr id="41" name="TextBox 40"/>
          <p:cNvSpPr txBox="1"/>
          <p:nvPr/>
        </p:nvSpPr>
        <p:spPr>
          <a:xfrm>
            <a:off x="8366760" y="4261104"/>
            <a:ext cx="548640" cy="411480"/>
          </a:xfrm>
          <a:prstGeom prst="rect">
            <a:avLst/>
          </a:prstGeom>
          <a:noFill/>
        </p:spPr>
        <p:txBody>
          <a:bodyPr wrap="square" lIns="0" rIns="0" tIns="0" bIns="0">
            <a:spAutoFit/>
          </a:bodyPr>
          <a:lstStyle/>
          <a:p>
            <a:pPr>
              <a:spcAft>
                <a:spcPts val="600"/>
              </a:spcAft>
              <a:defRPr sz="2500" b="1">
                <a:solidFill>
                  <a:srgbClr val="C6532C"/>
                </a:solidFill>
                <a:latin typeface="Arial"/>
              </a:defRPr>
            </a:pPr>
            <a:r>
              <a:t>→</a:t>
            </a:r>
          </a:p>
        </p:txBody>
      </p:sp>
      <p:cxnSp>
        <p:nvCxnSpPr>
          <p:cNvPr id="42" name="Connector 41"/>
          <p:cNvCxnSpPr/>
          <p:nvPr/>
        </p:nvCxnSpPr>
        <p:spPr>
          <a:xfrm>
            <a:off x="9743846" y="4141317"/>
            <a:ext cx="409651" cy="0"/>
          </a:xfrm>
          <a:prstGeom prst="line">
            <a:avLst/>
          </a:prstGeom>
          <a:ln w="21590">
            <a:solidFill>
              <a:srgbClr val="E9A58C"/>
            </a:solidFill>
          </a:ln>
        </p:spPr>
      </p:cxnSp>
      <p:cxnSp>
        <p:nvCxnSpPr>
          <p:cNvPr id="43" name="Connector 42"/>
          <p:cNvCxnSpPr/>
          <p:nvPr/>
        </p:nvCxnSpPr>
        <p:spPr>
          <a:xfrm>
            <a:off x="10153497" y="4141317"/>
            <a:ext cx="0" cy="537667"/>
          </a:xfrm>
          <a:prstGeom prst="line">
            <a:avLst/>
          </a:prstGeom>
          <a:ln w="21590">
            <a:solidFill>
              <a:srgbClr val="E9A58C"/>
            </a:solidFill>
          </a:ln>
        </p:spPr>
      </p:cxnSp>
      <p:cxnSp>
        <p:nvCxnSpPr>
          <p:cNvPr id="44" name="Connector 43"/>
          <p:cNvCxnSpPr/>
          <p:nvPr/>
        </p:nvCxnSpPr>
        <p:spPr>
          <a:xfrm flipH="1">
            <a:off x="9743846" y="4678984"/>
            <a:ext cx="409651" cy="0"/>
          </a:xfrm>
          <a:prstGeom prst="line">
            <a:avLst/>
          </a:prstGeom>
          <a:ln w="21590">
            <a:solidFill>
              <a:srgbClr val="E9A58C"/>
            </a:solidFill>
          </a:ln>
        </p:spPr>
      </p:cxnSp>
      <p:cxnSp>
        <p:nvCxnSpPr>
          <p:cNvPr id="45" name="Connector 44"/>
          <p:cNvCxnSpPr/>
          <p:nvPr/>
        </p:nvCxnSpPr>
        <p:spPr>
          <a:xfrm flipV="1">
            <a:off x="9743846" y="4141317"/>
            <a:ext cx="0" cy="537667"/>
          </a:xfrm>
          <a:prstGeom prst="line">
            <a:avLst/>
          </a:prstGeom>
          <a:ln w="21590">
            <a:solidFill>
              <a:srgbClr val="E9A58C"/>
            </a:solidFill>
          </a:ln>
        </p:spPr>
      </p:cxnSp>
      <p:cxnSp>
        <p:nvCxnSpPr>
          <p:cNvPr id="46" name="Connector 45"/>
          <p:cNvCxnSpPr/>
          <p:nvPr/>
        </p:nvCxnSpPr>
        <p:spPr>
          <a:xfrm>
            <a:off x="9827056" y="4307738"/>
            <a:ext cx="243231" cy="0"/>
          </a:xfrm>
          <a:prstGeom prst="line">
            <a:avLst/>
          </a:prstGeom>
          <a:ln w="21590">
            <a:solidFill>
              <a:srgbClr val="E9A58C"/>
            </a:solidFill>
          </a:ln>
        </p:spPr>
      </p:cxnSp>
      <p:cxnSp>
        <p:nvCxnSpPr>
          <p:cNvPr id="47" name="Connector 46"/>
          <p:cNvCxnSpPr/>
          <p:nvPr/>
        </p:nvCxnSpPr>
        <p:spPr>
          <a:xfrm>
            <a:off x="9827056" y="4410151"/>
            <a:ext cx="243231" cy="0"/>
          </a:xfrm>
          <a:prstGeom prst="line">
            <a:avLst/>
          </a:prstGeom>
          <a:ln w="21590">
            <a:solidFill>
              <a:srgbClr val="E9A58C"/>
            </a:solidFill>
          </a:ln>
        </p:spPr>
      </p:cxnSp>
      <p:cxnSp>
        <p:nvCxnSpPr>
          <p:cNvPr id="48" name="Connector 47"/>
          <p:cNvCxnSpPr/>
          <p:nvPr/>
        </p:nvCxnSpPr>
        <p:spPr>
          <a:xfrm>
            <a:off x="9827056" y="4512564"/>
            <a:ext cx="243231" cy="0"/>
          </a:xfrm>
          <a:prstGeom prst="line">
            <a:avLst/>
          </a:prstGeom>
          <a:ln w="21590">
            <a:solidFill>
              <a:srgbClr val="E9A58C"/>
            </a:solidFill>
          </a:ln>
        </p:spPr>
      </p:cxnSp>
      <p:sp>
        <p:nvSpPr>
          <p:cNvPr id="49" name="TextBox 48"/>
          <p:cNvSpPr txBox="1"/>
          <p:nvPr/>
        </p:nvSpPr>
        <p:spPr>
          <a:xfrm>
            <a:off x="9262872" y="4965192"/>
            <a:ext cx="2194560" cy="685800"/>
          </a:xfrm>
          <a:prstGeom prst="rect">
            <a:avLst/>
          </a:prstGeom>
          <a:noFill/>
        </p:spPr>
        <p:txBody>
          <a:bodyPr wrap="square" lIns="0" rIns="0" tIns="0" bIns="0">
            <a:spAutoFit/>
          </a:bodyPr>
          <a:lstStyle/>
          <a:p>
            <a:pPr>
              <a:spcAft>
                <a:spcPts val="600"/>
              </a:spcAft>
              <a:defRPr sz="1800" b="1">
                <a:solidFill>
                  <a:srgbClr val="F5F0E6"/>
                </a:solidFill>
                <a:latin typeface="Arial"/>
              </a:defRPr>
            </a:pPr>
            <a:r>
              <a:t>Transaction receipt</a:t>
            </a:r>
          </a:p>
        </p:txBody>
      </p:sp>
      <p:cxnSp>
        <p:nvCxnSpPr>
          <p:cNvPr id="50" name="Connector 49"/>
          <p:cNvCxnSpPr/>
          <p:nvPr/>
        </p:nvCxnSpPr>
        <p:spPr>
          <a:xfrm>
            <a:off x="640080" y="3776472"/>
            <a:ext cx="10789920" cy="0"/>
          </a:xfrm>
          <a:prstGeom prst="line">
            <a:avLst/>
          </a:prstGeom>
          <a:ln w="12700">
            <a:solidFill>
              <a:srgbClr val="494239"/>
            </a:solidFill>
          </a:ln>
        </p:spPr>
      </p:cxnSp>
      <p:sp>
        <p:nvSpPr>
          <p:cNvPr id="51" name="TextBox 50"/>
          <p:cNvSpPr txBox="1"/>
          <p:nvPr/>
        </p:nvSpPr>
        <p:spPr>
          <a:xfrm>
            <a:off x="640080" y="6080760"/>
            <a:ext cx="9601200" cy="502920"/>
          </a:xfrm>
          <a:prstGeom prst="rect">
            <a:avLst/>
          </a:prstGeom>
          <a:noFill/>
        </p:spPr>
        <p:txBody>
          <a:bodyPr wrap="square" lIns="0" rIns="0" tIns="0" bIns="0">
            <a:spAutoFit/>
          </a:bodyPr>
          <a:lstStyle/>
          <a:p>
            <a:pPr>
              <a:spcAft>
                <a:spcPts val="600"/>
              </a:spcAft>
              <a:defRPr sz="2600" b="1">
                <a:solidFill>
                  <a:srgbClr val="F5F0E6"/>
                </a:solidFill>
                <a:latin typeface="Arial"/>
              </a:defRPr>
            </a:pPr>
            <a:r>
              <a:t>Low fees. Fast settlement. Public receipts.</a:t>
            </a:r>
          </a:p>
        </p:txBody>
      </p:sp>
      <p:sp>
        <p:nvSpPr>
          <p:cNvPr id="52" name="TextBox 51"/>
          <p:cNvSpPr txBox="1"/>
          <p:nvPr/>
        </p:nvSpPr>
        <p:spPr>
          <a:xfrm>
            <a:off x="640080" y="6537960"/>
            <a:ext cx="10789920" cy="228600"/>
          </a:xfrm>
          <a:prstGeom prst="rect">
            <a:avLst/>
          </a:prstGeom>
          <a:noFill/>
        </p:spPr>
        <p:txBody>
          <a:bodyPr wrap="square" lIns="0" rIns="0" tIns="0" bIns="0">
            <a:spAutoFit/>
          </a:bodyPr>
          <a:lstStyle/>
          <a:p>
            <a:pPr>
              <a:spcAft>
                <a:spcPts val="600"/>
              </a:spcAft>
              <a:defRPr sz="1200" b="0">
                <a:solidFill>
                  <a:srgbClr val="E9A58C"/>
                </a:solidFill>
                <a:latin typeface="Arial"/>
              </a:defRPr>
            </a:pPr>
            <a:r>
              <a:t>DEVNET · TEST USDC · Record integrity does not prove skill.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7DECF"/>
        </a:solidFill>
        <a:effectLst/>
      </p:bgPr>
    </p:bg>
    <p:spTree>
      <p:nvGrpSpPr>
        <p:cNvPr id="1" name=""/>
        <p:cNvGrpSpPr/>
        <p:nvPr/>
      </p:nvGrpSpPr>
      <p:grpSpPr/>
      <p:sp>
        <p:nvSpPr>
          <p:cNvPr id="2" name="TextBox 1"/>
          <p:cNvSpPr txBox="1"/>
          <p:nvPr/>
        </p:nvSpPr>
        <p:spPr>
          <a:xfrm>
            <a:off x="11292840" y="6428232"/>
            <a:ext cx="411480" cy="228600"/>
          </a:xfrm>
          <a:prstGeom prst="rect">
            <a:avLst/>
          </a:prstGeom>
          <a:noFill/>
        </p:spPr>
        <p:txBody>
          <a:bodyPr wrap="square" lIns="0" rIns="0" tIns="0" bIns="0">
            <a:spAutoFit/>
          </a:bodyPr>
          <a:lstStyle/>
          <a:p>
            <a:pPr>
              <a:spcAft>
                <a:spcPts val="600"/>
              </a:spcAft>
              <a:defRPr sz="1000" b="0">
                <a:solidFill>
                  <a:srgbClr val="655F56"/>
                </a:solidFill>
                <a:latin typeface="Arial"/>
              </a:defRPr>
            </a:pPr>
            <a:r>
              <a:t>06</a:t>
            </a:r>
          </a:p>
        </p:txBody>
      </p:sp>
      <p:sp>
        <p:nvSpPr>
          <p:cNvPr id="3" name="TextBox 2"/>
          <p:cNvSpPr txBox="1"/>
          <p:nvPr/>
        </p:nvSpPr>
        <p:spPr>
          <a:xfrm>
            <a:off x="594360" y="502920"/>
            <a:ext cx="11155680" cy="1371600"/>
          </a:xfrm>
          <a:prstGeom prst="rect">
            <a:avLst/>
          </a:prstGeom>
          <a:noFill/>
        </p:spPr>
        <p:txBody>
          <a:bodyPr wrap="square" lIns="0" rIns="0" tIns="0" bIns="0">
            <a:spAutoFit/>
          </a:bodyPr>
          <a:lstStyle/>
          <a:p>
            <a:pPr>
              <a:spcAft>
                <a:spcPts val="600"/>
              </a:spcAft>
              <a:defRPr sz="4300" b="1">
                <a:solidFill>
                  <a:srgbClr val="171717"/>
                </a:solidFill>
                <a:latin typeface="Arial"/>
              </a:defRPr>
            </a:pPr>
            <a:r>
              <a:t>Don’t start from zero</a:t>
            </a:r>
          </a:p>
          <a:p>
            <a:pPr>
              <a:spcAft>
                <a:spcPts val="600"/>
              </a:spcAft>
              <a:defRPr sz="4300" b="1">
                <a:solidFill>
                  <a:srgbClr val="171717"/>
                </a:solidFill>
                <a:latin typeface="Arial"/>
              </a:defRPr>
            </a:pPr>
            <a:r>
              <a:t>with every opportunity.</a:t>
            </a:r>
          </a:p>
        </p:txBody>
      </p:sp>
      <p:sp>
        <p:nvSpPr>
          <p:cNvPr id="4" name="TextBox 3"/>
          <p:cNvSpPr txBox="1"/>
          <p:nvPr/>
        </p:nvSpPr>
        <p:spPr>
          <a:xfrm>
            <a:off x="685800" y="2286000"/>
            <a:ext cx="2743200" cy="320040"/>
          </a:xfrm>
          <a:prstGeom prst="rect">
            <a:avLst/>
          </a:prstGeom>
          <a:noFill/>
        </p:spPr>
        <p:txBody>
          <a:bodyPr wrap="square" lIns="0" rIns="0" tIns="0" bIns="0">
            <a:spAutoFit/>
          </a:bodyPr>
          <a:lstStyle/>
          <a:p>
            <a:pPr>
              <a:spcAft>
                <a:spcPts val="600"/>
              </a:spcAft>
              <a:defRPr sz="1300" b="1">
                <a:solidFill>
                  <a:srgbClr val="655F56"/>
                </a:solidFill>
                <a:latin typeface="Arial"/>
              </a:defRPr>
            </a:pPr>
            <a:r>
              <a:t>SEPARATE TOOLS</a:t>
            </a:r>
          </a:p>
        </p:txBody>
      </p:sp>
      <p:cxnSp>
        <p:nvCxnSpPr>
          <p:cNvPr id="5" name="Connector 4"/>
          <p:cNvCxnSpPr/>
          <p:nvPr/>
        </p:nvCxnSpPr>
        <p:spPr>
          <a:xfrm>
            <a:off x="805586" y="2890875"/>
            <a:ext cx="263347" cy="0"/>
          </a:xfrm>
          <a:prstGeom prst="line">
            <a:avLst/>
          </a:prstGeom>
          <a:ln w="21590">
            <a:solidFill>
              <a:srgbClr val="655F56"/>
            </a:solidFill>
          </a:ln>
        </p:spPr>
      </p:cxnSp>
      <p:cxnSp>
        <p:nvCxnSpPr>
          <p:cNvPr id="6" name="Connector 5"/>
          <p:cNvCxnSpPr/>
          <p:nvPr/>
        </p:nvCxnSpPr>
        <p:spPr>
          <a:xfrm>
            <a:off x="1068933" y="2890875"/>
            <a:ext cx="0" cy="345643"/>
          </a:xfrm>
          <a:prstGeom prst="line">
            <a:avLst/>
          </a:prstGeom>
          <a:ln w="21590">
            <a:solidFill>
              <a:srgbClr val="655F56"/>
            </a:solidFill>
          </a:ln>
        </p:spPr>
      </p:cxnSp>
      <p:cxnSp>
        <p:nvCxnSpPr>
          <p:cNvPr id="7" name="Connector 6"/>
          <p:cNvCxnSpPr/>
          <p:nvPr/>
        </p:nvCxnSpPr>
        <p:spPr>
          <a:xfrm flipH="1">
            <a:off x="805586" y="3236518"/>
            <a:ext cx="263347" cy="0"/>
          </a:xfrm>
          <a:prstGeom prst="line">
            <a:avLst/>
          </a:prstGeom>
          <a:ln w="21590">
            <a:solidFill>
              <a:srgbClr val="655F56"/>
            </a:solidFill>
          </a:ln>
        </p:spPr>
      </p:cxnSp>
      <p:cxnSp>
        <p:nvCxnSpPr>
          <p:cNvPr id="8" name="Connector 7"/>
          <p:cNvCxnSpPr/>
          <p:nvPr/>
        </p:nvCxnSpPr>
        <p:spPr>
          <a:xfrm flipV="1">
            <a:off x="805586" y="2890875"/>
            <a:ext cx="0" cy="345643"/>
          </a:xfrm>
          <a:prstGeom prst="line">
            <a:avLst/>
          </a:prstGeom>
          <a:ln w="21590">
            <a:solidFill>
              <a:srgbClr val="655F56"/>
            </a:solidFill>
          </a:ln>
        </p:spPr>
      </p:cxnSp>
      <p:cxnSp>
        <p:nvCxnSpPr>
          <p:cNvPr id="9" name="Connector 8"/>
          <p:cNvCxnSpPr/>
          <p:nvPr/>
        </p:nvCxnSpPr>
        <p:spPr>
          <a:xfrm>
            <a:off x="859078" y="2997860"/>
            <a:ext cx="156363" cy="0"/>
          </a:xfrm>
          <a:prstGeom prst="line">
            <a:avLst/>
          </a:prstGeom>
          <a:ln w="21590">
            <a:solidFill>
              <a:srgbClr val="655F56"/>
            </a:solidFill>
          </a:ln>
        </p:spPr>
      </p:cxnSp>
      <p:cxnSp>
        <p:nvCxnSpPr>
          <p:cNvPr id="10" name="Connector 9"/>
          <p:cNvCxnSpPr/>
          <p:nvPr/>
        </p:nvCxnSpPr>
        <p:spPr>
          <a:xfrm>
            <a:off x="859078" y="3063697"/>
            <a:ext cx="156363" cy="0"/>
          </a:xfrm>
          <a:prstGeom prst="line">
            <a:avLst/>
          </a:prstGeom>
          <a:ln w="21590">
            <a:solidFill>
              <a:srgbClr val="655F56"/>
            </a:solidFill>
          </a:ln>
        </p:spPr>
      </p:cxnSp>
      <p:cxnSp>
        <p:nvCxnSpPr>
          <p:cNvPr id="11" name="Connector 10"/>
          <p:cNvCxnSpPr/>
          <p:nvPr/>
        </p:nvCxnSpPr>
        <p:spPr>
          <a:xfrm>
            <a:off x="859078" y="3129534"/>
            <a:ext cx="156363" cy="0"/>
          </a:xfrm>
          <a:prstGeom prst="line">
            <a:avLst/>
          </a:prstGeom>
          <a:ln w="21590">
            <a:solidFill>
              <a:srgbClr val="655F56"/>
            </a:solidFill>
          </a:ln>
        </p:spPr>
      </p:cxnSp>
      <p:sp>
        <p:nvSpPr>
          <p:cNvPr id="12" name="TextBox 11"/>
          <p:cNvSpPr txBox="1"/>
          <p:nvPr/>
        </p:nvSpPr>
        <p:spPr>
          <a:xfrm>
            <a:off x="1371600" y="2880360"/>
            <a:ext cx="3657600" cy="457200"/>
          </a:xfrm>
          <a:prstGeom prst="rect">
            <a:avLst/>
          </a:prstGeom>
          <a:noFill/>
        </p:spPr>
        <p:txBody>
          <a:bodyPr wrap="square" lIns="0" rIns="0" tIns="0" bIns="0">
            <a:spAutoFit/>
          </a:bodyPr>
          <a:lstStyle/>
          <a:p>
            <a:pPr>
              <a:spcAft>
                <a:spcPts val="600"/>
              </a:spcAft>
              <a:defRPr sz="2200" b="0">
                <a:solidFill>
                  <a:srgbClr val="171717"/>
                </a:solidFill>
                <a:latin typeface="Arial"/>
              </a:defRPr>
            </a:pPr>
            <a:r>
              <a:t>CVs list claims</a:t>
            </a:r>
          </a:p>
        </p:txBody>
      </p:sp>
      <p:cxnSp>
        <p:nvCxnSpPr>
          <p:cNvPr id="13" name="Connector 12"/>
          <p:cNvCxnSpPr/>
          <p:nvPr/>
        </p:nvCxnSpPr>
        <p:spPr>
          <a:xfrm>
            <a:off x="805586" y="3759555"/>
            <a:ext cx="263347" cy="0"/>
          </a:xfrm>
          <a:prstGeom prst="line">
            <a:avLst/>
          </a:prstGeom>
          <a:ln w="21590">
            <a:solidFill>
              <a:srgbClr val="655F56"/>
            </a:solidFill>
          </a:ln>
        </p:spPr>
      </p:cxnSp>
      <p:cxnSp>
        <p:nvCxnSpPr>
          <p:cNvPr id="14" name="Connector 13"/>
          <p:cNvCxnSpPr/>
          <p:nvPr/>
        </p:nvCxnSpPr>
        <p:spPr>
          <a:xfrm>
            <a:off x="1068933" y="3759555"/>
            <a:ext cx="0" cy="345643"/>
          </a:xfrm>
          <a:prstGeom prst="line">
            <a:avLst/>
          </a:prstGeom>
          <a:ln w="21590">
            <a:solidFill>
              <a:srgbClr val="655F56"/>
            </a:solidFill>
          </a:ln>
        </p:spPr>
      </p:cxnSp>
      <p:cxnSp>
        <p:nvCxnSpPr>
          <p:cNvPr id="15" name="Connector 14"/>
          <p:cNvCxnSpPr/>
          <p:nvPr/>
        </p:nvCxnSpPr>
        <p:spPr>
          <a:xfrm flipH="1">
            <a:off x="805586" y="4105198"/>
            <a:ext cx="263347" cy="0"/>
          </a:xfrm>
          <a:prstGeom prst="line">
            <a:avLst/>
          </a:prstGeom>
          <a:ln w="21590">
            <a:solidFill>
              <a:srgbClr val="655F56"/>
            </a:solidFill>
          </a:ln>
        </p:spPr>
      </p:cxnSp>
      <p:cxnSp>
        <p:nvCxnSpPr>
          <p:cNvPr id="16" name="Connector 15"/>
          <p:cNvCxnSpPr/>
          <p:nvPr/>
        </p:nvCxnSpPr>
        <p:spPr>
          <a:xfrm flipV="1">
            <a:off x="805586" y="3759555"/>
            <a:ext cx="0" cy="345643"/>
          </a:xfrm>
          <a:prstGeom prst="line">
            <a:avLst/>
          </a:prstGeom>
          <a:ln w="21590">
            <a:solidFill>
              <a:srgbClr val="655F56"/>
            </a:solidFill>
          </a:ln>
        </p:spPr>
      </p:cxnSp>
      <p:sp>
        <p:nvSpPr>
          <p:cNvPr id="17" name="Oval 16"/>
          <p:cNvSpPr/>
          <p:nvPr/>
        </p:nvSpPr>
        <p:spPr>
          <a:xfrm>
            <a:off x="871423" y="3837736"/>
            <a:ext cx="131673" cy="131673"/>
          </a:xfrm>
          <a:prstGeom prst="ellipse">
            <a:avLst/>
          </a:prstGeom>
          <a:solidFill>
            <a:srgbClr val="655F56"/>
          </a:solidFill>
          <a:ln>
            <a:noFill/>
          </a:ln>
        </p:spPr>
        <p:txBody>
          <a:bodyPr rtlCol="0" anchor="ctr"/>
          <a:lstStyle/>
          <a:p>
            <a:pPr algn="ctr"/>
          </a:p>
        </p:txBody>
      </p:sp>
      <p:cxnSp>
        <p:nvCxnSpPr>
          <p:cNvPr id="18" name="Connector 17"/>
          <p:cNvCxnSpPr/>
          <p:nvPr/>
        </p:nvCxnSpPr>
        <p:spPr>
          <a:xfrm flipH="1">
            <a:off x="871423" y="3969410"/>
            <a:ext cx="24689" cy="82296"/>
          </a:xfrm>
          <a:prstGeom prst="line">
            <a:avLst/>
          </a:prstGeom>
          <a:ln w="21590">
            <a:solidFill>
              <a:srgbClr val="655F56"/>
            </a:solidFill>
          </a:ln>
        </p:spPr>
      </p:cxnSp>
      <p:cxnSp>
        <p:nvCxnSpPr>
          <p:cNvPr id="19" name="Connector 18"/>
          <p:cNvCxnSpPr/>
          <p:nvPr/>
        </p:nvCxnSpPr>
        <p:spPr>
          <a:xfrm>
            <a:off x="970178" y="3969410"/>
            <a:ext cx="24689" cy="82296"/>
          </a:xfrm>
          <a:prstGeom prst="line">
            <a:avLst/>
          </a:prstGeom>
          <a:ln w="21590">
            <a:solidFill>
              <a:srgbClr val="655F56"/>
            </a:solidFill>
          </a:ln>
        </p:spPr>
      </p:cxnSp>
      <p:sp>
        <p:nvSpPr>
          <p:cNvPr id="20" name="TextBox 19"/>
          <p:cNvSpPr txBox="1"/>
          <p:nvPr/>
        </p:nvSpPr>
        <p:spPr>
          <a:xfrm>
            <a:off x="1371600" y="3749039"/>
            <a:ext cx="3657600" cy="457200"/>
          </a:xfrm>
          <a:prstGeom prst="rect">
            <a:avLst/>
          </a:prstGeom>
          <a:noFill/>
        </p:spPr>
        <p:txBody>
          <a:bodyPr wrap="square" lIns="0" rIns="0" tIns="0" bIns="0">
            <a:spAutoFit/>
          </a:bodyPr>
          <a:lstStyle/>
          <a:p>
            <a:pPr>
              <a:spcAft>
                <a:spcPts val="600"/>
              </a:spcAft>
              <a:defRPr sz="2200" b="0">
                <a:solidFill>
                  <a:srgbClr val="171717"/>
                </a:solidFill>
                <a:latin typeface="Arial"/>
              </a:defRPr>
            </a:pPr>
            <a:r>
              <a:t>Certificates show awards</a:t>
            </a:r>
          </a:p>
        </p:txBody>
      </p:sp>
      <p:cxnSp>
        <p:nvCxnSpPr>
          <p:cNvPr id="21" name="Connector 20"/>
          <p:cNvCxnSpPr/>
          <p:nvPr/>
        </p:nvCxnSpPr>
        <p:spPr>
          <a:xfrm>
            <a:off x="764438" y="4722875"/>
            <a:ext cx="345643" cy="0"/>
          </a:xfrm>
          <a:prstGeom prst="line">
            <a:avLst/>
          </a:prstGeom>
          <a:ln w="21590">
            <a:solidFill>
              <a:srgbClr val="655F56"/>
            </a:solidFill>
          </a:ln>
        </p:spPr>
      </p:cxnSp>
      <p:cxnSp>
        <p:nvCxnSpPr>
          <p:cNvPr id="22" name="Connector 21"/>
          <p:cNvCxnSpPr/>
          <p:nvPr/>
        </p:nvCxnSpPr>
        <p:spPr>
          <a:xfrm>
            <a:off x="1110081" y="4722875"/>
            <a:ext cx="0" cy="238659"/>
          </a:xfrm>
          <a:prstGeom prst="line">
            <a:avLst/>
          </a:prstGeom>
          <a:ln w="21590">
            <a:solidFill>
              <a:srgbClr val="655F56"/>
            </a:solidFill>
          </a:ln>
        </p:spPr>
      </p:cxnSp>
      <p:cxnSp>
        <p:nvCxnSpPr>
          <p:cNvPr id="23" name="Connector 22"/>
          <p:cNvCxnSpPr/>
          <p:nvPr/>
        </p:nvCxnSpPr>
        <p:spPr>
          <a:xfrm flipH="1">
            <a:off x="764438" y="4961534"/>
            <a:ext cx="345643" cy="0"/>
          </a:xfrm>
          <a:prstGeom prst="line">
            <a:avLst/>
          </a:prstGeom>
          <a:ln w="21590">
            <a:solidFill>
              <a:srgbClr val="655F56"/>
            </a:solidFill>
          </a:ln>
        </p:spPr>
      </p:cxnSp>
      <p:cxnSp>
        <p:nvCxnSpPr>
          <p:cNvPr id="24" name="Connector 23"/>
          <p:cNvCxnSpPr/>
          <p:nvPr/>
        </p:nvCxnSpPr>
        <p:spPr>
          <a:xfrm flipV="1">
            <a:off x="764438" y="4722875"/>
            <a:ext cx="0" cy="238659"/>
          </a:xfrm>
          <a:prstGeom prst="line">
            <a:avLst/>
          </a:prstGeom>
          <a:ln w="21590">
            <a:solidFill>
              <a:srgbClr val="655F56"/>
            </a:solidFill>
          </a:ln>
        </p:spPr>
      </p:cxnSp>
      <p:cxnSp>
        <p:nvCxnSpPr>
          <p:cNvPr id="25" name="Connector 24"/>
          <p:cNvCxnSpPr/>
          <p:nvPr/>
        </p:nvCxnSpPr>
        <p:spPr>
          <a:xfrm flipV="1">
            <a:off x="863193" y="4652924"/>
            <a:ext cx="0" cy="69951"/>
          </a:xfrm>
          <a:prstGeom prst="line">
            <a:avLst/>
          </a:prstGeom>
          <a:ln w="21590">
            <a:solidFill>
              <a:srgbClr val="655F56"/>
            </a:solidFill>
          </a:ln>
        </p:spPr>
      </p:cxnSp>
      <p:cxnSp>
        <p:nvCxnSpPr>
          <p:cNvPr id="26" name="Connector 25"/>
          <p:cNvCxnSpPr/>
          <p:nvPr/>
        </p:nvCxnSpPr>
        <p:spPr>
          <a:xfrm>
            <a:off x="863193" y="4652924"/>
            <a:ext cx="148133" cy="0"/>
          </a:xfrm>
          <a:prstGeom prst="line">
            <a:avLst/>
          </a:prstGeom>
          <a:ln w="21590">
            <a:solidFill>
              <a:srgbClr val="655F56"/>
            </a:solidFill>
          </a:ln>
        </p:spPr>
      </p:cxnSp>
      <p:cxnSp>
        <p:nvCxnSpPr>
          <p:cNvPr id="27" name="Connector 26"/>
          <p:cNvCxnSpPr/>
          <p:nvPr/>
        </p:nvCxnSpPr>
        <p:spPr>
          <a:xfrm>
            <a:off x="1011326" y="4652924"/>
            <a:ext cx="0" cy="69951"/>
          </a:xfrm>
          <a:prstGeom prst="line">
            <a:avLst/>
          </a:prstGeom>
          <a:ln w="21590">
            <a:solidFill>
              <a:srgbClr val="655F56"/>
            </a:solidFill>
          </a:ln>
        </p:spPr>
      </p:cxnSp>
      <p:cxnSp>
        <p:nvCxnSpPr>
          <p:cNvPr id="28" name="Connector 27"/>
          <p:cNvCxnSpPr/>
          <p:nvPr/>
        </p:nvCxnSpPr>
        <p:spPr>
          <a:xfrm>
            <a:off x="764438" y="4813401"/>
            <a:ext cx="345643" cy="0"/>
          </a:xfrm>
          <a:prstGeom prst="line">
            <a:avLst/>
          </a:prstGeom>
          <a:ln w="21590">
            <a:solidFill>
              <a:srgbClr val="655F56"/>
            </a:solidFill>
          </a:ln>
        </p:spPr>
      </p:cxnSp>
      <p:sp>
        <p:nvSpPr>
          <p:cNvPr id="29" name="TextBox 28"/>
          <p:cNvSpPr txBox="1"/>
          <p:nvPr/>
        </p:nvSpPr>
        <p:spPr>
          <a:xfrm>
            <a:off x="1371600" y="4617720"/>
            <a:ext cx="3657600" cy="457200"/>
          </a:xfrm>
          <a:prstGeom prst="rect">
            <a:avLst/>
          </a:prstGeom>
          <a:noFill/>
        </p:spPr>
        <p:txBody>
          <a:bodyPr wrap="square" lIns="0" rIns="0" tIns="0" bIns="0">
            <a:spAutoFit/>
          </a:bodyPr>
          <a:lstStyle/>
          <a:p>
            <a:pPr>
              <a:spcAft>
                <a:spcPts val="600"/>
              </a:spcAft>
              <a:defRPr sz="2200" b="0">
                <a:solidFill>
                  <a:srgbClr val="171717"/>
                </a:solidFill>
                <a:latin typeface="Arial"/>
              </a:defRPr>
            </a:pPr>
            <a:r>
              <a:t>Work platforms hold jobs</a:t>
            </a:r>
          </a:p>
        </p:txBody>
      </p:sp>
      <p:sp>
        <p:nvSpPr>
          <p:cNvPr id="30" name="TextBox 29"/>
          <p:cNvSpPr txBox="1"/>
          <p:nvPr/>
        </p:nvSpPr>
        <p:spPr>
          <a:xfrm>
            <a:off x="5074920" y="3703320"/>
            <a:ext cx="640080" cy="640080"/>
          </a:xfrm>
          <a:prstGeom prst="rect">
            <a:avLst/>
          </a:prstGeom>
          <a:noFill/>
        </p:spPr>
        <p:txBody>
          <a:bodyPr wrap="square" lIns="0" rIns="0" tIns="0" bIns="0">
            <a:spAutoFit/>
          </a:bodyPr>
          <a:lstStyle/>
          <a:p>
            <a:pPr>
              <a:spcAft>
                <a:spcPts val="600"/>
              </a:spcAft>
              <a:defRPr sz="4200" b="0">
                <a:solidFill>
                  <a:srgbClr val="C6532C"/>
                </a:solidFill>
                <a:latin typeface="Arial"/>
              </a:defRPr>
            </a:pPr>
            <a:r>
              <a:t>→</a:t>
            </a:r>
          </a:p>
        </p:txBody>
      </p:sp>
      <p:sp>
        <p:nvSpPr>
          <p:cNvPr id="31" name="Rectangle 30"/>
          <p:cNvSpPr/>
          <p:nvPr/>
        </p:nvSpPr>
        <p:spPr>
          <a:xfrm>
            <a:off x="6080760" y="2240280"/>
            <a:ext cx="5440680" cy="3291840"/>
          </a:xfrm>
          <a:prstGeom prst="rect">
            <a:avLst/>
          </a:prstGeom>
          <a:solidFill>
            <a:srgbClr val="171717"/>
          </a:solidFill>
          <a:ln>
            <a:noFill/>
          </a:ln>
        </p:spPr>
        <p:txBody>
          <a:bodyPr rtlCol="0" anchor="ctr"/>
          <a:lstStyle/>
          <a:p>
            <a:pPr algn="ctr"/>
          </a:p>
        </p:txBody>
      </p:sp>
      <p:sp>
        <p:nvSpPr>
          <p:cNvPr id="32" name="TextBox 31"/>
          <p:cNvSpPr txBox="1"/>
          <p:nvPr/>
        </p:nvSpPr>
        <p:spPr>
          <a:xfrm>
            <a:off x="6355080" y="2514600"/>
            <a:ext cx="4846320" cy="320040"/>
          </a:xfrm>
          <a:prstGeom prst="rect">
            <a:avLst/>
          </a:prstGeom>
          <a:noFill/>
        </p:spPr>
        <p:txBody>
          <a:bodyPr wrap="square" lIns="0" rIns="0" tIns="0" bIns="0">
            <a:spAutoFit/>
          </a:bodyPr>
          <a:lstStyle/>
          <a:p>
            <a:pPr>
              <a:spcAft>
                <a:spcPts val="600"/>
              </a:spcAft>
              <a:defRPr sz="1300" b="1">
                <a:solidFill>
                  <a:srgbClr val="E9A58C"/>
                </a:solidFill>
                <a:latin typeface="Arial"/>
              </a:defRPr>
            </a:pPr>
            <a:r>
              <a:t>ONE CONNECTED RECORD</a:t>
            </a:r>
          </a:p>
        </p:txBody>
      </p:sp>
      <p:sp>
        <p:nvSpPr>
          <p:cNvPr id="33" name="TextBox 32"/>
          <p:cNvSpPr txBox="1"/>
          <p:nvPr/>
        </p:nvSpPr>
        <p:spPr>
          <a:xfrm>
            <a:off x="6355080" y="3063240"/>
            <a:ext cx="4754880" cy="1920240"/>
          </a:xfrm>
          <a:prstGeom prst="rect">
            <a:avLst/>
          </a:prstGeom>
          <a:noFill/>
        </p:spPr>
        <p:txBody>
          <a:bodyPr wrap="square" lIns="0" rIns="0" tIns="0" bIns="0">
            <a:spAutoFit/>
          </a:bodyPr>
          <a:lstStyle/>
          <a:p>
            <a:pPr>
              <a:spcAft>
                <a:spcPts val="600"/>
              </a:spcAft>
              <a:defRPr sz="2800" b="1">
                <a:solidFill>
                  <a:srgbClr val="F5F0E6"/>
                </a:solidFill>
                <a:latin typeface="Arial"/>
              </a:defRPr>
            </a:pPr>
            <a:r>
              <a:t>Skills + evidence</a:t>
            </a:r>
          </a:p>
          <a:p>
            <a:pPr>
              <a:spcAft>
                <a:spcPts val="600"/>
              </a:spcAft>
              <a:defRPr sz="2800" b="1">
                <a:solidFill>
                  <a:srgbClr val="F5F0E6"/>
                </a:solidFill>
                <a:latin typeface="Arial"/>
              </a:defRPr>
            </a:pPr>
            <a:r>
              <a:t>+ opportunities</a:t>
            </a:r>
          </a:p>
          <a:p>
            <a:pPr>
              <a:spcAft>
                <a:spcPts val="600"/>
              </a:spcAft>
              <a:defRPr sz="2800" b="1">
                <a:solidFill>
                  <a:srgbClr val="F5F0E6"/>
                </a:solidFill>
                <a:latin typeface="Arial"/>
              </a:defRPr>
            </a:pPr>
            <a:r>
              <a:t>+ completed work</a:t>
            </a:r>
          </a:p>
        </p:txBody>
      </p:sp>
      <p:cxnSp>
        <p:nvCxnSpPr>
          <p:cNvPr id="34" name="Connector 33"/>
          <p:cNvCxnSpPr/>
          <p:nvPr/>
        </p:nvCxnSpPr>
        <p:spPr>
          <a:xfrm>
            <a:off x="777240" y="5989320"/>
            <a:ext cx="10149840" cy="0"/>
          </a:xfrm>
          <a:prstGeom prst="line">
            <a:avLst/>
          </a:prstGeom>
          <a:ln w="25400">
            <a:solidFill>
              <a:srgbClr val="171717"/>
            </a:solidFill>
          </a:ln>
        </p:spPr>
      </p:cxnSp>
      <p:sp>
        <p:nvSpPr>
          <p:cNvPr id="35" name="Oval 34"/>
          <p:cNvSpPr/>
          <p:nvPr/>
        </p:nvSpPr>
        <p:spPr>
          <a:xfrm>
            <a:off x="713232" y="5925312"/>
            <a:ext cx="128016" cy="128016"/>
          </a:xfrm>
          <a:prstGeom prst="ellipse">
            <a:avLst/>
          </a:prstGeom>
          <a:solidFill>
            <a:srgbClr val="C6532C"/>
          </a:solidFill>
          <a:ln>
            <a:noFill/>
          </a:ln>
        </p:spPr>
        <p:txBody>
          <a:bodyPr rtlCol="0" anchor="ctr"/>
          <a:lstStyle/>
          <a:p>
            <a:pPr algn="ctr"/>
          </a:p>
        </p:txBody>
      </p:sp>
      <p:sp>
        <p:nvSpPr>
          <p:cNvPr id="36" name="TextBox 35"/>
          <p:cNvSpPr txBox="1"/>
          <p:nvPr/>
        </p:nvSpPr>
        <p:spPr>
          <a:xfrm>
            <a:off x="777240" y="6236208"/>
            <a:ext cx="2377440" cy="594360"/>
          </a:xfrm>
          <a:prstGeom prst="rect">
            <a:avLst/>
          </a:prstGeom>
          <a:noFill/>
        </p:spPr>
        <p:txBody>
          <a:bodyPr wrap="square" lIns="0" rIns="0" tIns="0" bIns="0">
            <a:spAutoFit/>
          </a:bodyPr>
          <a:lstStyle/>
          <a:p>
            <a:pPr>
              <a:spcAft>
                <a:spcPts val="600"/>
              </a:spcAft>
              <a:defRPr sz="1700" b="0">
                <a:solidFill>
                  <a:srgbClr val="171717"/>
                </a:solidFill>
                <a:latin typeface="Arial"/>
              </a:defRPr>
            </a:pPr>
            <a:r>
              <a:t>First project</a:t>
            </a:r>
          </a:p>
        </p:txBody>
      </p:sp>
      <p:sp>
        <p:nvSpPr>
          <p:cNvPr id="37" name="Oval 36"/>
          <p:cNvSpPr/>
          <p:nvPr/>
        </p:nvSpPr>
        <p:spPr>
          <a:xfrm>
            <a:off x="3502152" y="5925312"/>
            <a:ext cx="128016" cy="128016"/>
          </a:xfrm>
          <a:prstGeom prst="ellipse">
            <a:avLst/>
          </a:prstGeom>
          <a:solidFill>
            <a:srgbClr val="C6532C"/>
          </a:solidFill>
          <a:ln>
            <a:noFill/>
          </a:ln>
        </p:spPr>
        <p:txBody>
          <a:bodyPr rtlCol="0" anchor="ctr"/>
          <a:lstStyle/>
          <a:p>
            <a:pPr algn="ctr"/>
          </a:p>
        </p:txBody>
      </p:sp>
      <p:sp>
        <p:nvSpPr>
          <p:cNvPr id="38" name="TextBox 37"/>
          <p:cNvSpPr txBox="1"/>
          <p:nvPr/>
        </p:nvSpPr>
        <p:spPr>
          <a:xfrm>
            <a:off x="3566160" y="6236208"/>
            <a:ext cx="2377440" cy="594360"/>
          </a:xfrm>
          <a:prstGeom prst="rect">
            <a:avLst/>
          </a:prstGeom>
          <a:noFill/>
        </p:spPr>
        <p:txBody>
          <a:bodyPr wrap="square" lIns="0" rIns="0" tIns="0" bIns="0">
            <a:spAutoFit/>
          </a:bodyPr>
          <a:lstStyle/>
          <a:p>
            <a:pPr>
              <a:spcAft>
                <a:spcPts val="600"/>
              </a:spcAft>
              <a:defRPr sz="1700" b="0">
                <a:solidFill>
                  <a:srgbClr val="171717"/>
                </a:solidFill>
                <a:latin typeface="Arial"/>
              </a:defRPr>
            </a:pPr>
            <a:r>
              <a:t>First credential</a:t>
            </a:r>
          </a:p>
        </p:txBody>
      </p:sp>
      <p:sp>
        <p:nvSpPr>
          <p:cNvPr id="39" name="Oval 38"/>
          <p:cNvSpPr/>
          <p:nvPr/>
        </p:nvSpPr>
        <p:spPr>
          <a:xfrm>
            <a:off x="6291071" y="5925312"/>
            <a:ext cx="128016" cy="128016"/>
          </a:xfrm>
          <a:prstGeom prst="ellipse">
            <a:avLst/>
          </a:prstGeom>
          <a:solidFill>
            <a:srgbClr val="C6532C"/>
          </a:solidFill>
          <a:ln>
            <a:noFill/>
          </a:ln>
        </p:spPr>
        <p:txBody>
          <a:bodyPr rtlCol="0" anchor="ctr"/>
          <a:lstStyle/>
          <a:p>
            <a:pPr algn="ctr"/>
          </a:p>
        </p:txBody>
      </p:sp>
      <p:sp>
        <p:nvSpPr>
          <p:cNvPr id="40" name="TextBox 39"/>
          <p:cNvSpPr txBox="1"/>
          <p:nvPr/>
        </p:nvSpPr>
        <p:spPr>
          <a:xfrm>
            <a:off x="6355079" y="6236208"/>
            <a:ext cx="2377440" cy="594360"/>
          </a:xfrm>
          <a:prstGeom prst="rect">
            <a:avLst/>
          </a:prstGeom>
          <a:noFill/>
        </p:spPr>
        <p:txBody>
          <a:bodyPr wrap="square" lIns="0" rIns="0" tIns="0" bIns="0">
            <a:spAutoFit/>
          </a:bodyPr>
          <a:lstStyle/>
          <a:p>
            <a:pPr>
              <a:spcAft>
                <a:spcPts val="600"/>
              </a:spcAft>
              <a:defRPr sz="1700" b="0">
                <a:solidFill>
                  <a:srgbClr val="171717"/>
                </a:solidFill>
                <a:latin typeface="Arial"/>
              </a:defRPr>
            </a:pPr>
            <a:r>
              <a:t>Next opportunity</a:t>
            </a:r>
          </a:p>
        </p:txBody>
      </p:sp>
      <p:sp>
        <p:nvSpPr>
          <p:cNvPr id="41" name="Oval 40"/>
          <p:cNvSpPr/>
          <p:nvPr/>
        </p:nvSpPr>
        <p:spPr>
          <a:xfrm>
            <a:off x="9079991" y="5925312"/>
            <a:ext cx="128016" cy="128016"/>
          </a:xfrm>
          <a:prstGeom prst="ellipse">
            <a:avLst/>
          </a:prstGeom>
          <a:solidFill>
            <a:srgbClr val="C6532C"/>
          </a:solidFill>
          <a:ln>
            <a:noFill/>
          </a:ln>
        </p:spPr>
        <p:txBody>
          <a:bodyPr rtlCol="0" anchor="ctr"/>
          <a:lstStyle/>
          <a:p>
            <a:pPr algn="ctr"/>
          </a:p>
        </p:txBody>
      </p:sp>
      <p:sp>
        <p:nvSpPr>
          <p:cNvPr id="42" name="TextBox 41"/>
          <p:cNvSpPr txBox="1"/>
          <p:nvPr/>
        </p:nvSpPr>
        <p:spPr>
          <a:xfrm>
            <a:off x="9143999" y="6236208"/>
            <a:ext cx="2377440" cy="594360"/>
          </a:xfrm>
          <a:prstGeom prst="rect">
            <a:avLst/>
          </a:prstGeom>
          <a:noFill/>
        </p:spPr>
        <p:txBody>
          <a:bodyPr wrap="square" lIns="0" rIns="0" tIns="0" bIns="0">
            <a:spAutoFit/>
          </a:bodyPr>
          <a:lstStyle/>
          <a:p>
            <a:pPr>
              <a:spcAft>
                <a:spcPts val="600"/>
              </a:spcAft>
              <a:defRPr sz="1700" b="1">
                <a:solidFill>
                  <a:srgbClr val="171717"/>
                </a:solidFill>
                <a:latin typeface="Arial"/>
              </a:defRPr>
            </a:pPr>
            <a:r>
              <a:t>Stronger reputation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11292840" y="6428232"/>
            <a:ext cx="411480" cy="228600"/>
          </a:xfrm>
          <a:prstGeom prst="rect">
            <a:avLst/>
          </a:prstGeom>
          <a:noFill/>
        </p:spPr>
        <p:txBody>
          <a:bodyPr wrap="square" lIns="0" rIns="0" tIns="0" bIns="0">
            <a:spAutoFit/>
          </a:bodyPr>
          <a:lstStyle/>
          <a:p>
            <a:pPr>
              <a:spcAft>
                <a:spcPts val="600"/>
              </a:spcAft>
              <a:defRPr sz="1000" b="0">
                <a:solidFill>
                  <a:srgbClr val="655F56"/>
                </a:solidFill>
                <a:latin typeface="Arial"/>
              </a:defRPr>
            </a:pPr>
            <a:r>
              <a:t>07</a:t>
            </a:r>
          </a:p>
        </p:txBody>
      </p:sp>
      <p:sp>
        <p:nvSpPr>
          <p:cNvPr id="3" name="TextBox 2"/>
          <p:cNvSpPr txBox="1"/>
          <p:nvPr/>
        </p:nvSpPr>
        <p:spPr>
          <a:xfrm>
            <a:off x="594360" y="411480"/>
            <a:ext cx="7132320" cy="1325880"/>
          </a:xfrm>
          <a:prstGeom prst="rect">
            <a:avLst/>
          </a:prstGeom>
          <a:noFill/>
        </p:spPr>
        <p:txBody>
          <a:bodyPr wrap="square" lIns="0" rIns="0" tIns="0" bIns="0">
            <a:spAutoFit/>
          </a:bodyPr>
          <a:lstStyle/>
          <a:p>
            <a:pPr>
              <a:spcAft>
                <a:spcPts val="600"/>
              </a:spcAft>
              <a:defRPr sz="4300" b="1">
                <a:solidFill>
                  <a:srgbClr val="171717"/>
                </a:solidFill>
                <a:latin typeface="Arial"/>
              </a:defRPr>
            </a:pPr>
            <a:r>
              <a:t>A working MVP.</a:t>
            </a:r>
          </a:p>
          <a:p>
            <a:pPr>
              <a:spcAft>
                <a:spcPts val="600"/>
              </a:spcAft>
              <a:defRPr sz="4300" b="1">
                <a:solidFill>
                  <a:srgbClr val="171717"/>
                </a:solidFill>
                <a:latin typeface="Arial"/>
              </a:defRPr>
            </a:pPr>
            <a:r>
              <a:t>A full product journey.</a:t>
            </a:r>
          </a:p>
        </p:txBody>
      </p:sp>
      <p:sp>
        <p:nvSpPr>
          <p:cNvPr id="4" name="Rounded Rectangle 3"/>
          <p:cNvSpPr/>
          <p:nvPr/>
        </p:nvSpPr>
        <p:spPr>
          <a:xfrm>
            <a:off x="8458200" y="694944"/>
            <a:ext cx="2971800" cy="393192"/>
          </a:xfrm>
          <a:prstGeom prst="roundRect">
            <a:avLst>
              <a:gd name="adj" fmla="val 8000"/>
            </a:avLst>
          </a:prstGeom>
          <a:solidFill>
            <a:srgbClr val="E7DECF"/>
          </a:solidFill>
          <a:ln>
            <a:noFill/>
          </a:ln>
        </p:spPr>
        <p:txBody>
          <a:bodyPr rtlCol="0" anchor="ctr"/>
          <a:lstStyle/>
          <a:p>
            <a:pPr algn="ctr"/>
          </a:p>
        </p:txBody>
      </p:sp>
      <p:sp>
        <p:nvSpPr>
          <p:cNvPr id="5" name="TextBox 4"/>
          <p:cNvSpPr txBox="1"/>
          <p:nvPr/>
        </p:nvSpPr>
        <p:spPr>
          <a:xfrm>
            <a:off x="8567928" y="772668"/>
            <a:ext cx="2752344" cy="228600"/>
          </a:xfrm>
          <a:prstGeom prst="rect">
            <a:avLst/>
          </a:prstGeom>
          <a:noFill/>
        </p:spPr>
        <p:txBody>
          <a:bodyPr wrap="square" lIns="0" rIns="0" tIns="0" bIns="0">
            <a:spAutoFit/>
          </a:bodyPr>
          <a:lstStyle/>
          <a:p>
            <a:pPr>
              <a:spcAft>
                <a:spcPts val="600"/>
              </a:spcAft>
              <a:defRPr sz="1200" b="1">
                <a:solidFill>
                  <a:srgbClr val="171717"/>
                </a:solidFill>
                <a:latin typeface="Arial"/>
              </a:defRPr>
            </a:pPr>
            <a:r>
              <a:t>IMPLEMENTED IN CODE</a:t>
            </a:r>
          </a:p>
        </p:txBody>
      </p:sp>
      <p:sp>
        <p:nvSpPr>
          <p:cNvPr id="6" name="Rounded Rectangle 5"/>
          <p:cNvSpPr/>
          <p:nvPr/>
        </p:nvSpPr>
        <p:spPr>
          <a:xfrm>
            <a:off x="585215" y="1883664"/>
            <a:ext cx="7287768" cy="4453128"/>
          </a:xfrm>
          <a:prstGeom prst="roundRect">
            <a:avLst>
              <a:gd name="adj" fmla="val 8000"/>
            </a:avLst>
          </a:prstGeom>
          <a:solidFill>
            <a:srgbClr val="FFFCF6"/>
          </a:solidFill>
          <a:ln>
            <a:noFill/>
          </a:ln>
        </p:spPr>
        <p:txBody>
          <a:bodyPr rtlCol="0" anchor="ctr"/>
          <a:lstStyle/>
          <a:p>
            <a:pPr algn="ctr"/>
          </a:p>
        </p:txBody>
      </p:sp>
      <p:pic>
        <p:nvPicPr>
          <p:cNvPr id="7" name="Picture 6" descr="improved-passport.png"/>
          <p:cNvPicPr>
            <a:picLocks noChangeAspect="1"/>
          </p:cNvPicPr>
          <p:nvPr/>
        </p:nvPicPr>
        <p:blipFill>
          <a:blip r:embed="rId2"/>
          <a:stretch>
            <a:fillRect/>
          </a:stretch>
        </p:blipFill>
        <p:spPr>
          <a:xfrm>
            <a:off x="640080" y="2025057"/>
            <a:ext cx="7178040" cy="4170340"/>
          </a:xfrm>
          <a:prstGeom prst="rect">
            <a:avLst/>
          </a:prstGeom>
        </p:spPr>
      </p:pic>
      <p:sp>
        <p:nvSpPr>
          <p:cNvPr id="8" name="TextBox 7"/>
          <p:cNvSpPr txBox="1"/>
          <p:nvPr/>
        </p:nvSpPr>
        <p:spPr>
          <a:xfrm>
            <a:off x="658368" y="6391656"/>
            <a:ext cx="5486400" cy="320040"/>
          </a:xfrm>
          <a:prstGeom prst="rect">
            <a:avLst/>
          </a:prstGeom>
          <a:noFill/>
        </p:spPr>
        <p:txBody>
          <a:bodyPr wrap="square" lIns="0" rIns="0" tIns="0" bIns="0">
            <a:spAutoFit/>
          </a:bodyPr>
          <a:lstStyle/>
          <a:p>
            <a:pPr>
              <a:spcAft>
                <a:spcPts val="600"/>
              </a:spcAft>
              <a:defRPr sz="1800" b="1">
                <a:solidFill>
                  <a:srgbClr val="171717"/>
                </a:solidFill>
                <a:latin typeface="Arial"/>
              </a:defRPr>
            </a:pPr>
            <a:r>
              <a:t>Skill Passport</a:t>
            </a:r>
          </a:p>
        </p:txBody>
      </p:sp>
      <p:sp>
        <p:nvSpPr>
          <p:cNvPr id="9" name="Rounded Rectangle 8"/>
          <p:cNvSpPr/>
          <p:nvPr/>
        </p:nvSpPr>
        <p:spPr>
          <a:xfrm>
            <a:off x="8156448" y="1911095"/>
            <a:ext cx="3401568" cy="1792224"/>
          </a:xfrm>
          <a:prstGeom prst="roundRect">
            <a:avLst>
              <a:gd name="adj" fmla="val 8000"/>
            </a:avLst>
          </a:prstGeom>
          <a:solidFill>
            <a:srgbClr val="FFFCF6"/>
          </a:solidFill>
          <a:ln>
            <a:noFill/>
          </a:ln>
        </p:spPr>
        <p:txBody>
          <a:bodyPr rtlCol="0" anchor="ctr"/>
          <a:lstStyle/>
          <a:p>
            <a:pPr algn="ctr"/>
          </a:p>
        </p:txBody>
      </p:sp>
      <p:pic>
        <p:nvPicPr>
          <p:cNvPr id="10" name="Picture 9" descr="credential-focus.png"/>
          <p:cNvPicPr>
            <a:picLocks noChangeAspect="1"/>
          </p:cNvPicPr>
          <p:nvPr/>
        </p:nvPicPr>
        <p:blipFill>
          <a:blip r:embed="rId3"/>
          <a:stretch>
            <a:fillRect/>
          </a:stretch>
        </p:blipFill>
        <p:spPr>
          <a:xfrm>
            <a:off x="8486985" y="1965960"/>
            <a:ext cx="2740492" cy="1682496"/>
          </a:xfrm>
          <a:prstGeom prst="rect">
            <a:avLst/>
          </a:prstGeom>
        </p:spPr>
      </p:pic>
      <p:sp>
        <p:nvSpPr>
          <p:cNvPr id="11" name="TextBox 10"/>
          <p:cNvSpPr txBox="1"/>
          <p:nvPr/>
        </p:nvSpPr>
        <p:spPr>
          <a:xfrm>
            <a:off x="8211312" y="3758184"/>
            <a:ext cx="3474720" cy="320040"/>
          </a:xfrm>
          <a:prstGeom prst="rect">
            <a:avLst/>
          </a:prstGeom>
          <a:noFill/>
        </p:spPr>
        <p:txBody>
          <a:bodyPr wrap="square" lIns="0" rIns="0" tIns="0" bIns="0">
            <a:spAutoFit/>
          </a:bodyPr>
          <a:lstStyle/>
          <a:p>
            <a:pPr>
              <a:spcAft>
                <a:spcPts val="600"/>
              </a:spcAft>
              <a:defRPr sz="1600" b="1">
                <a:solidFill>
                  <a:srgbClr val="171717"/>
                </a:solidFill>
                <a:latin typeface="Arial"/>
              </a:defRPr>
            </a:pPr>
            <a:r>
              <a:t>Credential presentation</a:t>
            </a:r>
          </a:p>
        </p:txBody>
      </p:sp>
      <p:sp>
        <p:nvSpPr>
          <p:cNvPr id="12" name="Rounded Rectangle 11"/>
          <p:cNvSpPr/>
          <p:nvPr/>
        </p:nvSpPr>
        <p:spPr>
          <a:xfrm>
            <a:off x="8156448" y="4233672"/>
            <a:ext cx="3401568" cy="1810512"/>
          </a:xfrm>
          <a:prstGeom prst="roundRect">
            <a:avLst>
              <a:gd name="adj" fmla="val 8000"/>
            </a:avLst>
          </a:prstGeom>
          <a:solidFill>
            <a:srgbClr val="FFFCF6"/>
          </a:solidFill>
          <a:ln>
            <a:noFill/>
          </a:ln>
        </p:spPr>
        <p:txBody>
          <a:bodyPr rtlCol="0" anchor="ctr"/>
          <a:lstStyle/>
          <a:p>
            <a:pPr algn="ctr"/>
          </a:p>
        </p:txBody>
      </p:sp>
      <p:pic>
        <p:nvPicPr>
          <p:cNvPr id="13" name="Picture 12" descr="improved-project.png"/>
          <p:cNvPicPr>
            <a:picLocks noChangeAspect="1"/>
          </p:cNvPicPr>
          <p:nvPr/>
        </p:nvPicPr>
        <p:blipFill>
          <a:blip r:embed="rId4"/>
          <a:stretch>
            <a:fillRect/>
          </a:stretch>
        </p:blipFill>
        <p:spPr>
          <a:xfrm>
            <a:off x="8850934" y="4288536"/>
            <a:ext cx="2012594" cy="1700784"/>
          </a:xfrm>
          <a:prstGeom prst="rect">
            <a:avLst/>
          </a:prstGeom>
        </p:spPr>
      </p:pic>
      <p:sp>
        <p:nvSpPr>
          <p:cNvPr id="14" name="TextBox 13"/>
          <p:cNvSpPr txBox="1"/>
          <p:nvPr/>
        </p:nvSpPr>
        <p:spPr>
          <a:xfrm>
            <a:off x="8211312" y="6126480"/>
            <a:ext cx="3566160" cy="320040"/>
          </a:xfrm>
          <a:prstGeom prst="rect">
            <a:avLst/>
          </a:prstGeom>
          <a:noFill/>
        </p:spPr>
        <p:txBody>
          <a:bodyPr wrap="square" lIns="0" rIns="0" tIns="0" bIns="0">
            <a:spAutoFit/>
          </a:bodyPr>
          <a:lstStyle/>
          <a:p>
            <a:pPr>
              <a:spcAft>
                <a:spcPts val="600"/>
              </a:spcAft>
              <a:defRPr sz="1600" b="1">
                <a:solidFill>
                  <a:srgbClr val="171717"/>
                </a:solidFill>
                <a:latin typeface="Arial"/>
              </a:defRPr>
            </a:pPr>
            <a:r>
              <a:t>Paid-project milestones</a:t>
            </a:r>
          </a:p>
        </p:txBody>
      </p:sp>
      <p:sp>
        <p:nvSpPr>
          <p:cNvPr id="15" name="TextBox 14"/>
          <p:cNvSpPr txBox="1"/>
          <p:nvPr/>
        </p:nvSpPr>
        <p:spPr>
          <a:xfrm>
            <a:off x="8211312" y="6510528"/>
            <a:ext cx="3566160" cy="228600"/>
          </a:xfrm>
          <a:prstGeom prst="rect">
            <a:avLst/>
          </a:prstGeom>
          <a:noFill/>
        </p:spPr>
        <p:txBody>
          <a:bodyPr wrap="square" lIns="0" rIns="0" tIns="0" bIns="0">
            <a:spAutoFit/>
          </a:bodyPr>
          <a:lstStyle/>
          <a:p>
            <a:pPr>
              <a:spcAft>
                <a:spcPts val="600"/>
              </a:spcAft>
              <a:defRPr sz="1100" b="0">
                <a:solidFill>
                  <a:srgbClr val="655F56"/>
                </a:solidFill>
                <a:latin typeface="Arial"/>
              </a:defRPr>
            </a:pPr>
            <a:r>
              <a:t>Demo / offline fixture captures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11292840" y="6428232"/>
            <a:ext cx="411480" cy="228600"/>
          </a:xfrm>
          <a:prstGeom prst="rect">
            <a:avLst/>
          </a:prstGeom>
          <a:noFill/>
        </p:spPr>
        <p:txBody>
          <a:bodyPr wrap="square" lIns="0" rIns="0" tIns="0" bIns="0">
            <a:spAutoFit/>
          </a:bodyPr>
          <a:lstStyle/>
          <a:p>
            <a:pPr>
              <a:spcAft>
                <a:spcPts val="600"/>
              </a:spcAft>
              <a:defRPr sz="1000" b="0">
                <a:solidFill>
                  <a:srgbClr val="655F56"/>
                </a:solidFill>
                <a:latin typeface="Arial"/>
              </a:defRPr>
            </a:pPr>
            <a:r>
              <a:t>08</a:t>
            </a:r>
          </a:p>
        </p:txBody>
      </p:sp>
      <p:sp>
        <p:nvSpPr>
          <p:cNvPr id="3" name="TextBox 2"/>
          <p:cNvSpPr txBox="1"/>
          <p:nvPr/>
        </p:nvSpPr>
        <p:spPr>
          <a:xfrm>
            <a:off x="594360" y="502920"/>
            <a:ext cx="10972800" cy="1417320"/>
          </a:xfrm>
          <a:prstGeom prst="rect">
            <a:avLst/>
          </a:prstGeom>
          <a:noFill/>
        </p:spPr>
        <p:txBody>
          <a:bodyPr wrap="square" lIns="0" rIns="0" tIns="0" bIns="0">
            <a:spAutoFit/>
          </a:bodyPr>
          <a:lstStyle/>
          <a:p>
            <a:pPr>
              <a:spcAft>
                <a:spcPts val="600"/>
              </a:spcAft>
              <a:defRPr sz="4000" b="1">
                <a:solidFill>
                  <a:srgbClr val="171717"/>
                </a:solidFill>
                <a:latin typeface="Arial"/>
              </a:defRPr>
            </a:pPr>
            <a:r>
              <a:t>Pakistan is our starting point.</a:t>
            </a:r>
          </a:p>
          <a:p>
            <a:pPr>
              <a:spcAft>
                <a:spcPts val="600"/>
              </a:spcAft>
              <a:defRPr sz="4000" b="1">
                <a:solidFill>
                  <a:srgbClr val="171717"/>
                </a:solidFill>
                <a:latin typeface="Arial"/>
              </a:defRPr>
            </a:pPr>
            <a:r>
              <a:t>Practical work is the common ground.</a:t>
            </a:r>
          </a:p>
        </p:txBody>
      </p:sp>
      <p:sp>
        <p:nvSpPr>
          <p:cNvPr id="4" name="Rectangle 3"/>
          <p:cNvSpPr/>
          <p:nvPr/>
        </p:nvSpPr>
        <p:spPr>
          <a:xfrm>
            <a:off x="640080" y="2377440"/>
            <a:ext cx="3657600" cy="3566160"/>
          </a:xfrm>
          <a:prstGeom prst="rect">
            <a:avLst/>
          </a:prstGeom>
          <a:solidFill>
            <a:srgbClr val="171717"/>
          </a:solidFill>
          <a:ln>
            <a:noFill/>
          </a:ln>
        </p:spPr>
        <p:txBody>
          <a:bodyPr rtlCol="0" anchor="ctr"/>
          <a:lstStyle/>
          <a:p>
            <a:pPr algn="ctr"/>
          </a:p>
        </p:txBody>
      </p:sp>
      <p:sp>
        <p:nvSpPr>
          <p:cNvPr id="5" name="TextBox 4"/>
          <p:cNvSpPr txBox="1"/>
          <p:nvPr/>
        </p:nvSpPr>
        <p:spPr>
          <a:xfrm>
            <a:off x="914400" y="2788920"/>
            <a:ext cx="3154680" cy="1645920"/>
          </a:xfrm>
          <a:prstGeom prst="rect">
            <a:avLst/>
          </a:prstGeom>
          <a:noFill/>
        </p:spPr>
        <p:txBody>
          <a:bodyPr wrap="square" lIns="0" rIns="0" tIns="0" bIns="0">
            <a:spAutoFit/>
          </a:bodyPr>
          <a:lstStyle/>
          <a:p>
            <a:pPr>
              <a:spcAft>
                <a:spcPts val="600"/>
              </a:spcAft>
              <a:defRPr sz="3000" b="1">
                <a:solidFill>
                  <a:srgbClr val="F5F0E6"/>
                </a:solidFill>
                <a:latin typeface="Arial"/>
              </a:defRPr>
            </a:pPr>
            <a:r>
              <a:t>Start with a</a:t>
            </a:r>
          </a:p>
          <a:p>
            <a:pPr>
              <a:spcAft>
                <a:spcPts val="600"/>
              </a:spcAft>
              <a:defRPr sz="3000" b="1">
                <a:solidFill>
                  <a:srgbClr val="F5F0E6"/>
                </a:solidFill>
                <a:latin typeface="Arial"/>
              </a:defRPr>
            </a:pPr>
            <a:r>
              <a:t>professional</a:t>
            </a:r>
          </a:p>
          <a:p>
            <a:pPr>
              <a:spcAft>
                <a:spcPts val="600"/>
              </a:spcAft>
              <a:defRPr sz="3000" b="1">
                <a:solidFill>
                  <a:srgbClr val="F5F0E6"/>
                </a:solidFill>
                <a:latin typeface="Arial"/>
              </a:defRPr>
            </a:pPr>
            <a:r>
              <a:t>record.</a:t>
            </a:r>
          </a:p>
        </p:txBody>
      </p:sp>
      <p:sp>
        <p:nvSpPr>
          <p:cNvPr id="6" name="TextBox 5"/>
          <p:cNvSpPr txBox="1"/>
          <p:nvPr/>
        </p:nvSpPr>
        <p:spPr>
          <a:xfrm>
            <a:off x="914400" y="5029200"/>
            <a:ext cx="3108960" cy="731520"/>
          </a:xfrm>
          <a:prstGeom prst="rect">
            <a:avLst/>
          </a:prstGeom>
          <a:noFill/>
        </p:spPr>
        <p:txBody>
          <a:bodyPr wrap="square" lIns="0" rIns="0" tIns="0" bIns="0">
            <a:spAutoFit/>
          </a:bodyPr>
          <a:lstStyle/>
          <a:p>
            <a:pPr>
              <a:spcAft>
                <a:spcPts val="600"/>
              </a:spcAft>
              <a:defRPr sz="1900" b="0">
                <a:solidFill>
                  <a:srgbClr val="F5F0E6"/>
                </a:solidFill>
                <a:latin typeface="Arial"/>
              </a:defRPr>
            </a:pPr>
            <a:r>
              <a:t>Learn in focused local pilots</a:t>
            </a:r>
          </a:p>
          <a:p>
            <a:pPr>
              <a:spcAft>
                <a:spcPts val="600"/>
              </a:spcAft>
              <a:defRPr sz="1900" b="0">
                <a:solidFill>
                  <a:srgbClr val="F5F0E6"/>
                </a:solidFill>
                <a:latin typeface="Arial"/>
              </a:defRPr>
            </a:pPr>
            <a:r>
              <a:t>before expanding.</a:t>
            </a:r>
          </a:p>
        </p:txBody>
      </p:sp>
      <p:sp>
        <p:nvSpPr>
          <p:cNvPr id="7" name="Oval 6"/>
          <p:cNvSpPr/>
          <p:nvPr/>
        </p:nvSpPr>
        <p:spPr>
          <a:xfrm>
            <a:off x="5088636" y="2537460"/>
            <a:ext cx="146304" cy="146304"/>
          </a:xfrm>
          <a:prstGeom prst="ellipse">
            <a:avLst/>
          </a:prstGeom>
          <a:solidFill>
            <a:srgbClr val="C6532C"/>
          </a:solidFill>
          <a:ln>
            <a:noFill/>
          </a:ln>
        </p:spPr>
        <p:txBody>
          <a:bodyPr rtlCol="0" anchor="ctr"/>
          <a:lstStyle/>
          <a:p>
            <a:pPr algn="ctr"/>
          </a:p>
        </p:txBody>
      </p:sp>
      <p:cxnSp>
        <p:nvCxnSpPr>
          <p:cNvPr id="8" name="Connector 7"/>
          <p:cNvCxnSpPr/>
          <p:nvPr/>
        </p:nvCxnSpPr>
        <p:spPr>
          <a:xfrm flipV="1">
            <a:off x="5020056" y="2788920"/>
            <a:ext cx="0" cy="109728"/>
          </a:xfrm>
          <a:prstGeom prst="line">
            <a:avLst/>
          </a:prstGeom>
          <a:ln w="21590">
            <a:solidFill>
              <a:srgbClr val="C6532C"/>
            </a:solidFill>
          </a:ln>
        </p:spPr>
      </p:cxnSp>
      <p:cxnSp>
        <p:nvCxnSpPr>
          <p:cNvPr id="9" name="Connector 8"/>
          <p:cNvCxnSpPr/>
          <p:nvPr/>
        </p:nvCxnSpPr>
        <p:spPr>
          <a:xfrm>
            <a:off x="5020056" y="2788920"/>
            <a:ext cx="283464" cy="0"/>
          </a:xfrm>
          <a:prstGeom prst="line">
            <a:avLst/>
          </a:prstGeom>
          <a:ln w="21590">
            <a:solidFill>
              <a:srgbClr val="C6532C"/>
            </a:solidFill>
          </a:ln>
        </p:spPr>
      </p:cxnSp>
      <p:cxnSp>
        <p:nvCxnSpPr>
          <p:cNvPr id="10" name="Connector 9"/>
          <p:cNvCxnSpPr/>
          <p:nvPr/>
        </p:nvCxnSpPr>
        <p:spPr>
          <a:xfrm>
            <a:off x="5303520" y="2788920"/>
            <a:ext cx="0" cy="109728"/>
          </a:xfrm>
          <a:prstGeom prst="line">
            <a:avLst/>
          </a:prstGeom>
          <a:ln w="21590">
            <a:solidFill>
              <a:srgbClr val="C6532C"/>
            </a:solidFill>
          </a:ln>
        </p:spPr>
      </p:cxnSp>
      <p:sp>
        <p:nvSpPr>
          <p:cNvPr id="11" name="TextBox 10"/>
          <p:cNvSpPr txBox="1"/>
          <p:nvPr/>
        </p:nvSpPr>
        <p:spPr>
          <a:xfrm>
            <a:off x="4937760" y="3172968"/>
            <a:ext cx="3246120" cy="594360"/>
          </a:xfrm>
          <a:prstGeom prst="rect">
            <a:avLst/>
          </a:prstGeom>
          <a:noFill/>
        </p:spPr>
        <p:txBody>
          <a:bodyPr wrap="square" lIns="0" rIns="0" tIns="0" bIns="0">
            <a:spAutoFit/>
          </a:bodyPr>
          <a:lstStyle/>
          <a:p>
            <a:pPr>
              <a:spcAft>
                <a:spcPts val="600"/>
              </a:spcAft>
              <a:defRPr sz="2200" b="1">
                <a:solidFill>
                  <a:srgbClr val="171717"/>
                </a:solidFill>
                <a:latin typeface="Arial"/>
              </a:defRPr>
            </a:pPr>
            <a:r>
              <a:t>Students &amp; graduates</a:t>
            </a:r>
          </a:p>
        </p:txBody>
      </p:sp>
      <p:sp>
        <p:nvSpPr>
          <p:cNvPr id="12" name="TextBox 11"/>
          <p:cNvSpPr txBox="1"/>
          <p:nvPr/>
        </p:nvSpPr>
        <p:spPr>
          <a:xfrm>
            <a:off x="4937760" y="3886200"/>
            <a:ext cx="3246120" cy="457200"/>
          </a:xfrm>
          <a:prstGeom prst="rect">
            <a:avLst/>
          </a:prstGeom>
          <a:noFill/>
        </p:spPr>
        <p:txBody>
          <a:bodyPr wrap="square" lIns="0" rIns="0" tIns="0" bIns="0">
            <a:spAutoFit/>
          </a:bodyPr>
          <a:lstStyle/>
          <a:p>
            <a:pPr>
              <a:spcAft>
                <a:spcPts val="600"/>
              </a:spcAft>
              <a:defRPr sz="1800" b="0">
                <a:solidFill>
                  <a:srgbClr val="655F56"/>
                </a:solidFill>
                <a:latin typeface="Arial"/>
              </a:defRPr>
            </a:pPr>
            <a:r>
              <a:t>Show early work.</a:t>
            </a:r>
          </a:p>
        </p:txBody>
      </p:sp>
      <p:cxnSp>
        <p:nvCxnSpPr>
          <p:cNvPr id="13" name="Connector 12"/>
          <p:cNvCxnSpPr/>
          <p:nvPr/>
        </p:nvCxnSpPr>
        <p:spPr>
          <a:xfrm flipH="1">
            <a:off x="8366760" y="2624328"/>
            <a:ext cx="100584" cy="118872"/>
          </a:xfrm>
          <a:prstGeom prst="line">
            <a:avLst/>
          </a:prstGeom>
          <a:ln w="21590">
            <a:solidFill>
              <a:srgbClr val="C6532C"/>
            </a:solidFill>
          </a:ln>
        </p:spPr>
      </p:cxnSp>
      <p:cxnSp>
        <p:nvCxnSpPr>
          <p:cNvPr id="14" name="Connector 13"/>
          <p:cNvCxnSpPr/>
          <p:nvPr/>
        </p:nvCxnSpPr>
        <p:spPr>
          <a:xfrm>
            <a:off x="8366760" y="2743200"/>
            <a:ext cx="100584" cy="118872"/>
          </a:xfrm>
          <a:prstGeom prst="line">
            <a:avLst/>
          </a:prstGeom>
          <a:ln w="21590">
            <a:solidFill>
              <a:srgbClr val="C6532C"/>
            </a:solidFill>
          </a:ln>
        </p:spPr>
      </p:cxnSp>
      <p:cxnSp>
        <p:nvCxnSpPr>
          <p:cNvPr id="15" name="Connector 14"/>
          <p:cNvCxnSpPr/>
          <p:nvPr/>
        </p:nvCxnSpPr>
        <p:spPr>
          <a:xfrm>
            <a:off x="8631936" y="2624328"/>
            <a:ext cx="100583" cy="118872"/>
          </a:xfrm>
          <a:prstGeom prst="line">
            <a:avLst/>
          </a:prstGeom>
          <a:ln w="21590">
            <a:solidFill>
              <a:srgbClr val="C6532C"/>
            </a:solidFill>
          </a:ln>
        </p:spPr>
      </p:cxnSp>
      <p:cxnSp>
        <p:nvCxnSpPr>
          <p:cNvPr id="16" name="Connector 15"/>
          <p:cNvCxnSpPr/>
          <p:nvPr/>
        </p:nvCxnSpPr>
        <p:spPr>
          <a:xfrm flipH="1">
            <a:off x="8631936" y="2743200"/>
            <a:ext cx="100583" cy="118872"/>
          </a:xfrm>
          <a:prstGeom prst="line">
            <a:avLst/>
          </a:prstGeom>
          <a:ln w="21590">
            <a:solidFill>
              <a:srgbClr val="C6532C"/>
            </a:solidFill>
          </a:ln>
        </p:spPr>
      </p:cxnSp>
      <p:cxnSp>
        <p:nvCxnSpPr>
          <p:cNvPr id="17" name="Connector 16"/>
          <p:cNvCxnSpPr/>
          <p:nvPr/>
        </p:nvCxnSpPr>
        <p:spPr>
          <a:xfrm flipH="1">
            <a:off x="8513064" y="2583180"/>
            <a:ext cx="73151" cy="320040"/>
          </a:xfrm>
          <a:prstGeom prst="line">
            <a:avLst/>
          </a:prstGeom>
          <a:ln w="21590">
            <a:solidFill>
              <a:srgbClr val="C6532C"/>
            </a:solidFill>
          </a:ln>
        </p:spPr>
      </p:cxnSp>
      <p:sp>
        <p:nvSpPr>
          <p:cNvPr id="18" name="TextBox 17"/>
          <p:cNvSpPr txBox="1"/>
          <p:nvPr/>
        </p:nvSpPr>
        <p:spPr>
          <a:xfrm>
            <a:off x="8321040" y="3172968"/>
            <a:ext cx="3246120" cy="594360"/>
          </a:xfrm>
          <a:prstGeom prst="rect">
            <a:avLst/>
          </a:prstGeom>
          <a:noFill/>
        </p:spPr>
        <p:txBody>
          <a:bodyPr wrap="square" lIns="0" rIns="0" tIns="0" bIns="0">
            <a:spAutoFit/>
          </a:bodyPr>
          <a:lstStyle/>
          <a:p>
            <a:pPr>
              <a:spcAft>
                <a:spcPts val="600"/>
              </a:spcAft>
              <a:defRPr sz="2200" b="1">
                <a:solidFill>
                  <a:srgbClr val="171717"/>
                </a:solidFill>
                <a:latin typeface="Arial"/>
              </a:defRPr>
            </a:pPr>
            <a:r>
              <a:t>Developers &amp; freelancers</a:t>
            </a:r>
          </a:p>
        </p:txBody>
      </p:sp>
      <p:sp>
        <p:nvSpPr>
          <p:cNvPr id="19" name="TextBox 18"/>
          <p:cNvSpPr txBox="1"/>
          <p:nvPr/>
        </p:nvSpPr>
        <p:spPr>
          <a:xfrm>
            <a:off x="8321040" y="3886200"/>
            <a:ext cx="3246120" cy="457200"/>
          </a:xfrm>
          <a:prstGeom prst="rect">
            <a:avLst/>
          </a:prstGeom>
          <a:noFill/>
        </p:spPr>
        <p:txBody>
          <a:bodyPr wrap="square" lIns="0" rIns="0" tIns="0" bIns="0">
            <a:spAutoFit/>
          </a:bodyPr>
          <a:lstStyle/>
          <a:p>
            <a:pPr>
              <a:spcAft>
                <a:spcPts val="600"/>
              </a:spcAft>
              <a:defRPr sz="1800" b="0">
                <a:solidFill>
                  <a:srgbClr val="655F56"/>
                </a:solidFill>
                <a:latin typeface="Arial"/>
              </a:defRPr>
            </a:pPr>
            <a:r>
              <a:t>Carry evidence forward.</a:t>
            </a:r>
          </a:p>
        </p:txBody>
      </p:sp>
      <p:cxnSp>
        <p:nvCxnSpPr>
          <p:cNvPr id="20" name="Connector 19"/>
          <p:cNvCxnSpPr/>
          <p:nvPr/>
        </p:nvCxnSpPr>
        <p:spPr>
          <a:xfrm>
            <a:off x="4974336" y="4754880"/>
            <a:ext cx="384048" cy="0"/>
          </a:xfrm>
          <a:prstGeom prst="line">
            <a:avLst/>
          </a:prstGeom>
          <a:ln w="21590">
            <a:solidFill>
              <a:srgbClr val="C6532C"/>
            </a:solidFill>
          </a:ln>
        </p:spPr>
      </p:cxnSp>
      <p:cxnSp>
        <p:nvCxnSpPr>
          <p:cNvPr id="21" name="Connector 20"/>
          <p:cNvCxnSpPr/>
          <p:nvPr/>
        </p:nvCxnSpPr>
        <p:spPr>
          <a:xfrm>
            <a:off x="5358384" y="4754880"/>
            <a:ext cx="0" cy="265176"/>
          </a:xfrm>
          <a:prstGeom prst="line">
            <a:avLst/>
          </a:prstGeom>
          <a:ln w="21590">
            <a:solidFill>
              <a:srgbClr val="C6532C"/>
            </a:solidFill>
          </a:ln>
        </p:spPr>
      </p:cxnSp>
      <p:cxnSp>
        <p:nvCxnSpPr>
          <p:cNvPr id="22" name="Connector 21"/>
          <p:cNvCxnSpPr/>
          <p:nvPr/>
        </p:nvCxnSpPr>
        <p:spPr>
          <a:xfrm flipH="1">
            <a:off x="4974336" y="5020056"/>
            <a:ext cx="384048" cy="0"/>
          </a:xfrm>
          <a:prstGeom prst="line">
            <a:avLst/>
          </a:prstGeom>
          <a:ln w="21590">
            <a:solidFill>
              <a:srgbClr val="C6532C"/>
            </a:solidFill>
          </a:ln>
        </p:spPr>
      </p:cxnSp>
      <p:cxnSp>
        <p:nvCxnSpPr>
          <p:cNvPr id="23" name="Connector 22"/>
          <p:cNvCxnSpPr/>
          <p:nvPr/>
        </p:nvCxnSpPr>
        <p:spPr>
          <a:xfrm flipV="1">
            <a:off x="4974336" y="4754880"/>
            <a:ext cx="0" cy="265176"/>
          </a:xfrm>
          <a:prstGeom prst="line">
            <a:avLst/>
          </a:prstGeom>
          <a:ln w="21590">
            <a:solidFill>
              <a:srgbClr val="C6532C"/>
            </a:solidFill>
          </a:ln>
        </p:spPr>
      </p:cxnSp>
      <p:cxnSp>
        <p:nvCxnSpPr>
          <p:cNvPr id="24" name="Connector 23"/>
          <p:cNvCxnSpPr/>
          <p:nvPr/>
        </p:nvCxnSpPr>
        <p:spPr>
          <a:xfrm flipV="1">
            <a:off x="5084064" y="4677156"/>
            <a:ext cx="0" cy="77724"/>
          </a:xfrm>
          <a:prstGeom prst="line">
            <a:avLst/>
          </a:prstGeom>
          <a:ln w="21590">
            <a:solidFill>
              <a:srgbClr val="C6532C"/>
            </a:solidFill>
          </a:ln>
        </p:spPr>
      </p:cxnSp>
      <p:cxnSp>
        <p:nvCxnSpPr>
          <p:cNvPr id="25" name="Connector 24"/>
          <p:cNvCxnSpPr/>
          <p:nvPr/>
        </p:nvCxnSpPr>
        <p:spPr>
          <a:xfrm>
            <a:off x="5084064" y="4677156"/>
            <a:ext cx="164592" cy="0"/>
          </a:xfrm>
          <a:prstGeom prst="line">
            <a:avLst/>
          </a:prstGeom>
          <a:ln w="21590">
            <a:solidFill>
              <a:srgbClr val="C6532C"/>
            </a:solidFill>
          </a:ln>
        </p:spPr>
      </p:cxnSp>
      <p:cxnSp>
        <p:nvCxnSpPr>
          <p:cNvPr id="26" name="Connector 25"/>
          <p:cNvCxnSpPr/>
          <p:nvPr/>
        </p:nvCxnSpPr>
        <p:spPr>
          <a:xfrm>
            <a:off x="5248656" y="4677156"/>
            <a:ext cx="0" cy="77724"/>
          </a:xfrm>
          <a:prstGeom prst="line">
            <a:avLst/>
          </a:prstGeom>
          <a:ln w="21590">
            <a:solidFill>
              <a:srgbClr val="C6532C"/>
            </a:solidFill>
          </a:ln>
        </p:spPr>
      </p:cxnSp>
      <p:cxnSp>
        <p:nvCxnSpPr>
          <p:cNvPr id="27" name="Connector 26"/>
          <p:cNvCxnSpPr/>
          <p:nvPr/>
        </p:nvCxnSpPr>
        <p:spPr>
          <a:xfrm>
            <a:off x="4974336" y="4855464"/>
            <a:ext cx="384048" cy="0"/>
          </a:xfrm>
          <a:prstGeom prst="line">
            <a:avLst/>
          </a:prstGeom>
          <a:ln w="21590">
            <a:solidFill>
              <a:srgbClr val="C6532C"/>
            </a:solidFill>
          </a:ln>
        </p:spPr>
      </p:cxnSp>
      <p:sp>
        <p:nvSpPr>
          <p:cNvPr id="28" name="TextBox 27"/>
          <p:cNvSpPr txBox="1"/>
          <p:nvPr/>
        </p:nvSpPr>
        <p:spPr>
          <a:xfrm>
            <a:off x="4937760" y="5276088"/>
            <a:ext cx="3246120" cy="594360"/>
          </a:xfrm>
          <a:prstGeom prst="rect">
            <a:avLst/>
          </a:prstGeom>
          <a:noFill/>
        </p:spPr>
        <p:txBody>
          <a:bodyPr wrap="square" lIns="0" rIns="0" tIns="0" bIns="0">
            <a:spAutoFit/>
          </a:bodyPr>
          <a:lstStyle/>
          <a:p>
            <a:pPr>
              <a:spcAft>
                <a:spcPts val="600"/>
              </a:spcAft>
              <a:defRPr sz="2200" b="1">
                <a:solidFill>
                  <a:srgbClr val="171717"/>
                </a:solidFill>
                <a:latin typeface="Arial"/>
              </a:defRPr>
            </a:pPr>
            <a:r>
              <a:t>Companies</a:t>
            </a:r>
          </a:p>
        </p:txBody>
      </p:sp>
      <p:sp>
        <p:nvSpPr>
          <p:cNvPr id="29" name="TextBox 28"/>
          <p:cNvSpPr txBox="1"/>
          <p:nvPr/>
        </p:nvSpPr>
        <p:spPr>
          <a:xfrm>
            <a:off x="4937760" y="5989320"/>
            <a:ext cx="3246120" cy="457200"/>
          </a:xfrm>
          <a:prstGeom prst="rect">
            <a:avLst/>
          </a:prstGeom>
          <a:noFill/>
        </p:spPr>
        <p:txBody>
          <a:bodyPr wrap="square" lIns="0" rIns="0" tIns="0" bIns="0">
            <a:spAutoFit/>
          </a:bodyPr>
          <a:lstStyle/>
          <a:p>
            <a:pPr>
              <a:spcAft>
                <a:spcPts val="600"/>
              </a:spcAft>
              <a:defRPr sz="1800" b="0">
                <a:solidFill>
                  <a:srgbClr val="655F56"/>
                </a:solidFill>
                <a:latin typeface="Arial"/>
              </a:defRPr>
            </a:pPr>
            <a:r>
              <a:t>Find practical talent.</a:t>
            </a:r>
          </a:p>
        </p:txBody>
      </p:sp>
      <p:cxnSp>
        <p:nvCxnSpPr>
          <p:cNvPr id="30" name="Connector 29"/>
          <p:cNvCxnSpPr/>
          <p:nvPr/>
        </p:nvCxnSpPr>
        <p:spPr>
          <a:xfrm>
            <a:off x="8403336" y="4649724"/>
            <a:ext cx="292608" cy="0"/>
          </a:xfrm>
          <a:prstGeom prst="line">
            <a:avLst/>
          </a:prstGeom>
          <a:ln w="21590">
            <a:solidFill>
              <a:srgbClr val="C6532C"/>
            </a:solidFill>
          </a:ln>
        </p:spPr>
      </p:cxnSp>
      <p:cxnSp>
        <p:nvCxnSpPr>
          <p:cNvPr id="31" name="Connector 30"/>
          <p:cNvCxnSpPr/>
          <p:nvPr/>
        </p:nvCxnSpPr>
        <p:spPr>
          <a:xfrm>
            <a:off x="8695944" y="4649724"/>
            <a:ext cx="0" cy="384048"/>
          </a:xfrm>
          <a:prstGeom prst="line">
            <a:avLst/>
          </a:prstGeom>
          <a:ln w="21590">
            <a:solidFill>
              <a:srgbClr val="C6532C"/>
            </a:solidFill>
          </a:ln>
        </p:spPr>
      </p:cxnSp>
      <p:cxnSp>
        <p:nvCxnSpPr>
          <p:cNvPr id="32" name="Connector 31"/>
          <p:cNvCxnSpPr/>
          <p:nvPr/>
        </p:nvCxnSpPr>
        <p:spPr>
          <a:xfrm flipH="1">
            <a:off x="8403336" y="5033772"/>
            <a:ext cx="292608" cy="0"/>
          </a:xfrm>
          <a:prstGeom prst="line">
            <a:avLst/>
          </a:prstGeom>
          <a:ln w="21590">
            <a:solidFill>
              <a:srgbClr val="C6532C"/>
            </a:solidFill>
          </a:ln>
        </p:spPr>
      </p:cxnSp>
      <p:cxnSp>
        <p:nvCxnSpPr>
          <p:cNvPr id="33" name="Connector 32"/>
          <p:cNvCxnSpPr/>
          <p:nvPr/>
        </p:nvCxnSpPr>
        <p:spPr>
          <a:xfrm flipV="1">
            <a:off x="8403336" y="4649724"/>
            <a:ext cx="0" cy="384048"/>
          </a:xfrm>
          <a:prstGeom prst="line">
            <a:avLst/>
          </a:prstGeom>
          <a:ln w="21590">
            <a:solidFill>
              <a:srgbClr val="C6532C"/>
            </a:solidFill>
          </a:ln>
        </p:spPr>
      </p:cxnSp>
      <p:sp>
        <p:nvSpPr>
          <p:cNvPr id="34" name="Oval 33"/>
          <p:cNvSpPr/>
          <p:nvPr/>
        </p:nvSpPr>
        <p:spPr>
          <a:xfrm>
            <a:off x="8476488" y="4736592"/>
            <a:ext cx="146304" cy="146304"/>
          </a:xfrm>
          <a:prstGeom prst="ellipse">
            <a:avLst/>
          </a:prstGeom>
          <a:solidFill>
            <a:srgbClr val="C6532C"/>
          </a:solidFill>
          <a:ln>
            <a:noFill/>
          </a:ln>
        </p:spPr>
        <p:txBody>
          <a:bodyPr rtlCol="0" anchor="ctr"/>
          <a:lstStyle/>
          <a:p>
            <a:pPr algn="ctr"/>
          </a:p>
        </p:txBody>
      </p:sp>
      <p:cxnSp>
        <p:nvCxnSpPr>
          <p:cNvPr id="35" name="Connector 34"/>
          <p:cNvCxnSpPr/>
          <p:nvPr/>
        </p:nvCxnSpPr>
        <p:spPr>
          <a:xfrm flipH="1">
            <a:off x="8476488" y="4882896"/>
            <a:ext cx="27431" cy="91440"/>
          </a:xfrm>
          <a:prstGeom prst="line">
            <a:avLst/>
          </a:prstGeom>
          <a:ln w="21590">
            <a:solidFill>
              <a:srgbClr val="C6532C"/>
            </a:solidFill>
          </a:ln>
        </p:spPr>
      </p:cxnSp>
      <p:cxnSp>
        <p:nvCxnSpPr>
          <p:cNvPr id="36" name="Connector 35"/>
          <p:cNvCxnSpPr/>
          <p:nvPr/>
        </p:nvCxnSpPr>
        <p:spPr>
          <a:xfrm>
            <a:off x="8586215" y="4882896"/>
            <a:ext cx="27433" cy="91440"/>
          </a:xfrm>
          <a:prstGeom prst="line">
            <a:avLst/>
          </a:prstGeom>
          <a:ln w="21590">
            <a:solidFill>
              <a:srgbClr val="C6532C"/>
            </a:solidFill>
          </a:ln>
        </p:spPr>
      </p:cxnSp>
      <p:sp>
        <p:nvSpPr>
          <p:cNvPr id="37" name="TextBox 36"/>
          <p:cNvSpPr txBox="1"/>
          <p:nvPr/>
        </p:nvSpPr>
        <p:spPr>
          <a:xfrm>
            <a:off x="8321040" y="5276088"/>
            <a:ext cx="3246120" cy="594360"/>
          </a:xfrm>
          <a:prstGeom prst="rect">
            <a:avLst/>
          </a:prstGeom>
          <a:noFill/>
        </p:spPr>
        <p:txBody>
          <a:bodyPr wrap="square" lIns="0" rIns="0" tIns="0" bIns="0">
            <a:spAutoFit/>
          </a:bodyPr>
          <a:lstStyle/>
          <a:p>
            <a:pPr>
              <a:spcAft>
                <a:spcPts val="600"/>
              </a:spcAft>
              <a:defRPr sz="2200" b="1">
                <a:solidFill>
                  <a:srgbClr val="171717"/>
                </a:solidFill>
                <a:latin typeface="Arial"/>
              </a:defRPr>
            </a:pPr>
            <a:r>
              <a:t>Training organizations</a:t>
            </a:r>
          </a:p>
        </p:txBody>
      </p:sp>
      <p:sp>
        <p:nvSpPr>
          <p:cNvPr id="38" name="TextBox 37"/>
          <p:cNvSpPr txBox="1"/>
          <p:nvPr/>
        </p:nvSpPr>
        <p:spPr>
          <a:xfrm>
            <a:off x="8321040" y="5989320"/>
            <a:ext cx="3246120" cy="457200"/>
          </a:xfrm>
          <a:prstGeom prst="rect">
            <a:avLst/>
          </a:prstGeom>
          <a:noFill/>
        </p:spPr>
        <p:txBody>
          <a:bodyPr wrap="square" lIns="0" rIns="0" tIns="0" bIns="0">
            <a:spAutoFit/>
          </a:bodyPr>
          <a:lstStyle/>
          <a:p>
            <a:pPr>
              <a:spcAft>
                <a:spcPts val="600"/>
              </a:spcAft>
              <a:defRPr sz="1800" b="0">
                <a:solidFill>
                  <a:srgbClr val="655F56"/>
                </a:solidFill>
                <a:latin typeface="Arial"/>
              </a:defRPr>
            </a:pPr>
            <a:r>
              <a:t>Issue useful recognition.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11292840" y="6428232"/>
            <a:ext cx="411480" cy="228600"/>
          </a:xfrm>
          <a:prstGeom prst="rect">
            <a:avLst/>
          </a:prstGeom>
          <a:noFill/>
        </p:spPr>
        <p:txBody>
          <a:bodyPr wrap="square" lIns="0" rIns="0" tIns="0" bIns="0">
            <a:spAutoFit/>
          </a:bodyPr>
          <a:lstStyle/>
          <a:p>
            <a:pPr>
              <a:spcAft>
                <a:spcPts val="600"/>
              </a:spcAft>
              <a:defRPr sz="1000" b="0">
                <a:solidFill>
                  <a:srgbClr val="655F56"/>
                </a:solidFill>
                <a:latin typeface="Arial"/>
              </a:defRPr>
            </a:pPr>
            <a:r>
              <a:t>09</a:t>
            </a:r>
          </a:p>
        </p:txBody>
      </p:sp>
      <p:sp>
        <p:nvSpPr>
          <p:cNvPr id="3" name="TextBox 2"/>
          <p:cNvSpPr txBox="1"/>
          <p:nvPr/>
        </p:nvSpPr>
        <p:spPr>
          <a:xfrm>
            <a:off x="594360" y="502920"/>
            <a:ext cx="11064240" cy="1371600"/>
          </a:xfrm>
          <a:prstGeom prst="rect">
            <a:avLst/>
          </a:prstGeom>
          <a:noFill/>
        </p:spPr>
        <p:txBody>
          <a:bodyPr wrap="square" lIns="0" rIns="0" tIns="0" bIns="0">
            <a:spAutoFit/>
          </a:bodyPr>
          <a:lstStyle/>
          <a:p>
            <a:pPr>
              <a:spcAft>
                <a:spcPts val="600"/>
              </a:spcAft>
              <a:defRPr sz="4100" b="1">
                <a:solidFill>
                  <a:srgbClr val="171717"/>
                </a:solidFill>
                <a:latin typeface="Arial"/>
              </a:defRPr>
            </a:pPr>
            <a:r>
              <a:t>Free to build a record.</a:t>
            </a:r>
          </a:p>
          <a:p>
            <a:pPr>
              <a:spcAft>
                <a:spcPts val="600"/>
              </a:spcAft>
              <a:defRPr sz="4100" b="1">
                <a:solidFill>
                  <a:srgbClr val="171717"/>
                </a:solidFill>
                <a:latin typeface="Arial"/>
              </a:defRPr>
            </a:pPr>
            <a:r>
              <a:t>Paid tools where teams get value.</a:t>
            </a:r>
          </a:p>
        </p:txBody>
      </p:sp>
      <p:sp>
        <p:nvSpPr>
          <p:cNvPr id="4" name="TextBox 3"/>
          <p:cNvSpPr txBox="1"/>
          <p:nvPr/>
        </p:nvSpPr>
        <p:spPr>
          <a:xfrm>
            <a:off x="685800" y="2468880"/>
            <a:ext cx="4206240" cy="457200"/>
          </a:xfrm>
          <a:prstGeom prst="rect">
            <a:avLst/>
          </a:prstGeom>
          <a:noFill/>
        </p:spPr>
        <p:txBody>
          <a:bodyPr wrap="square" lIns="0" rIns="0" tIns="0" bIns="0">
            <a:spAutoFit/>
          </a:bodyPr>
          <a:lstStyle/>
          <a:p>
            <a:pPr>
              <a:spcAft>
                <a:spcPts val="600"/>
              </a:spcAft>
              <a:defRPr sz="2500" b="0">
                <a:solidFill>
                  <a:srgbClr val="655F56"/>
                </a:solidFill>
                <a:latin typeface="Arial"/>
              </a:defRPr>
            </a:pPr>
            <a:r>
              <a:t>Individuals</a:t>
            </a:r>
          </a:p>
        </p:txBody>
      </p:sp>
      <p:sp>
        <p:nvSpPr>
          <p:cNvPr id="5" name="TextBox 4"/>
          <p:cNvSpPr txBox="1"/>
          <p:nvPr/>
        </p:nvSpPr>
        <p:spPr>
          <a:xfrm>
            <a:off x="640080" y="2971800"/>
            <a:ext cx="4297680" cy="1143000"/>
          </a:xfrm>
          <a:prstGeom prst="rect">
            <a:avLst/>
          </a:prstGeom>
          <a:noFill/>
        </p:spPr>
        <p:txBody>
          <a:bodyPr wrap="square" lIns="0" rIns="0" tIns="0" bIns="0">
            <a:spAutoFit/>
          </a:bodyPr>
          <a:lstStyle/>
          <a:p>
            <a:pPr>
              <a:spcAft>
                <a:spcPts val="600"/>
              </a:spcAft>
              <a:defRPr sz="7600" b="1">
                <a:solidFill>
                  <a:srgbClr val="C6532C"/>
                </a:solidFill>
                <a:latin typeface="Arial"/>
              </a:defRPr>
            </a:pPr>
            <a:r>
              <a:t>Free</a:t>
            </a:r>
          </a:p>
        </p:txBody>
      </p:sp>
      <p:sp>
        <p:nvSpPr>
          <p:cNvPr id="6" name="TextBox 5"/>
          <p:cNvSpPr txBox="1"/>
          <p:nvPr/>
        </p:nvSpPr>
        <p:spPr>
          <a:xfrm>
            <a:off x="685800" y="4389120"/>
            <a:ext cx="4297680" cy="960120"/>
          </a:xfrm>
          <a:prstGeom prst="rect">
            <a:avLst/>
          </a:prstGeom>
          <a:noFill/>
        </p:spPr>
        <p:txBody>
          <a:bodyPr wrap="square" lIns="0" rIns="0" tIns="0" bIns="0">
            <a:spAutoFit/>
          </a:bodyPr>
          <a:lstStyle/>
          <a:p>
            <a:pPr>
              <a:spcAft>
                <a:spcPts val="600"/>
              </a:spcAft>
              <a:defRPr sz="2900" b="1">
                <a:solidFill>
                  <a:srgbClr val="171717"/>
                </a:solidFill>
                <a:latin typeface="Arial"/>
              </a:defRPr>
            </a:pPr>
            <a:r>
              <a:t>Basic Skill Passport</a:t>
            </a:r>
          </a:p>
          <a:p>
            <a:pPr>
              <a:spcAft>
                <a:spcPts val="600"/>
              </a:spcAft>
              <a:defRPr sz="2900" b="1">
                <a:solidFill>
                  <a:srgbClr val="171717"/>
                </a:solidFill>
                <a:latin typeface="Arial"/>
              </a:defRPr>
            </a:pPr>
            <a:r>
              <a:t>+ sharing</a:t>
            </a:r>
          </a:p>
        </p:txBody>
      </p:sp>
      <p:cxnSp>
        <p:nvCxnSpPr>
          <p:cNvPr id="7" name="Connector 6"/>
          <p:cNvCxnSpPr/>
          <p:nvPr/>
        </p:nvCxnSpPr>
        <p:spPr>
          <a:xfrm>
            <a:off x="5257800" y="2514600"/>
            <a:ext cx="0" cy="3063240"/>
          </a:xfrm>
          <a:prstGeom prst="line">
            <a:avLst/>
          </a:prstGeom>
          <a:ln w="25400">
            <a:solidFill>
              <a:srgbClr val="E7DECF"/>
            </a:solidFill>
          </a:ln>
        </p:spPr>
      </p:cxnSp>
      <p:sp>
        <p:nvSpPr>
          <p:cNvPr id="8" name="TextBox 7"/>
          <p:cNvSpPr txBox="1"/>
          <p:nvPr/>
        </p:nvSpPr>
        <p:spPr>
          <a:xfrm>
            <a:off x="5852160" y="2468880"/>
            <a:ext cx="5303520" cy="502920"/>
          </a:xfrm>
          <a:prstGeom prst="rect">
            <a:avLst/>
          </a:prstGeom>
          <a:noFill/>
        </p:spPr>
        <p:txBody>
          <a:bodyPr wrap="square" lIns="0" rIns="0" tIns="0" bIns="0">
            <a:spAutoFit/>
          </a:bodyPr>
          <a:lstStyle/>
          <a:p>
            <a:pPr>
              <a:spcAft>
                <a:spcPts val="600"/>
              </a:spcAft>
              <a:defRPr sz="2500" b="0">
                <a:solidFill>
                  <a:srgbClr val="655F56"/>
                </a:solidFill>
                <a:latin typeface="Arial"/>
              </a:defRPr>
            </a:pPr>
            <a:r>
              <a:t>Organizations</a:t>
            </a:r>
          </a:p>
        </p:txBody>
      </p:sp>
      <p:sp>
        <p:nvSpPr>
          <p:cNvPr id="9" name="TextBox 8"/>
          <p:cNvSpPr txBox="1"/>
          <p:nvPr/>
        </p:nvSpPr>
        <p:spPr>
          <a:xfrm>
            <a:off x="5852160" y="3200400"/>
            <a:ext cx="5486400" cy="640080"/>
          </a:xfrm>
          <a:prstGeom prst="rect">
            <a:avLst/>
          </a:prstGeom>
          <a:noFill/>
        </p:spPr>
        <p:txBody>
          <a:bodyPr wrap="square" lIns="0" rIns="0" tIns="0" bIns="0">
            <a:spAutoFit/>
          </a:bodyPr>
          <a:lstStyle/>
          <a:p>
            <a:pPr>
              <a:spcAft>
                <a:spcPts val="600"/>
              </a:spcAft>
              <a:defRPr sz="3300" b="1">
                <a:solidFill>
                  <a:srgbClr val="171717"/>
                </a:solidFill>
                <a:latin typeface="Arial"/>
              </a:defRPr>
            </a:pPr>
            <a:r>
              <a:t>Potential paid tools</a:t>
            </a:r>
          </a:p>
        </p:txBody>
      </p:sp>
      <p:cxnSp>
        <p:nvCxnSpPr>
          <p:cNvPr id="10" name="Connector 9"/>
          <p:cNvCxnSpPr/>
          <p:nvPr/>
        </p:nvCxnSpPr>
        <p:spPr>
          <a:xfrm>
            <a:off x="5950915" y="4381804"/>
            <a:ext cx="351129" cy="0"/>
          </a:xfrm>
          <a:prstGeom prst="line">
            <a:avLst/>
          </a:prstGeom>
          <a:ln w="21590">
            <a:solidFill>
              <a:srgbClr val="C6532C"/>
            </a:solidFill>
          </a:ln>
        </p:spPr>
      </p:cxnSp>
      <p:cxnSp>
        <p:nvCxnSpPr>
          <p:cNvPr id="11" name="Connector 10"/>
          <p:cNvCxnSpPr/>
          <p:nvPr/>
        </p:nvCxnSpPr>
        <p:spPr>
          <a:xfrm>
            <a:off x="6302044" y="4381804"/>
            <a:ext cx="0" cy="460858"/>
          </a:xfrm>
          <a:prstGeom prst="line">
            <a:avLst/>
          </a:prstGeom>
          <a:ln w="21590">
            <a:solidFill>
              <a:srgbClr val="C6532C"/>
            </a:solidFill>
          </a:ln>
        </p:spPr>
      </p:cxnSp>
      <p:cxnSp>
        <p:nvCxnSpPr>
          <p:cNvPr id="12" name="Connector 11"/>
          <p:cNvCxnSpPr/>
          <p:nvPr/>
        </p:nvCxnSpPr>
        <p:spPr>
          <a:xfrm flipH="1">
            <a:off x="5950915" y="4842662"/>
            <a:ext cx="351129" cy="0"/>
          </a:xfrm>
          <a:prstGeom prst="line">
            <a:avLst/>
          </a:prstGeom>
          <a:ln w="21590">
            <a:solidFill>
              <a:srgbClr val="C6532C"/>
            </a:solidFill>
          </a:ln>
        </p:spPr>
      </p:cxnSp>
      <p:cxnSp>
        <p:nvCxnSpPr>
          <p:cNvPr id="13" name="Connector 12"/>
          <p:cNvCxnSpPr/>
          <p:nvPr/>
        </p:nvCxnSpPr>
        <p:spPr>
          <a:xfrm flipV="1">
            <a:off x="5950915" y="4381804"/>
            <a:ext cx="0" cy="460858"/>
          </a:xfrm>
          <a:prstGeom prst="line">
            <a:avLst/>
          </a:prstGeom>
          <a:ln w="21590">
            <a:solidFill>
              <a:srgbClr val="C6532C"/>
            </a:solidFill>
          </a:ln>
        </p:spPr>
      </p:cxnSp>
      <p:sp>
        <p:nvSpPr>
          <p:cNvPr id="14" name="Oval 13"/>
          <p:cNvSpPr/>
          <p:nvPr/>
        </p:nvSpPr>
        <p:spPr>
          <a:xfrm>
            <a:off x="6038697" y="4486046"/>
            <a:ext cx="175564" cy="175564"/>
          </a:xfrm>
          <a:prstGeom prst="ellipse">
            <a:avLst/>
          </a:prstGeom>
          <a:solidFill>
            <a:srgbClr val="C6532C"/>
          </a:solidFill>
          <a:ln>
            <a:noFill/>
          </a:ln>
        </p:spPr>
        <p:txBody>
          <a:bodyPr rtlCol="0" anchor="ctr"/>
          <a:lstStyle/>
          <a:p>
            <a:pPr algn="ctr"/>
          </a:p>
        </p:txBody>
      </p:sp>
      <p:cxnSp>
        <p:nvCxnSpPr>
          <p:cNvPr id="15" name="Connector 14"/>
          <p:cNvCxnSpPr/>
          <p:nvPr/>
        </p:nvCxnSpPr>
        <p:spPr>
          <a:xfrm flipH="1">
            <a:off x="6038697" y="4661611"/>
            <a:ext cx="32919" cy="109728"/>
          </a:xfrm>
          <a:prstGeom prst="line">
            <a:avLst/>
          </a:prstGeom>
          <a:ln w="21590">
            <a:solidFill>
              <a:srgbClr val="C6532C"/>
            </a:solidFill>
          </a:ln>
        </p:spPr>
      </p:cxnSp>
      <p:cxnSp>
        <p:nvCxnSpPr>
          <p:cNvPr id="16" name="Connector 15"/>
          <p:cNvCxnSpPr/>
          <p:nvPr/>
        </p:nvCxnSpPr>
        <p:spPr>
          <a:xfrm>
            <a:off x="6170371" y="4661611"/>
            <a:ext cx="32918" cy="109728"/>
          </a:xfrm>
          <a:prstGeom prst="line">
            <a:avLst/>
          </a:prstGeom>
          <a:ln w="21590">
            <a:solidFill>
              <a:srgbClr val="C6532C"/>
            </a:solidFill>
          </a:ln>
        </p:spPr>
      </p:cxnSp>
      <p:sp>
        <p:nvSpPr>
          <p:cNvPr id="17" name="TextBox 16"/>
          <p:cNvSpPr txBox="1"/>
          <p:nvPr/>
        </p:nvSpPr>
        <p:spPr>
          <a:xfrm>
            <a:off x="5852160" y="5120640"/>
            <a:ext cx="1828800" cy="411480"/>
          </a:xfrm>
          <a:prstGeom prst="rect">
            <a:avLst/>
          </a:prstGeom>
          <a:noFill/>
        </p:spPr>
        <p:txBody>
          <a:bodyPr wrap="square" lIns="0" rIns="0" tIns="0" bIns="0">
            <a:spAutoFit/>
          </a:bodyPr>
          <a:lstStyle/>
          <a:p>
            <a:pPr>
              <a:spcAft>
                <a:spcPts val="600"/>
              </a:spcAft>
              <a:defRPr sz="1800" b="1">
                <a:solidFill>
                  <a:srgbClr val="171717"/>
                </a:solidFill>
                <a:latin typeface="Arial"/>
              </a:defRPr>
            </a:pPr>
            <a:r>
              <a:t>Credentials</a:t>
            </a:r>
          </a:p>
        </p:txBody>
      </p:sp>
      <p:sp>
        <p:nvSpPr>
          <p:cNvPr id="18" name="Oval 17"/>
          <p:cNvSpPr/>
          <p:nvPr/>
        </p:nvSpPr>
        <p:spPr>
          <a:xfrm>
            <a:off x="7907731" y="4370832"/>
            <a:ext cx="175564" cy="175564"/>
          </a:xfrm>
          <a:prstGeom prst="ellipse">
            <a:avLst/>
          </a:prstGeom>
          <a:solidFill>
            <a:srgbClr val="C6532C"/>
          </a:solidFill>
          <a:ln>
            <a:noFill/>
          </a:ln>
        </p:spPr>
        <p:txBody>
          <a:bodyPr rtlCol="0" anchor="ctr"/>
          <a:lstStyle/>
          <a:p>
            <a:pPr algn="ctr"/>
          </a:p>
        </p:txBody>
      </p:sp>
      <p:cxnSp>
        <p:nvCxnSpPr>
          <p:cNvPr id="19" name="Connector 18"/>
          <p:cNvCxnSpPr/>
          <p:nvPr/>
        </p:nvCxnSpPr>
        <p:spPr>
          <a:xfrm flipV="1">
            <a:off x="7825435" y="4672584"/>
            <a:ext cx="0" cy="131673"/>
          </a:xfrm>
          <a:prstGeom prst="line">
            <a:avLst/>
          </a:prstGeom>
          <a:ln w="21590">
            <a:solidFill>
              <a:srgbClr val="C6532C"/>
            </a:solidFill>
          </a:ln>
        </p:spPr>
      </p:cxnSp>
      <p:cxnSp>
        <p:nvCxnSpPr>
          <p:cNvPr id="20" name="Connector 19"/>
          <p:cNvCxnSpPr/>
          <p:nvPr/>
        </p:nvCxnSpPr>
        <p:spPr>
          <a:xfrm>
            <a:off x="7825435" y="4672584"/>
            <a:ext cx="340157" cy="0"/>
          </a:xfrm>
          <a:prstGeom prst="line">
            <a:avLst/>
          </a:prstGeom>
          <a:ln w="21590">
            <a:solidFill>
              <a:srgbClr val="C6532C"/>
            </a:solidFill>
          </a:ln>
        </p:spPr>
      </p:cxnSp>
      <p:cxnSp>
        <p:nvCxnSpPr>
          <p:cNvPr id="21" name="Connector 20"/>
          <p:cNvCxnSpPr/>
          <p:nvPr/>
        </p:nvCxnSpPr>
        <p:spPr>
          <a:xfrm>
            <a:off x="8165592" y="4672584"/>
            <a:ext cx="0" cy="131673"/>
          </a:xfrm>
          <a:prstGeom prst="line">
            <a:avLst/>
          </a:prstGeom>
          <a:ln w="21590">
            <a:solidFill>
              <a:srgbClr val="C6532C"/>
            </a:solidFill>
          </a:ln>
        </p:spPr>
      </p:cxnSp>
      <p:sp>
        <p:nvSpPr>
          <p:cNvPr id="22" name="TextBox 21"/>
          <p:cNvSpPr txBox="1"/>
          <p:nvPr/>
        </p:nvSpPr>
        <p:spPr>
          <a:xfrm>
            <a:off x="7726679" y="5120640"/>
            <a:ext cx="1828800" cy="411480"/>
          </a:xfrm>
          <a:prstGeom prst="rect">
            <a:avLst/>
          </a:prstGeom>
          <a:noFill/>
        </p:spPr>
        <p:txBody>
          <a:bodyPr wrap="square" lIns="0" rIns="0" tIns="0" bIns="0">
            <a:spAutoFit/>
          </a:bodyPr>
          <a:lstStyle/>
          <a:p>
            <a:pPr>
              <a:spcAft>
                <a:spcPts val="600"/>
              </a:spcAft>
              <a:defRPr sz="1800" b="1">
                <a:solidFill>
                  <a:srgbClr val="171717"/>
                </a:solidFill>
                <a:latin typeface="Arial"/>
              </a:defRPr>
            </a:pPr>
            <a:r>
              <a:t>Hiring</a:t>
            </a:r>
          </a:p>
        </p:txBody>
      </p:sp>
      <p:cxnSp>
        <p:nvCxnSpPr>
          <p:cNvPr id="23" name="Connector 22"/>
          <p:cNvCxnSpPr/>
          <p:nvPr/>
        </p:nvCxnSpPr>
        <p:spPr>
          <a:xfrm>
            <a:off x="9645091" y="4507992"/>
            <a:ext cx="460857" cy="0"/>
          </a:xfrm>
          <a:prstGeom prst="line">
            <a:avLst/>
          </a:prstGeom>
          <a:ln w="21590">
            <a:solidFill>
              <a:srgbClr val="C6532C"/>
            </a:solidFill>
          </a:ln>
        </p:spPr>
      </p:cxnSp>
      <p:cxnSp>
        <p:nvCxnSpPr>
          <p:cNvPr id="24" name="Connector 23"/>
          <p:cNvCxnSpPr/>
          <p:nvPr/>
        </p:nvCxnSpPr>
        <p:spPr>
          <a:xfrm>
            <a:off x="10105948" y="4507992"/>
            <a:ext cx="0" cy="318211"/>
          </a:xfrm>
          <a:prstGeom prst="line">
            <a:avLst/>
          </a:prstGeom>
          <a:ln w="21590">
            <a:solidFill>
              <a:srgbClr val="C6532C"/>
            </a:solidFill>
          </a:ln>
        </p:spPr>
      </p:cxnSp>
      <p:cxnSp>
        <p:nvCxnSpPr>
          <p:cNvPr id="25" name="Connector 24"/>
          <p:cNvCxnSpPr/>
          <p:nvPr/>
        </p:nvCxnSpPr>
        <p:spPr>
          <a:xfrm flipH="1">
            <a:off x="9645091" y="4826203"/>
            <a:ext cx="460857" cy="0"/>
          </a:xfrm>
          <a:prstGeom prst="line">
            <a:avLst/>
          </a:prstGeom>
          <a:ln w="21590">
            <a:solidFill>
              <a:srgbClr val="C6532C"/>
            </a:solidFill>
          </a:ln>
        </p:spPr>
      </p:cxnSp>
      <p:cxnSp>
        <p:nvCxnSpPr>
          <p:cNvPr id="26" name="Connector 25"/>
          <p:cNvCxnSpPr/>
          <p:nvPr/>
        </p:nvCxnSpPr>
        <p:spPr>
          <a:xfrm flipV="1">
            <a:off x="9645091" y="4507992"/>
            <a:ext cx="0" cy="318211"/>
          </a:xfrm>
          <a:prstGeom prst="line">
            <a:avLst/>
          </a:prstGeom>
          <a:ln w="21590">
            <a:solidFill>
              <a:srgbClr val="C6532C"/>
            </a:solidFill>
          </a:ln>
        </p:spPr>
      </p:cxnSp>
      <p:cxnSp>
        <p:nvCxnSpPr>
          <p:cNvPr id="27" name="Connector 26"/>
          <p:cNvCxnSpPr/>
          <p:nvPr/>
        </p:nvCxnSpPr>
        <p:spPr>
          <a:xfrm flipV="1">
            <a:off x="9776764" y="4414723"/>
            <a:ext cx="0" cy="93269"/>
          </a:xfrm>
          <a:prstGeom prst="line">
            <a:avLst/>
          </a:prstGeom>
          <a:ln w="21590">
            <a:solidFill>
              <a:srgbClr val="C6532C"/>
            </a:solidFill>
          </a:ln>
        </p:spPr>
      </p:cxnSp>
      <p:cxnSp>
        <p:nvCxnSpPr>
          <p:cNvPr id="28" name="Connector 27"/>
          <p:cNvCxnSpPr/>
          <p:nvPr/>
        </p:nvCxnSpPr>
        <p:spPr>
          <a:xfrm>
            <a:off x="9776764" y="4414723"/>
            <a:ext cx="197511" cy="0"/>
          </a:xfrm>
          <a:prstGeom prst="line">
            <a:avLst/>
          </a:prstGeom>
          <a:ln w="21590">
            <a:solidFill>
              <a:srgbClr val="C6532C"/>
            </a:solidFill>
          </a:ln>
        </p:spPr>
      </p:cxnSp>
      <p:cxnSp>
        <p:nvCxnSpPr>
          <p:cNvPr id="29" name="Connector 28"/>
          <p:cNvCxnSpPr/>
          <p:nvPr/>
        </p:nvCxnSpPr>
        <p:spPr>
          <a:xfrm>
            <a:off x="9974275" y="4414723"/>
            <a:ext cx="0" cy="93269"/>
          </a:xfrm>
          <a:prstGeom prst="line">
            <a:avLst/>
          </a:prstGeom>
          <a:ln w="21590">
            <a:solidFill>
              <a:srgbClr val="C6532C"/>
            </a:solidFill>
          </a:ln>
        </p:spPr>
      </p:cxnSp>
      <p:cxnSp>
        <p:nvCxnSpPr>
          <p:cNvPr id="30" name="Connector 29"/>
          <p:cNvCxnSpPr/>
          <p:nvPr/>
        </p:nvCxnSpPr>
        <p:spPr>
          <a:xfrm>
            <a:off x="9645091" y="4628692"/>
            <a:ext cx="460857" cy="0"/>
          </a:xfrm>
          <a:prstGeom prst="line">
            <a:avLst/>
          </a:prstGeom>
          <a:ln w="21590">
            <a:solidFill>
              <a:srgbClr val="C6532C"/>
            </a:solidFill>
          </a:ln>
        </p:spPr>
      </p:cxnSp>
      <p:sp>
        <p:nvSpPr>
          <p:cNvPr id="31" name="TextBox 30"/>
          <p:cNvSpPr txBox="1"/>
          <p:nvPr/>
        </p:nvSpPr>
        <p:spPr>
          <a:xfrm>
            <a:off x="9601200" y="5120640"/>
            <a:ext cx="1828800" cy="411480"/>
          </a:xfrm>
          <a:prstGeom prst="rect">
            <a:avLst/>
          </a:prstGeom>
          <a:noFill/>
        </p:spPr>
        <p:txBody>
          <a:bodyPr wrap="square" lIns="0" rIns="0" tIns="0" bIns="0">
            <a:spAutoFit/>
          </a:bodyPr>
          <a:lstStyle/>
          <a:p>
            <a:pPr>
              <a:spcAft>
                <a:spcPts val="600"/>
              </a:spcAft>
              <a:defRPr sz="1800" b="1">
                <a:solidFill>
                  <a:srgbClr val="171717"/>
                </a:solidFill>
                <a:latin typeface="Arial"/>
              </a:defRPr>
            </a:pPr>
            <a:r>
              <a:t>Opportunities</a:t>
            </a:r>
          </a:p>
        </p:txBody>
      </p:sp>
      <p:sp>
        <p:nvSpPr>
          <p:cNvPr id="32" name="Rectangle 31"/>
          <p:cNvSpPr/>
          <p:nvPr/>
        </p:nvSpPr>
        <p:spPr>
          <a:xfrm>
            <a:off x="640080" y="5989320"/>
            <a:ext cx="10881360" cy="594360"/>
          </a:xfrm>
          <a:prstGeom prst="rect">
            <a:avLst/>
          </a:prstGeom>
          <a:solidFill>
            <a:srgbClr val="E7DECF"/>
          </a:solidFill>
          <a:ln>
            <a:noFill/>
          </a:ln>
        </p:spPr>
        <p:txBody>
          <a:bodyPr rtlCol="0" anchor="ctr"/>
          <a:lstStyle/>
          <a:p>
            <a:pPr algn="ctr"/>
          </a:p>
        </p:txBody>
      </p:sp>
      <p:sp>
        <p:nvSpPr>
          <p:cNvPr id="33" name="TextBox 32"/>
          <p:cNvSpPr txBox="1"/>
          <p:nvPr/>
        </p:nvSpPr>
        <p:spPr>
          <a:xfrm>
            <a:off x="822960" y="6144768"/>
            <a:ext cx="10515600" cy="320040"/>
          </a:xfrm>
          <a:prstGeom prst="rect">
            <a:avLst/>
          </a:prstGeom>
          <a:noFill/>
        </p:spPr>
        <p:txBody>
          <a:bodyPr wrap="square" lIns="0" rIns="0" tIns="0" bIns="0">
            <a:spAutoFit/>
          </a:bodyPr>
          <a:lstStyle/>
          <a:p>
            <a:pPr>
              <a:spcAft>
                <a:spcPts val="600"/>
              </a:spcAft>
              <a:defRPr sz="1700" b="0">
                <a:solidFill>
                  <a:srgbClr val="171717"/>
                </a:solidFill>
                <a:latin typeface="Arial"/>
              </a:defRPr>
            </a:pPr>
            <a:r>
              <a:t>Future option: project transaction fees — subject to validation and applicable rules.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TextBox 1"/>
          <p:cNvSpPr txBox="1"/>
          <p:nvPr/>
        </p:nvSpPr>
        <p:spPr>
          <a:xfrm>
            <a:off x="11292840" y="6428232"/>
            <a:ext cx="411480" cy="228600"/>
          </a:xfrm>
          <a:prstGeom prst="rect">
            <a:avLst/>
          </a:prstGeom>
          <a:noFill/>
        </p:spPr>
        <p:txBody>
          <a:bodyPr wrap="square" lIns="0" rIns="0" tIns="0" bIns="0">
            <a:spAutoFit/>
          </a:bodyPr>
          <a:lstStyle/>
          <a:p>
            <a:pPr>
              <a:spcAft>
                <a:spcPts val="600"/>
              </a:spcAft>
              <a:defRPr sz="1000" b="0">
                <a:solidFill>
                  <a:srgbClr val="655F56"/>
                </a:solidFill>
                <a:latin typeface="Arial"/>
              </a:defRPr>
            </a:pPr>
            <a:r>
              <a:t>10</a:t>
            </a:r>
          </a:p>
        </p:txBody>
      </p:sp>
      <p:sp>
        <p:nvSpPr>
          <p:cNvPr id="3" name="TextBox 2"/>
          <p:cNvSpPr txBox="1"/>
          <p:nvPr/>
        </p:nvSpPr>
        <p:spPr>
          <a:xfrm>
            <a:off x="594360" y="502920"/>
            <a:ext cx="10972800" cy="1371600"/>
          </a:xfrm>
          <a:prstGeom prst="rect">
            <a:avLst/>
          </a:prstGeom>
          <a:noFill/>
        </p:spPr>
        <p:txBody>
          <a:bodyPr wrap="square" lIns="0" rIns="0" tIns="0" bIns="0">
            <a:spAutoFit/>
          </a:bodyPr>
          <a:lstStyle/>
          <a:p>
            <a:pPr>
              <a:spcAft>
                <a:spcPts val="600"/>
              </a:spcAft>
              <a:defRPr sz="4300" b="1">
                <a:solidFill>
                  <a:srgbClr val="171717"/>
                </a:solidFill>
                <a:latin typeface="Arial"/>
              </a:defRPr>
            </a:pPr>
            <a:r>
              <a:t>One community. One pilot.</a:t>
            </a:r>
          </a:p>
          <a:p>
            <a:pPr>
              <a:spcAft>
                <a:spcPts val="600"/>
              </a:spcAft>
              <a:defRPr sz="4300" b="1">
                <a:solidFill>
                  <a:srgbClr val="171717"/>
                </a:solidFill>
                <a:latin typeface="Arial"/>
              </a:defRPr>
            </a:pPr>
            <a:r>
              <a:t>A reason to come back.</a:t>
            </a:r>
          </a:p>
        </p:txBody>
      </p:sp>
      <p:sp>
        <p:nvSpPr>
          <p:cNvPr id="4" name="TextBox 3"/>
          <p:cNvSpPr txBox="1"/>
          <p:nvPr/>
        </p:nvSpPr>
        <p:spPr>
          <a:xfrm>
            <a:off x="685800" y="2331720"/>
            <a:ext cx="3657600" cy="365760"/>
          </a:xfrm>
          <a:prstGeom prst="rect">
            <a:avLst/>
          </a:prstGeom>
          <a:noFill/>
        </p:spPr>
        <p:txBody>
          <a:bodyPr wrap="square" lIns="0" rIns="0" tIns="0" bIns="0">
            <a:spAutoFit/>
          </a:bodyPr>
          <a:lstStyle/>
          <a:p>
            <a:pPr>
              <a:spcAft>
                <a:spcPts val="600"/>
              </a:spcAft>
              <a:defRPr sz="1300" b="1">
                <a:solidFill>
                  <a:srgbClr val="C6532C"/>
                </a:solidFill>
                <a:latin typeface="Arial"/>
              </a:defRPr>
            </a:pPr>
            <a:r>
              <a:t>START IN PAKISTAN</a:t>
            </a:r>
          </a:p>
        </p:txBody>
      </p:sp>
      <p:sp>
        <p:nvSpPr>
          <p:cNvPr id="5" name="TextBox 4"/>
          <p:cNvSpPr txBox="1"/>
          <p:nvPr/>
        </p:nvSpPr>
        <p:spPr>
          <a:xfrm>
            <a:off x="685800" y="2944368"/>
            <a:ext cx="4023360" cy="2011680"/>
          </a:xfrm>
          <a:prstGeom prst="rect">
            <a:avLst/>
          </a:prstGeom>
          <a:noFill/>
        </p:spPr>
        <p:txBody>
          <a:bodyPr wrap="square" lIns="0" rIns="0" tIns="0" bIns="0">
            <a:spAutoFit/>
          </a:bodyPr>
          <a:lstStyle/>
          <a:p>
            <a:pPr>
              <a:spcAft>
                <a:spcPts val="600"/>
              </a:spcAft>
              <a:defRPr sz="2800" b="1">
                <a:solidFill>
                  <a:srgbClr val="171717"/>
                </a:solidFill>
                <a:latin typeface="Arial"/>
              </a:defRPr>
            </a:pPr>
            <a:r>
              <a:t>Developer communities</a:t>
            </a:r>
          </a:p>
          <a:p>
            <a:pPr>
              <a:spcAft>
                <a:spcPts val="600"/>
              </a:spcAft>
              <a:defRPr sz="2800" b="1">
                <a:solidFill>
                  <a:srgbClr val="171717"/>
                </a:solidFill>
                <a:latin typeface="Arial"/>
              </a:defRPr>
            </a:pPr>
            <a:r>
              <a:t>Education programs</a:t>
            </a:r>
          </a:p>
          <a:p>
            <a:pPr>
              <a:spcAft>
                <a:spcPts val="600"/>
              </a:spcAft>
              <a:defRPr sz="2800" b="1">
                <a:solidFill>
                  <a:srgbClr val="171717"/>
                </a:solidFill>
                <a:latin typeface="Arial"/>
              </a:defRPr>
            </a:pPr>
            <a:r>
              <a:t>Interested organizations</a:t>
            </a:r>
          </a:p>
        </p:txBody>
      </p:sp>
      <p:sp>
        <p:nvSpPr>
          <p:cNvPr id="6" name="TextBox 5"/>
          <p:cNvSpPr txBox="1"/>
          <p:nvPr/>
        </p:nvSpPr>
        <p:spPr>
          <a:xfrm>
            <a:off x="685800" y="5367528"/>
            <a:ext cx="4206240" cy="914400"/>
          </a:xfrm>
          <a:prstGeom prst="rect">
            <a:avLst/>
          </a:prstGeom>
          <a:noFill/>
        </p:spPr>
        <p:txBody>
          <a:bodyPr wrap="square" lIns="0" rIns="0" tIns="0" bIns="0">
            <a:spAutoFit/>
          </a:bodyPr>
          <a:lstStyle/>
          <a:p>
            <a:pPr>
              <a:spcAft>
                <a:spcPts val="600"/>
              </a:spcAft>
              <a:defRPr sz="2100" b="0">
                <a:solidFill>
                  <a:srgbClr val="655F56"/>
                </a:solidFill>
                <a:latin typeface="Arial"/>
              </a:defRPr>
            </a:pPr>
            <a:r>
              <a:t>Invite a small cohort around</a:t>
            </a:r>
          </a:p>
          <a:p>
            <a:pPr>
              <a:spcAft>
                <a:spcPts val="600"/>
              </a:spcAft>
              <a:defRPr sz="2100" b="0">
                <a:solidFill>
                  <a:srgbClr val="655F56"/>
                </a:solidFill>
                <a:latin typeface="Arial"/>
              </a:defRPr>
            </a:pPr>
            <a:r>
              <a:t>one practical challenge or project.</a:t>
            </a:r>
          </a:p>
        </p:txBody>
      </p:sp>
      <p:sp>
        <p:nvSpPr>
          <p:cNvPr id="7" name="Oval 6"/>
          <p:cNvSpPr/>
          <p:nvPr/>
        </p:nvSpPr>
        <p:spPr>
          <a:xfrm>
            <a:off x="5532120" y="2423160"/>
            <a:ext cx="457200" cy="457200"/>
          </a:xfrm>
          <a:prstGeom prst="ellipse">
            <a:avLst/>
          </a:prstGeom>
          <a:solidFill>
            <a:srgbClr val="C6532C"/>
          </a:solidFill>
          <a:ln>
            <a:noFill/>
          </a:ln>
        </p:spPr>
        <p:txBody>
          <a:bodyPr rtlCol="0" anchor="ctr"/>
          <a:lstStyle/>
          <a:p>
            <a:pPr algn="ctr"/>
          </a:p>
        </p:txBody>
      </p:sp>
      <p:sp>
        <p:nvSpPr>
          <p:cNvPr id="8" name="TextBox 7"/>
          <p:cNvSpPr txBox="1"/>
          <p:nvPr/>
        </p:nvSpPr>
        <p:spPr>
          <a:xfrm>
            <a:off x="5628132" y="2528316"/>
            <a:ext cx="365760" cy="274320"/>
          </a:xfrm>
          <a:prstGeom prst="rect">
            <a:avLst/>
          </a:prstGeom>
          <a:noFill/>
        </p:spPr>
        <p:txBody>
          <a:bodyPr wrap="square" lIns="0" rIns="0" tIns="0" bIns="0">
            <a:spAutoFit/>
          </a:bodyPr>
          <a:lstStyle/>
          <a:p>
            <a:pPr>
              <a:spcAft>
                <a:spcPts val="600"/>
              </a:spcAft>
              <a:defRPr sz="1300" b="1">
                <a:solidFill>
                  <a:srgbClr val="F5F0E6"/>
                </a:solidFill>
                <a:latin typeface="Arial"/>
              </a:defRPr>
            </a:pPr>
            <a:r>
              <a:t>01</a:t>
            </a:r>
          </a:p>
        </p:txBody>
      </p:sp>
      <p:sp>
        <p:nvSpPr>
          <p:cNvPr id="9" name="TextBox 8"/>
          <p:cNvSpPr txBox="1"/>
          <p:nvPr/>
        </p:nvSpPr>
        <p:spPr>
          <a:xfrm>
            <a:off x="5504688" y="3054096"/>
            <a:ext cx="2834640" cy="731520"/>
          </a:xfrm>
          <a:prstGeom prst="rect">
            <a:avLst/>
          </a:prstGeom>
          <a:noFill/>
        </p:spPr>
        <p:txBody>
          <a:bodyPr wrap="square" lIns="0" rIns="0" tIns="0" bIns="0">
            <a:spAutoFit/>
          </a:bodyPr>
          <a:lstStyle/>
          <a:p>
            <a:pPr>
              <a:spcAft>
                <a:spcPts val="600"/>
              </a:spcAft>
              <a:defRPr sz="2200" b="1">
                <a:solidFill>
                  <a:srgbClr val="171717"/>
                </a:solidFill>
                <a:latin typeface="Arial"/>
              </a:defRPr>
            </a:pPr>
            <a:r>
              <a:t>Recruit a pilot</a:t>
            </a:r>
          </a:p>
        </p:txBody>
      </p:sp>
      <p:sp>
        <p:nvSpPr>
          <p:cNvPr id="10" name="TextBox 9"/>
          <p:cNvSpPr txBox="1"/>
          <p:nvPr/>
        </p:nvSpPr>
        <p:spPr>
          <a:xfrm>
            <a:off x="5504688" y="3703320"/>
            <a:ext cx="2880360" cy="457200"/>
          </a:xfrm>
          <a:prstGeom prst="rect">
            <a:avLst/>
          </a:prstGeom>
          <a:noFill/>
        </p:spPr>
        <p:txBody>
          <a:bodyPr wrap="square" lIns="0" rIns="0" tIns="0" bIns="0">
            <a:spAutoFit/>
          </a:bodyPr>
          <a:lstStyle/>
          <a:p>
            <a:pPr>
              <a:spcAft>
                <a:spcPts val="600"/>
              </a:spcAft>
              <a:defRPr sz="1600" b="0">
                <a:solidFill>
                  <a:srgbClr val="655F56"/>
                </a:solidFill>
                <a:latin typeface="Arial"/>
              </a:defRPr>
            </a:pPr>
            <a:r>
              <a:t>One issuer or company</a:t>
            </a:r>
          </a:p>
        </p:txBody>
      </p:sp>
      <p:sp>
        <p:nvSpPr>
          <p:cNvPr id="11" name="Oval 10"/>
          <p:cNvSpPr/>
          <p:nvPr/>
        </p:nvSpPr>
        <p:spPr>
          <a:xfrm>
            <a:off x="8869680" y="2971800"/>
            <a:ext cx="457200" cy="457200"/>
          </a:xfrm>
          <a:prstGeom prst="ellipse">
            <a:avLst/>
          </a:prstGeom>
          <a:solidFill>
            <a:srgbClr val="C6532C"/>
          </a:solidFill>
          <a:ln>
            <a:noFill/>
          </a:ln>
        </p:spPr>
        <p:txBody>
          <a:bodyPr rtlCol="0" anchor="ctr"/>
          <a:lstStyle/>
          <a:p>
            <a:pPr algn="ctr"/>
          </a:p>
        </p:txBody>
      </p:sp>
      <p:sp>
        <p:nvSpPr>
          <p:cNvPr id="12" name="TextBox 11"/>
          <p:cNvSpPr txBox="1"/>
          <p:nvPr/>
        </p:nvSpPr>
        <p:spPr>
          <a:xfrm>
            <a:off x="8965692" y="3076956"/>
            <a:ext cx="365760" cy="274320"/>
          </a:xfrm>
          <a:prstGeom prst="rect">
            <a:avLst/>
          </a:prstGeom>
          <a:noFill/>
        </p:spPr>
        <p:txBody>
          <a:bodyPr wrap="square" lIns="0" rIns="0" tIns="0" bIns="0">
            <a:spAutoFit/>
          </a:bodyPr>
          <a:lstStyle/>
          <a:p>
            <a:pPr>
              <a:spcAft>
                <a:spcPts val="600"/>
              </a:spcAft>
              <a:defRPr sz="1300" b="1">
                <a:solidFill>
                  <a:srgbClr val="F5F0E6"/>
                </a:solidFill>
                <a:latin typeface="Arial"/>
              </a:defRPr>
            </a:pPr>
            <a:r>
              <a:t>02</a:t>
            </a:r>
          </a:p>
        </p:txBody>
      </p:sp>
      <p:sp>
        <p:nvSpPr>
          <p:cNvPr id="13" name="TextBox 12"/>
          <p:cNvSpPr txBox="1"/>
          <p:nvPr/>
        </p:nvSpPr>
        <p:spPr>
          <a:xfrm>
            <a:off x="8842248" y="3602736"/>
            <a:ext cx="2834640" cy="731520"/>
          </a:xfrm>
          <a:prstGeom prst="rect">
            <a:avLst/>
          </a:prstGeom>
          <a:noFill/>
        </p:spPr>
        <p:txBody>
          <a:bodyPr wrap="square" lIns="0" rIns="0" tIns="0" bIns="0">
            <a:spAutoFit/>
          </a:bodyPr>
          <a:lstStyle/>
          <a:p>
            <a:pPr>
              <a:spcAft>
                <a:spcPts val="600"/>
              </a:spcAft>
              <a:defRPr sz="2200" b="1">
                <a:solidFill>
                  <a:srgbClr val="171717"/>
                </a:solidFill>
                <a:latin typeface="Arial"/>
              </a:defRPr>
            </a:pPr>
            <a:r>
              <a:t>Complete a journey</a:t>
            </a:r>
          </a:p>
        </p:txBody>
      </p:sp>
      <p:sp>
        <p:nvSpPr>
          <p:cNvPr id="14" name="TextBox 13"/>
          <p:cNvSpPr txBox="1"/>
          <p:nvPr/>
        </p:nvSpPr>
        <p:spPr>
          <a:xfrm>
            <a:off x="8842248" y="4251960"/>
            <a:ext cx="2880360" cy="457200"/>
          </a:xfrm>
          <a:prstGeom prst="rect">
            <a:avLst/>
          </a:prstGeom>
          <a:noFill/>
        </p:spPr>
        <p:txBody>
          <a:bodyPr wrap="square" lIns="0" rIns="0" tIns="0" bIns="0">
            <a:spAutoFit/>
          </a:bodyPr>
          <a:lstStyle/>
          <a:p>
            <a:pPr>
              <a:spcAft>
                <a:spcPts val="600"/>
              </a:spcAft>
              <a:defRPr sz="1600" b="0">
                <a:solidFill>
                  <a:srgbClr val="655F56"/>
                </a:solidFill>
                <a:latin typeface="Arial"/>
              </a:defRPr>
            </a:pPr>
            <a:r>
              <a:t>Work + review + recognition</a:t>
            </a:r>
          </a:p>
        </p:txBody>
      </p:sp>
      <p:sp>
        <p:nvSpPr>
          <p:cNvPr id="15" name="Oval 14"/>
          <p:cNvSpPr/>
          <p:nvPr/>
        </p:nvSpPr>
        <p:spPr>
          <a:xfrm>
            <a:off x="8183879" y="5010912"/>
            <a:ext cx="457200" cy="457200"/>
          </a:xfrm>
          <a:prstGeom prst="ellipse">
            <a:avLst/>
          </a:prstGeom>
          <a:solidFill>
            <a:srgbClr val="C6532C"/>
          </a:solidFill>
          <a:ln>
            <a:noFill/>
          </a:ln>
        </p:spPr>
        <p:txBody>
          <a:bodyPr rtlCol="0" anchor="ctr"/>
          <a:lstStyle/>
          <a:p>
            <a:pPr algn="ctr"/>
          </a:p>
        </p:txBody>
      </p:sp>
      <p:sp>
        <p:nvSpPr>
          <p:cNvPr id="16" name="TextBox 15"/>
          <p:cNvSpPr txBox="1"/>
          <p:nvPr/>
        </p:nvSpPr>
        <p:spPr>
          <a:xfrm>
            <a:off x="8279892" y="5116068"/>
            <a:ext cx="365760" cy="274320"/>
          </a:xfrm>
          <a:prstGeom prst="rect">
            <a:avLst/>
          </a:prstGeom>
          <a:noFill/>
        </p:spPr>
        <p:txBody>
          <a:bodyPr wrap="square" lIns="0" rIns="0" tIns="0" bIns="0">
            <a:spAutoFit/>
          </a:bodyPr>
          <a:lstStyle/>
          <a:p>
            <a:pPr>
              <a:spcAft>
                <a:spcPts val="600"/>
              </a:spcAft>
              <a:defRPr sz="1300" b="1">
                <a:solidFill>
                  <a:srgbClr val="F5F0E6"/>
                </a:solidFill>
                <a:latin typeface="Arial"/>
              </a:defRPr>
            </a:pPr>
            <a:r>
              <a:t>03</a:t>
            </a:r>
          </a:p>
        </p:txBody>
      </p:sp>
      <p:sp>
        <p:nvSpPr>
          <p:cNvPr id="17" name="TextBox 16"/>
          <p:cNvSpPr txBox="1"/>
          <p:nvPr/>
        </p:nvSpPr>
        <p:spPr>
          <a:xfrm>
            <a:off x="8156448" y="5641848"/>
            <a:ext cx="2834640" cy="731520"/>
          </a:xfrm>
          <a:prstGeom prst="rect">
            <a:avLst/>
          </a:prstGeom>
          <a:noFill/>
        </p:spPr>
        <p:txBody>
          <a:bodyPr wrap="square" lIns="0" rIns="0" tIns="0" bIns="0">
            <a:spAutoFit/>
          </a:bodyPr>
          <a:lstStyle/>
          <a:p>
            <a:pPr>
              <a:spcAft>
                <a:spcPts val="600"/>
              </a:spcAft>
              <a:defRPr sz="2200" b="1">
                <a:solidFill>
                  <a:srgbClr val="171717"/>
                </a:solidFill>
                <a:latin typeface="Arial"/>
              </a:defRPr>
            </a:pPr>
            <a:r>
              <a:t>Reuse the record</a:t>
            </a:r>
          </a:p>
        </p:txBody>
      </p:sp>
      <p:sp>
        <p:nvSpPr>
          <p:cNvPr id="18" name="TextBox 17"/>
          <p:cNvSpPr txBox="1"/>
          <p:nvPr/>
        </p:nvSpPr>
        <p:spPr>
          <a:xfrm>
            <a:off x="8156448" y="6291072"/>
            <a:ext cx="2880360" cy="457200"/>
          </a:xfrm>
          <a:prstGeom prst="rect">
            <a:avLst/>
          </a:prstGeom>
          <a:noFill/>
        </p:spPr>
        <p:txBody>
          <a:bodyPr wrap="square" lIns="0" rIns="0" tIns="0" bIns="0">
            <a:spAutoFit/>
          </a:bodyPr>
          <a:lstStyle/>
          <a:p>
            <a:pPr>
              <a:spcAft>
                <a:spcPts val="600"/>
              </a:spcAft>
              <a:defRPr sz="1600" b="0">
                <a:solidFill>
                  <a:srgbClr val="655F56"/>
                </a:solidFill>
                <a:latin typeface="Arial"/>
              </a:defRPr>
            </a:pPr>
            <a:r>
              <a:t>Share it for the next role</a:t>
            </a:r>
          </a:p>
        </p:txBody>
      </p:sp>
      <p:sp>
        <p:nvSpPr>
          <p:cNvPr id="19" name="Oval 18"/>
          <p:cNvSpPr/>
          <p:nvPr/>
        </p:nvSpPr>
        <p:spPr>
          <a:xfrm>
            <a:off x="5120640" y="4572000"/>
            <a:ext cx="457200" cy="457200"/>
          </a:xfrm>
          <a:prstGeom prst="ellipse">
            <a:avLst/>
          </a:prstGeom>
          <a:solidFill>
            <a:srgbClr val="C6532C"/>
          </a:solidFill>
          <a:ln>
            <a:noFill/>
          </a:ln>
        </p:spPr>
        <p:txBody>
          <a:bodyPr rtlCol="0" anchor="ctr"/>
          <a:lstStyle/>
          <a:p>
            <a:pPr algn="ctr"/>
          </a:p>
        </p:txBody>
      </p:sp>
      <p:sp>
        <p:nvSpPr>
          <p:cNvPr id="20" name="TextBox 19"/>
          <p:cNvSpPr txBox="1"/>
          <p:nvPr/>
        </p:nvSpPr>
        <p:spPr>
          <a:xfrm>
            <a:off x="5216652" y="4677156"/>
            <a:ext cx="365760" cy="274320"/>
          </a:xfrm>
          <a:prstGeom prst="rect">
            <a:avLst/>
          </a:prstGeom>
          <a:noFill/>
        </p:spPr>
        <p:txBody>
          <a:bodyPr wrap="square" lIns="0" rIns="0" tIns="0" bIns="0">
            <a:spAutoFit/>
          </a:bodyPr>
          <a:lstStyle/>
          <a:p>
            <a:pPr>
              <a:spcAft>
                <a:spcPts val="600"/>
              </a:spcAft>
              <a:defRPr sz="1300" b="1">
                <a:solidFill>
                  <a:srgbClr val="F5F0E6"/>
                </a:solidFill>
                <a:latin typeface="Arial"/>
              </a:defRPr>
            </a:pPr>
            <a:r>
              <a:t>04</a:t>
            </a:r>
          </a:p>
        </p:txBody>
      </p:sp>
      <p:sp>
        <p:nvSpPr>
          <p:cNvPr id="21" name="TextBox 20"/>
          <p:cNvSpPr txBox="1"/>
          <p:nvPr/>
        </p:nvSpPr>
        <p:spPr>
          <a:xfrm>
            <a:off x="5093207" y="5202936"/>
            <a:ext cx="2834640" cy="731520"/>
          </a:xfrm>
          <a:prstGeom prst="rect">
            <a:avLst/>
          </a:prstGeom>
          <a:noFill/>
        </p:spPr>
        <p:txBody>
          <a:bodyPr wrap="square" lIns="0" rIns="0" tIns="0" bIns="0">
            <a:spAutoFit/>
          </a:bodyPr>
          <a:lstStyle/>
          <a:p>
            <a:pPr>
              <a:spcAft>
                <a:spcPts val="600"/>
              </a:spcAft>
              <a:defRPr sz="2200" b="1">
                <a:solidFill>
                  <a:srgbClr val="171717"/>
                </a:solidFill>
                <a:latin typeface="Arial"/>
              </a:defRPr>
            </a:pPr>
            <a:r>
              <a:t>Improve &amp; repeat</a:t>
            </a:r>
          </a:p>
        </p:txBody>
      </p:sp>
      <p:sp>
        <p:nvSpPr>
          <p:cNvPr id="22" name="TextBox 21"/>
          <p:cNvSpPr txBox="1"/>
          <p:nvPr/>
        </p:nvSpPr>
        <p:spPr>
          <a:xfrm>
            <a:off x="5093207" y="5852160"/>
            <a:ext cx="2880360" cy="457200"/>
          </a:xfrm>
          <a:prstGeom prst="rect">
            <a:avLst/>
          </a:prstGeom>
          <a:noFill/>
        </p:spPr>
        <p:txBody>
          <a:bodyPr wrap="square" lIns="0" rIns="0" tIns="0" bIns="0">
            <a:spAutoFit/>
          </a:bodyPr>
          <a:lstStyle/>
          <a:p>
            <a:pPr>
              <a:spcAft>
                <a:spcPts val="600"/>
              </a:spcAft>
              <a:defRPr sz="1600" b="0">
                <a:solidFill>
                  <a:srgbClr val="655F56"/>
                </a:solidFill>
                <a:latin typeface="Arial"/>
              </a:defRPr>
            </a:pPr>
            <a:r>
              <a:t>Use feedback to refine</a:t>
            </a:r>
          </a:p>
        </p:txBody>
      </p:sp>
      <p:sp>
        <p:nvSpPr>
          <p:cNvPr id="23" name="TextBox 22"/>
          <p:cNvSpPr txBox="1"/>
          <p:nvPr/>
        </p:nvSpPr>
        <p:spPr>
          <a:xfrm>
            <a:off x="7818120" y="2651760"/>
            <a:ext cx="548640" cy="548640"/>
          </a:xfrm>
          <a:prstGeom prst="rect">
            <a:avLst/>
          </a:prstGeom>
          <a:noFill/>
        </p:spPr>
        <p:txBody>
          <a:bodyPr wrap="square" lIns="0" rIns="0" tIns="0" bIns="0">
            <a:spAutoFit/>
          </a:bodyPr>
          <a:lstStyle/>
          <a:p>
            <a:pPr>
              <a:spcAft>
                <a:spcPts val="600"/>
              </a:spcAft>
              <a:defRPr sz="3000" b="1">
                <a:solidFill>
                  <a:srgbClr val="C6532C"/>
                </a:solidFill>
                <a:latin typeface="Arial"/>
              </a:defRPr>
            </a:pPr>
            <a:r>
              <a:t>→</a:t>
            </a:r>
          </a:p>
        </p:txBody>
      </p:sp>
      <p:sp>
        <p:nvSpPr>
          <p:cNvPr id="24" name="TextBox 23"/>
          <p:cNvSpPr txBox="1"/>
          <p:nvPr/>
        </p:nvSpPr>
        <p:spPr>
          <a:xfrm>
            <a:off x="10469880" y="4690872"/>
            <a:ext cx="548640" cy="548640"/>
          </a:xfrm>
          <a:prstGeom prst="rect">
            <a:avLst/>
          </a:prstGeom>
          <a:noFill/>
        </p:spPr>
        <p:txBody>
          <a:bodyPr wrap="square" lIns="0" rIns="0" tIns="0" bIns="0">
            <a:spAutoFit/>
          </a:bodyPr>
          <a:lstStyle/>
          <a:p>
            <a:pPr>
              <a:spcAft>
                <a:spcPts val="600"/>
              </a:spcAft>
              <a:defRPr sz="3000" b="1">
                <a:solidFill>
                  <a:srgbClr val="C6532C"/>
                </a:solidFill>
                <a:latin typeface="Arial"/>
              </a:defRPr>
            </a:pPr>
            <a:r>
              <a:t>↓</a:t>
            </a:r>
          </a:p>
        </p:txBody>
      </p:sp>
      <p:sp>
        <p:nvSpPr>
          <p:cNvPr id="25" name="TextBox 24"/>
          <p:cNvSpPr txBox="1"/>
          <p:nvPr/>
        </p:nvSpPr>
        <p:spPr>
          <a:xfrm>
            <a:off x="7543800" y="5559552"/>
            <a:ext cx="548640" cy="548640"/>
          </a:xfrm>
          <a:prstGeom prst="rect">
            <a:avLst/>
          </a:prstGeom>
          <a:noFill/>
        </p:spPr>
        <p:txBody>
          <a:bodyPr wrap="square" lIns="0" rIns="0" tIns="0" bIns="0">
            <a:spAutoFit/>
          </a:bodyPr>
          <a:lstStyle/>
          <a:p>
            <a:pPr>
              <a:spcAft>
                <a:spcPts val="600"/>
              </a:spcAft>
              <a:defRPr sz="3000" b="1">
                <a:solidFill>
                  <a:srgbClr val="C6532C"/>
                </a:solidFill>
                <a:latin typeface="Arial"/>
              </a:defRPr>
            </a:pPr>
            <a:r>
              <a:t>←</a:t>
            </a:r>
          </a:p>
        </p:txBody>
      </p:sp>
      <p:sp>
        <p:nvSpPr>
          <p:cNvPr id="26" name="TextBox 25"/>
          <p:cNvSpPr txBox="1"/>
          <p:nvPr/>
        </p:nvSpPr>
        <p:spPr>
          <a:xfrm>
            <a:off x="4983480" y="3840480"/>
            <a:ext cx="548640" cy="548640"/>
          </a:xfrm>
          <a:prstGeom prst="rect">
            <a:avLst/>
          </a:prstGeom>
          <a:noFill/>
        </p:spPr>
        <p:txBody>
          <a:bodyPr wrap="square" lIns="0" rIns="0" tIns="0" bIns="0">
            <a:spAutoFit/>
          </a:bodyPr>
          <a:lstStyle/>
          <a:p>
            <a:pPr>
              <a:spcAft>
                <a:spcPts val="600"/>
              </a:spcAft>
              <a:defRPr sz="3000" b="1">
                <a:solidFill>
                  <a:srgbClr val="C6532C"/>
                </a:solidFill>
                <a:latin typeface="Arial"/>
              </a:defRPr>
            </a:pPr>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1717"/>
        </a:solidFill>
        <a:effectLst/>
      </p:bgPr>
    </p:bg>
    <p:spTree>
      <p:nvGrpSpPr>
        <p:cNvPr id="1" name=""/>
        <p:cNvGrpSpPr/>
        <p:nvPr/>
      </p:nvGrpSpPr>
      <p:grpSpPr/>
      <p:sp>
        <p:nvSpPr>
          <p:cNvPr id="2" name="TextBox 1"/>
          <p:cNvSpPr txBox="1"/>
          <p:nvPr/>
        </p:nvSpPr>
        <p:spPr>
          <a:xfrm>
            <a:off x="11292840" y="6428232"/>
            <a:ext cx="411480" cy="228600"/>
          </a:xfrm>
          <a:prstGeom prst="rect">
            <a:avLst/>
          </a:prstGeom>
          <a:noFill/>
        </p:spPr>
        <p:txBody>
          <a:bodyPr wrap="square" lIns="0" rIns="0" tIns="0" bIns="0">
            <a:spAutoFit/>
          </a:bodyPr>
          <a:lstStyle/>
          <a:p>
            <a:pPr>
              <a:spcAft>
                <a:spcPts val="600"/>
              </a:spcAft>
              <a:defRPr sz="1000" b="0">
                <a:solidFill>
                  <a:srgbClr val="B5AA9A"/>
                </a:solidFill>
                <a:latin typeface="Arial"/>
              </a:defRPr>
            </a:pPr>
            <a:r>
              <a:t>11</a:t>
            </a:r>
          </a:p>
        </p:txBody>
      </p:sp>
      <p:pic>
        <p:nvPicPr>
          <p:cNvPr id="3" name="Picture 2" descr="brand.png"/>
          <p:cNvPicPr>
            <a:picLocks noChangeAspect="1"/>
          </p:cNvPicPr>
          <p:nvPr/>
        </p:nvPicPr>
        <p:blipFill>
          <a:blip r:embed="rId2"/>
          <a:stretch>
            <a:fillRect/>
          </a:stretch>
        </p:blipFill>
        <p:spPr>
          <a:xfrm>
            <a:off x="643297" y="502920"/>
            <a:ext cx="341037" cy="347472"/>
          </a:xfrm>
          <a:prstGeom prst="rect">
            <a:avLst/>
          </a:prstGeom>
        </p:spPr>
      </p:pic>
      <p:sp>
        <p:nvSpPr>
          <p:cNvPr id="4" name="TextBox 3"/>
          <p:cNvSpPr txBox="1"/>
          <p:nvPr/>
        </p:nvSpPr>
        <p:spPr>
          <a:xfrm>
            <a:off x="1088136" y="498348"/>
            <a:ext cx="1645920" cy="411480"/>
          </a:xfrm>
          <a:prstGeom prst="rect">
            <a:avLst/>
          </a:prstGeom>
          <a:noFill/>
        </p:spPr>
        <p:txBody>
          <a:bodyPr wrap="square" lIns="0" rIns="0" tIns="0" bIns="0">
            <a:spAutoFit/>
          </a:bodyPr>
          <a:lstStyle/>
          <a:p>
            <a:pPr>
              <a:spcAft>
                <a:spcPts val="600"/>
              </a:spcAft>
              <a:defRPr sz="2200" b="1">
                <a:solidFill>
                  <a:srgbClr val="F5F0E6"/>
                </a:solidFill>
                <a:latin typeface="Arial"/>
              </a:defRPr>
            </a:pPr>
            <a:r>
              <a:t>ProofPak</a:t>
            </a:r>
          </a:p>
        </p:txBody>
      </p:sp>
      <p:sp>
        <p:nvSpPr>
          <p:cNvPr id="5" name="TextBox 4"/>
          <p:cNvSpPr txBox="1"/>
          <p:nvPr/>
        </p:nvSpPr>
        <p:spPr>
          <a:xfrm>
            <a:off x="640080" y="1417320"/>
            <a:ext cx="10972800" cy="1737360"/>
          </a:xfrm>
          <a:prstGeom prst="rect">
            <a:avLst/>
          </a:prstGeom>
          <a:noFill/>
        </p:spPr>
        <p:txBody>
          <a:bodyPr wrap="square" lIns="0" rIns="0" tIns="0" bIns="0">
            <a:spAutoFit/>
          </a:bodyPr>
          <a:lstStyle/>
          <a:p>
            <a:pPr>
              <a:spcAft>
                <a:spcPts val="600"/>
              </a:spcAft>
              <a:defRPr sz="5300" b="1">
                <a:solidFill>
                  <a:srgbClr val="F5F0E6"/>
                </a:solidFill>
                <a:latin typeface="Arial"/>
              </a:defRPr>
            </a:pPr>
            <a:r>
              <a:t>Your work should</a:t>
            </a:r>
          </a:p>
          <a:p>
            <a:pPr>
              <a:spcAft>
                <a:spcPts val="600"/>
              </a:spcAft>
              <a:defRPr sz="5300" b="1">
                <a:solidFill>
                  <a:srgbClr val="F5F0E6"/>
                </a:solidFill>
                <a:latin typeface="Arial"/>
              </a:defRPr>
            </a:pPr>
            <a:r>
              <a:t>build your reputation.</a:t>
            </a:r>
          </a:p>
        </p:txBody>
      </p:sp>
      <p:cxnSp>
        <p:nvCxnSpPr>
          <p:cNvPr id="6" name="Connector 5"/>
          <p:cNvCxnSpPr/>
          <p:nvPr/>
        </p:nvCxnSpPr>
        <p:spPr>
          <a:xfrm>
            <a:off x="685800" y="3502152"/>
            <a:ext cx="1188719" cy="0"/>
          </a:xfrm>
          <a:prstGeom prst="line">
            <a:avLst/>
          </a:prstGeom>
          <a:ln w="63500">
            <a:solidFill>
              <a:srgbClr val="C6532C"/>
            </a:solidFill>
          </a:ln>
        </p:spPr>
      </p:cxnSp>
      <p:sp>
        <p:nvSpPr>
          <p:cNvPr id="7" name="TextBox 6"/>
          <p:cNvSpPr txBox="1"/>
          <p:nvPr/>
        </p:nvSpPr>
        <p:spPr>
          <a:xfrm>
            <a:off x="685800" y="3822191"/>
            <a:ext cx="10698480" cy="1097280"/>
          </a:xfrm>
          <a:prstGeom prst="rect">
            <a:avLst/>
          </a:prstGeom>
          <a:noFill/>
        </p:spPr>
        <p:txBody>
          <a:bodyPr wrap="square" lIns="0" rIns="0" tIns="0" bIns="0">
            <a:spAutoFit/>
          </a:bodyPr>
          <a:lstStyle/>
          <a:p>
            <a:pPr>
              <a:spcAft>
                <a:spcPts val="600"/>
              </a:spcAft>
              <a:defRPr sz="2900" b="0">
                <a:solidFill>
                  <a:srgbClr val="F5F0E6"/>
                </a:solidFill>
                <a:latin typeface="Arial"/>
              </a:defRPr>
            </a:pPr>
            <a:r>
              <a:t>A Skill Passport that grows with every</a:t>
            </a:r>
          </a:p>
          <a:p>
            <a:pPr>
              <a:spcAft>
                <a:spcPts val="600"/>
              </a:spcAft>
              <a:defRPr sz="2900" b="0">
                <a:solidFill>
                  <a:srgbClr val="F5F0E6"/>
                </a:solidFill>
                <a:latin typeface="Arial"/>
              </a:defRPr>
            </a:pPr>
            <a:r>
              <a:t>project, credential, and achievement.</a:t>
            </a:r>
          </a:p>
        </p:txBody>
      </p:sp>
      <p:sp>
        <p:nvSpPr>
          <p:cNvPr id="8" name="TextBox 7"/>
          <p:cNvSpPr txBox="1"/>
          <p:nvPr/>
        </p:nvSpPr>
        <p:spPr>
          <a:xfrm>
            <a:off x="685800" y="5422392"/>
            <a:ext cx="10789920" cy="457200"/>
          </a:xfrm>
          <a:prstGeom prst="rect">
            <a:avLst/>
          </a:prstGeom>
          <a:noFill/>
        </p:spPr>
        <p:txBody>
          <a:bodyPr wrap="square" lIns="0" rIns="0" tIns="0" bIns="0">
            <a:spAutoFit/>
          </a:bodyPr>
          <a:lstStyle/>
          <a:p>
            <a:pPr>
              <a:spcAft>
                <a:spcPts val="600"/>
              </a:spcAft>
              <a:defRPr sz="1800" b="0">
                <a:solidFill>
                  <a:srgbClr val="B9AE9E"/>
                </a:solidFill>
                <a:latin typeface="Arial"/>
              </a:defRPr>
            </a:pPr>
            <a:r>
              <a:t>Next: real-user testing  →  company + issuer pilots  →  wider support</a:t>
            </a:r>
          </a:p>
        </p:txBody>
      </p:sp>
      <p:sp>
        <p:nvSpPr>
          <p:cNvPr id="9" name="TextBox 8"/>
          <p:cNvSpPr txBox="1"/>
          <p:nvPr/>
        </p:nvSpPr>
        <p:spPr>
          <a:xfrm>
            <a:off x="685800" y="5989320"/>
            <a:ext cx="2926080" cy="640080"/>
          </a:xfrm>
          <a:prstGeom prst="rect">
            <a:avLst/>
          </a:prstGeom>
          <a:noFill/>
        </p:spPr>
        <p:txBody>
          <a:bodyPr wrap="square" lIns="0" rIns="0" tIns="0" bIns="0">
            <a:spAutoFit/>
          </a:bodyPr>
          <a:lstStyle/>
          <a:p>
            <a:pPr>
              <a:spcAft>
                <a:spcPts val="600"/>
              </a:spcAft>
              <a:defRPr sz="3800" b="1">
                <a:solidFill>
                  <a:srgbClr val="F5F0E6"/>
                </a:solidFill>
                <a:latin typeface="Arial"/>
              </a:defRPr>
            </a:pPr>
            <a:r>
              <a:t>ProofPak</a:t>
            </a:r>
          </a:p>
        </p:txBody>
      </p:sp>
      <p:sp>
        <p:nvSpPr>
          <p:cNvPr id="10" name="TextBox 9"/>
          <p:cNvSpPr txBox="1"/>
          <p:nvPr/>
        </p:nvSpPr>
        <p:spPr>
          <a:xfrm>
            <a:off x="3886200" y="5943600"/>
            <a:ext cx="7315200" cy="822960"/>
          </a:xfrm>
          <a:prstGeom prst="rect">
            <a:avLst/>
          </a:prstGeom>
          <a:noFill/>
        </p:spPr>
        <p:txBody>
          <a:bodyPr wrap="square" lIns="0" rIns="0" tIns="0" bIns="0">
            <a:spAutoFit/>
          </a:bodyPr>
          <a:lstStyle/>
          <a:p>
            <a:pPr>
              <a:spcAft>
                <a:spcPts val="600"/>
              </a:spcAft>
              <a:defRPr sz="2500" b="1">
                <a:solidFill>
                  <a:srgbClr val="F5F0E6"/>
                </a:solidFill>
                <a:latin typeface="Arial"/>
              </a:defRPr>
            </a:pPr>
            <a:r>
              <a:t>Prove your skills. Get work.</a:t>
            </a:r>
          </a:p>
          <a:p>
            <a:pPr>
              <a:spcAft>
                <a:spcPts val="600"/>
              </a:spcAft>
              <a:defRPr sz="2500" b="1">
                <a:solidFill>
                  <a:srgbClr val="F5F0E6"/>
                </a:solidFill>
                <a:latin typeface="Arial"/>
              </a:defRPr>
            </a:pPr>
            <a:r>
              <a:t>Build your reputation.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