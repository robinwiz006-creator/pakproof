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is one place to show your skills, prove your work, find opportunities, and get paid. We start with a Skill Passport that grows with you.</a:t>
            </a:r>
          </a:p>
          <a:p/>
          <a:p>
            <a:r>
              <a:t>Target: 12 seconds. Screenshot: existing website marketing component, explicitly illustrative; not a real user or award.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applying for your next role. Your CV is one file, project links are somewhere else, and certificates sit in email. You collect and send the same evidence again. The employer still has to ask who issued it and what work you actually completed. Good work gets lost between all those places.</a:t>
            </a:r>
          </a:p>
          <a:p/>
          <a:p>
            <a:r>
              <a:t>Target: 25 seconds. Diagram represents common user activities; no market statistics or research findings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brings that picture into one shareable Skill Passport. Show your skills, projects and experience. Add evidence, while keeping your own claims separate from organization-issued credentials. Then find opportunities and build a record of completed work. This is the actual running product with demo data. You choose what to make public and share.</a:t>
            </a:r>
          </a:p>
          <a:p/>
          <a:p>
            <a:r>
              <a:t>Target: 25 seconds. Source: src/components/passport-view.tsx; src/lib/credential-actions.ts. Demo screenshot contains no issued credential or blockchain proof.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creating your Passport and adding work with supporting evidence. Find a challenge or paid project that fits. For paid projects, both sides agree on milestones before the work starts. Submit your work, receive a review, and use the supported payment flow. An authorized organization may separately issue a credential. A payment never creates one automatically. Each step can add context to your growing professional record.</a:t>
            </a:r>
          </a:p>
          <a:p/>
          <a:p>
            <a:r>
              <a:t>Target: 30 seconds. Source: docs/PAYMENTS-MVP.md; docs/CREDENTIALS-WALLETS-DELIVERY.md. Credential acceptance and publication require separate recipient choices. No guaranteed payment, escrow or automatic work-to-credential claim.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Solana does two specific jobs. First, selected credentials can have a digital fingerprint recorded onchain, so a verifier can check whether the recorded data changed. That does not prove the skill or the issuer’s real-world identity. Second, connected company wallets can send test USDC for approved milestones. Solana fits because costs are low, settlement is fast, and transactions are publicly checkable. Today, this is devnet only.</a:t>
            </a:r>
          </a:p>
          <a:p/>
          <a:p>
            <a:r>
              <a:t>Target: 30 seconds. Source: src/lib/credential-proof.ts; src/lib/payment-chain.ts; src/lib/payments.ts. Solana design rationale, not a measured latency or fee benchmark. No live broadcast or real-money transfer has been independently verified. Authorized-on-ProofPak does not establish legal identity.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is the connection. Today, your CV, evidence, certificates and opportunities live apart. ProofPak brings them into one professional record. We are not claiming to invent each feature. We connect them, so each new achievement can strengthen your reputation.</a:t>
            </a:r>
          </a:p>
          <a:p/>
          <a:p>
            <a:r>
              <a:t>Target: 18 seconds. Positioning comparison, not a competitive feature audit or a world-first claim.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built the Passport, credential presentation, opportunities, paid-project milestones, wallet ownership checks, and devnet payment receipts. These are genuine app captures, with demo or offline fixture data clearly labeled. Our checks passed sixty unit tests, one hundred and twelve browser tests, and local database rules. Hosted account journeys and real wallet-to-devnet transactions still need end-to-end testing.</a:t>
            </a:r>
          </a:p>
          <a:p/>
          <a:p>
            <a:r>
              <a:t>Target: 25 seconds. Current onboarding evidence: npm test 60 passed; Playwright 112 passed; actual migration/local PostgreSQL suites passed; lint/typecheck/production build passed. Screenshots: /talent/ayesha-khan demo; /test-ui?fixture=credential offline fixture, not a real award; /challenges demo. Build reported Next.js security advisory; unchanged retry succeeded. No live credential/payment proof claimed.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in Pakistan with a focused audience: students building their first record, developers and freelancers showing practical work, and organizations that want clearer evidence. Our first goal is to learn whether these groups return to the same Passport as their work grows. This is an initial market choice, not a claim of existing adoption.</a:t>
            </a:r>
          </a:p>
          <a:p/>
          <a:p>
            <a:r>
              <a:t>No market-size statistic, confirmed customer or partner is asserted. Founder community experience was not independently documented; omitted.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starting model keeps a basic Passport and sharing free for individuals. Organizations could pay for useful tools around credential issuance, challenges, hiring and opportunity management. A future transaction-based revenue stream is possible, subject to validation and applicable rules. These are proposals. We are not claiming existing revenue, prices or paying customers.</a:t>
            </a:r>
          </a:p>
          <a:p/>
          <a:p>
            <a:r>
              <a:t>Business model is a hypothesis, not implemented billing or a financial forecast.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invite a small group through relevant existing communities. Second, recruit interested companies and training teams for focused pilots, without calling them partners before they agree. Third, test real issuance, applications and a complete work journey. Fourth, improve what breaks before expanding. We will use feedback and completed workflows to decide the next step, rather than broad launch claims.</a:t>
            </a:r>
          </a:p>
          <a:p/>
          <a:p>
            <a:r>
              <a:t>All activities are proposed. Founder experience in community building, education programs and hackathons was not independently confirmed, so no personal track record is asserted.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is a Skill Passport that grows with every project, credential and achievement. Next comes real-user testing, then focused company and issuer pilots. Later, we can expand credentials, opportunities and payment support. Mainnet is a future release, not today’s devnet product. Long term, professional evidence should travel across platforms, professions and countries. ProofPak: prove your skills, get work, build your reputation.</a:t>
            </a:r>
          </a:p>
          <a:p/>
          <a:p>
            <a:r>
              <a:t>Roadmap only; no mainnet implementation or commitment to guaranteed payments. Bounties are not represented as a separate implemented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SOLANA HACKATHON · SKILL PASSPORT</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01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pic>
        <p:nvPicPr>
          <p:cNvPr id="6" name="Picture 5" descr="brand.png"/>
          <p:cNvPicPr>
            <a:picLocks noChangeAspect="1"/>
          </p:cNvPicPr>
          <p:nvPr/>
        </p:nvPicPr>
        <p:blipFill>
          <a:blip r:embed="rId2"/>
          <a:stretch>
            <a:fillRect/>
          </a:stretch>
        </p:blipFill>
        <p:spPr>
          <a:xfrm>
            <a:off x="627464" y="1261872"/>
            <a:ext cx="601302" cy="612648"/>
          </a:xfrm>
          <a:prstGeom prst="rect">
            <a:avLst/>
          </a:prstGeom>
        </p:spPr>
      </p:pic>
      <p:sp>
        <p:nvSpPr>
          <p:cNvPr id="7" name="TextBox 6"/>
          <p:cNvSpPr txBox="1"/>
          <p:nvPr/>
        </p:nvSpPr>
        <p:spPr>
          <a:xfrm>
            <a:off x="594360" y="1901952"/>
            <a:ext cx="6400800" cy="1005840"/>
          </a:xfrm>
          <a:prstGeom prst="rect">
            <a:avLst/>
          </a:prstGeom>
          <a:noFill/>
        </p:spPr>
        <p:txBody>
          <a:bodyPr wrap="square" lIns="0" rIns="0" tIns="0" bIns="0">
            <a:spAutoFit/>
          </a:bodyPr>
          <a:lstStyle/>
          <a:p>
            <a:pPr>
              <a:spcAft>
                <a:spcPts val="600"/>
              </a:spcAft>
              <a:defRPr sz="6800" b="1">
                <a:solidFill>
                  <a:srgbClr val="171717"/>
                </a:solidFill>
                <a:latin typeface="Arial"/>
              </a:defRPr>
            </a:pPr>
            <a:r>
              <a:t>ProofPak</a:t>
            </a:r>
          </a:p>
        </p:txBody>
      </p:sp>
      <p:sp>
        <p:nvSpPr>
          <p:cNvPr id="8" name="TextBox 7"/>
          <p:cNvSpPr txBox="1"/>
          <p:nvPr/>
        </p:nvSpPr>
        <p:spPr>
          <a:xfrm>
            <a:off x="640080" y="3108960"/>
            <a:ext cx="6309360" cy="1143000"/>
          </a:xfrm>
          <a:prstGeom prst="rect">
            <a:avLst/>
          </a:prstGeom>
          <a:noFill/>
        </p:spPr>
        <p:txBody>
          <a:bodyPr wrap="square" lIns="0" rIns="0" tIns="0" bIns="0">
            <a:spAutoFit/>
          </a:bodyPr>
          <a:lstStyle/>
          <a:p>
            <a:pPr>
              <a:spcAft>
                <a:spcPts val="600"/>
              </a:spcAft>
              <a:defRPr sz="2900" b="1">
                <a:solidFill>
                  <a:srgbClr val="171717"/>
                </a:solidFill>
                <a:latin typeface="Arial"/>
              </a:defRPr>
            </a:pPr>
            <a:r>
              <a:t>Prove your skills. Get work.</a:t>
            </a:r>
          </a:p>
          <a:p>
            <a:pPr>
              <a:spcAft>
                <a:spcPts val="600"/>
              </a:spcAft>
              <a:defRPr sz="2900" b="1">
                <a:solidFill>
                  <a:srgbClr val="171717"/>
                </a:solidFill>
                <a:latin typeface="Arial"/>
              </a:defRPr>
            </a:pPr>
            <a:r>
              <a:t>Build your reputation.</a:t>
            </a:r>
          </a:p>
        </p:txBody>
      </p:sp>
      <p:sp>
        <p:nvSpPr>
          <p:cNvPr id="9" name="TextBox 8"/>
          <p:cNvSpPr txBox="1"/>
          <p:nvPr/>
        </p:nvSpPr>
        <p:spPr>
          <a:xfrm>
            <a:off x="640080" y="4617720"/>
            <a:ext cx="5943600" cy="914400"/>
          </a:xfrm>
          <a:prstGeom prst="rect">
            <a:avLst/>
          </a:prstGeom>
          <a:noFill/>
        </p:spPr>
        <p:txBody>
          <a:bodyPr wrap="square" lIns="0" rIns="0" tIns="0" bIns="0">
            <a:spAutoFit/>
          </a:bodyPr>
          <a:lstStyle/>
          <a:p>
            <a:pPr>
              <a:spcAft>
                <a:spcPts val="600"/>
              </a:spcAft>
              <a:defRPr sz="2100" b="0">
                <a:solidFill>
                  <a:srgbClr val="655F56"/>
                </a:solidFill>
                <a:latin typeface="Arial"/>
              </a:defRPr>
            </a:pPr>
            <a:r>
              <a:t>One place to show your skills, prove your work,</a:t>
            </a:r>
          </a:p>
          <a:p>
            <a:pPr>
              <a:spcAft>
                <a:spcPts val="600"/>
              </a:spcAft>
              <a:defRPr sz="2100" b="0">
                <a:solidFill>
                  <a:srgbClr val="655F56"/>
                </a:solidFill>
                <a:latin typeface="Arial"/>
              </a:defRPr>
            </a:pPr>
            <a:r>
              <a:t>find opportunities, and get paid.</a:t>
            </a:r>
          </a:p>
        </p:txBody>
      </p:sp>
      <p:sp>
        <p:nvSpPr>
          <p:cNvPr id="10" name="Rectangle 9"/>
          <p:cNvSpPr/>
          <p:nvPr/>
        </p:nvSpPr>
        <p:spPr>
          <a:xfrm>
            <a:off x="7360920" y="1188720"/>
            <a:ext cx="4206240" cy="5120640"/>
          </a:xfrm>
          <a:prstGeom prst="rect">
            <a:avLst/>
          </a:prstGeom>
          <a:solidFill>
            <a:srgbClr val="E7DECF"/>
          </a:solidFill>
          <a:ln>
            <a:noFill/>
          </a:ln>
        </p:spPr>
        <p:txBody>
          <a:bodyPr rtlCol="0" anchor="ctr"/>
          <a:lstStyle/>
          <a:p>
            <a:pPr algn="ctr"/>
          </a:p>
        </p:txBody>
      </p:sp>
      <p:pic>
        <p:nvPicPr>
          <p:cNvPr id="11" name="Picture 10" descr="passport-preview.png"/>
          <p:cNvPicPr>
            <a:picLocks noChangeAspect="1"/>
          </p:cNvPicPr>
          <p:nvPr/>
        </p:nvPicPr>
        <p:blipFill>
          <a:blip r:embed="rId3"/>
          <a:stretch>
            <a:fillRect/>
          </a:stretch>
        </p:blipFill>
        <p:spPr>
          <a:xfrm>
            <a:off x="7543800" y="1469594"/>
            <a:ext cx="3840480" cy="4238851"/>
          </a:xfrm>
          <a:prstGeom prst="rect">
            <a:avLst/>
          </a:prstGeom>
        </p:spPr>
      </p:pic>
      <p:sp>
        <p:nvSpPr>
          <p:cNvPr id="12" name="TextBox 11"/>
          <p:cNvSpPr txBox="1"/>
          <p:nvPr/>
        </p:nvSpPr>
        <p:spPr>
          <a:xfrm>
            <a:off x="7543800" y="5989320"/>
            <a:ext cx="3931920" cy="274320"/>
          </a:xfrm>
          <a:prstGeom prst="rect">
            <a:avLst/>
          </a:prstGeom>
          <a:noFill/>
        </p:spPr>
        <p:txBody>
          <a:bodyPr wrap="square" lIns="0" rIns="0" tIns="0" bIns="0">
            <a:spAutoFit/>
          </a:bodyPr>
          <a:lstStyle/>
          <a:p>
            <a:pPr>
              <a:spcAft>
                <a:spcPts val="600"/>
              </a:spcAft>
              <a:defRPr sz="1100" b="1">
                <a:solidFill>
                  <a:srgbClr val="655F56"/>
                </a:solidFill>
                <a:latin typeface="Arial"/>
              </a:defRPr>
            </a:pPr>
            <a:r>
              <a:t>ACTUAL WEBSITE · ILLUSTRATIVE 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THE PROBLEM</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02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Your work is everywhere.</a:t>
            </a:r>
          </a:p>
          <a:p>
            <a:pPr>
              <a:spcAft>
                <a:spcPts val="600"/>
              </a:spcAft>
              <a:defRPr sz="3400" b="1">
                <a:solidFill>
                  <a:srgbClr val="171717"/>
                </a:solidFill>
                <a:latin typeface="Arial"/>
              </a:defRPr>
            </a:pPr>
            <a:r>
              <a:t>Your proof shouldn’t be.</a:t>
            </a:r>
          </a:p>
        </p:txBody>
      </p:sp>
      <p:sp>
        <p:nvSpPr>
          <p:cNvPr id="7" name="Rectangle 6"/>
          <p:cNvSpPr/>
          <p:nvPr/>
        </p:nvSpPr>
        <p:spPr>
          <a:xfrm>
            <a:off x="731520" y="2926080"/>
            <a:ext cx="2194560" cy="841248"/>
          </a:xfrm>
          <a:prstGeom prst="rect">
            <a:avLst/>
          </a:prstGeom>
          <a:solidFill>
            <a:srgbClr val="FFFCF6"/>
          </a:solidFill>
          <a:ln>
            <a:solidFill>
              <a:srgbClr val="E7DECF"/>
            </a:solidFill>
          </a:ln>
        </p:spPr>
        <p:txBody>
          <a:bodyPr rtlCol="0" anchor="ctr"/>
          <a:lstStyle/>
          <a:p>
            <a:pPr algn="ctr"/>
          </a:p>
        </p:txBody>
      </p:sp>
      <p:sp>
        <p:nvSpPr>
          <p:cNvPr id="8" name="TextBox 7"/>
          <p:cNvSpPr txBox="1"/>
          <p:nvPr/>
        </p:nvSpPr>
        <p:spPr>
          <a:xfrm>
            <a:off x="896112" y="3154680"/>
            <a:ext cx="192024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CV</a:t>
            </a:r>
          </a:p>
        </p:txBody>
      </p:sp>
      <p:sp>
        <p:nvSpPr>
          <p:cNvPr id="9" name="Rectangle 8"/>
          <p:cNvSpPr/>
          <p:nvPr/>
        </p:nvSpPr>
        <p:spPr>
          <a:xfrm>
            <a:off x="3291840" y="2651760"/>
            <a:ext cx="2651760" cy="841248"/>
          </a:xfrm>
          <a:prstGeom prst="rect">
            <a:avLst/>
          </a:prstGeom>
          <a:solidFill>
            <a:srgbClr val="FFFCF6"/>
          </a:solidFill>
          <a:ln>
            <a:solidFill>
              <a:srgbClr val="E7DECF"/>
            </a:solidFill>
          </a:ln>
        </p:spPr>
        <p:txBody>
          <a:bodyPr rtlCol="0" anchor="ctr"/>
          <a:lstStyle/>
          <a:p>
            <a:pPr algn="ctr"/>
          </a:p>
        </p:txBody>
      </p:sp>
      <p:sp>
        <p:nvSpPr>
          <p:cNvPr id="10" name="TextBox 9"/>
          <p:cNvSpPr txBox="1"/>
          <p:nvPr/>
        </p:nvSpPr>
        <p:spPr>
          <a:xfrm>
            <a:off x="3456432" y="2880360"/>
            <a:ext cx="237744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Project links</a:t>
            </a:r>
          </a:p>
        </p:txBody>
      </p:sp>
      <p:sp>
        <p:nvSpPr>
          <p:cNvPr id="11" name="Rectangle 10"/>
          <p:cNvSpPr/>
          <p:nvPr/>
        </p:nvSpPr>
        <p:spPr>
          <a:xfrm>
            <a:off x="1280160" y="4297680"/>
            <a:ext cx="2743200" cy="841248"/>
          </a:xfrm>
          <a:prstGeom prst="rect">
            <a:avLst/>
          </a:prstGeom>
          <a:solidFill>
            <a:srgbClr val="FFFCF6"/>
          </a:solidFill>
          <a:ln>
            <a:solidFill>
              <a:srgbClr val="E7DECF"/>
            </a:solidFill>
          </a:ln>
        </p:spPr>
        <p:txBody>
          <a:bodyPr rtlCol="0" anchor="ctr"/>
          <a:lstStyle/>
          <a:p>
            <a:pPr algn="ctr"/>
          </a:p>
        </p:txBody>
      </p:sp>
      <p:sp>
        <p:nvSpPr>
          <p:cNvPr id="12" name="TextBox 11"/>
          <p:cNvSpPr txBox="1"/>
          <p:nvPr/>
        </p:nvSpPr>
        <p:spPr>
          <a:xfrm>
            <a:off x="1444751" y="4526280"/>
            <a:ext cx="246888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Certificates</a:t>
            </a:r>
          </a:p>
        </p:txBody>
      </p:sp>
      <p:sp>
        <p:nvSpPr>
          <p:cNvPr id="13" name="Rectangle 12"/>
          <p:cNvSpPr/>
          <p:nvPr/>
        </p:nvSpPr>
        <p:spPr>
          <a:xfrm>
            <a:off x="4297680" y="4114800"/>
            <a:ext cx="2651760" cy="841248"/>
          </a:xfrm>
          <a:prstGeom prst="rect">
            <a:avLst/>
          </a:prstGeom>
          <a:solidFill>
            <a:srgbClr val="FFFCF6"/>
          </a:solidFill>
          <a:ln>
            <a:solidFill>
              <a:srgbClr val="E7DECF"/>
            </a:solidFill>
          </a:ln>
        </p:spPr>
        <p:txBody>
          <a:bodyPr rtlCol="0" anchor="ctr"/>
          <a:lstStyle/>
          <a:p>
            <a:pPr algn="ctr"/>
          </a:p>
        </p:txBody>
      </p:sp>
      <p:sp>
        <p:nvSpPr>
          <p:cNvPr id="14" name="TextBox 13"/>
          <p:cNvSpPr txBox="1"/>
          <p:nvPr/>
        </p:nvSpPr>
        <p:spPr>
          <a:xfrm>
            <a:off x="4462272" y="4343400"/>
            <a:ext cx="237744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Evidence emails</a:t>
            </a:r>
          </a:p>
        </p:txBody>
      </p:sp>
      <p:sp>
        <p:nvSpPr>
          <p:cNvPr id="15" name="TextBox 14"/>
          <p:cNvSpPr txBox="1"/>
          <p:nvPr/>
        </p:nvSpPr>
        <p:spPr>
          <a:xfrm>
            <a:off x="731520" y="5715000"/>
            <a:ext cx="6400800" cy="411480"/>
          </a:xfrm>
          <a:prstGeom prst="rect">
            <a:avLst/>
          </a:prstGeom>
          <a:noFill/>
        </p:spPr>
        <p:txBody>
          <a:bodyPr wrap="square" lIns="0" rIns="0" tIns="0" bIns="0">
            <a:spAutoFit/>
          </a:bodyPr>
          <a:lstStyle/>
          <a:p>
            <a:pPr>
              <a:spcAft>
                <a:spcPts val="600"/>
              </a:spcAft>
              <a:defRPr sz="2200" b="1">
                <a:solidFill>
                  <a:srgbClr val="C6532C"/>
                </a:solidFill>
                <a:latin typeface="Arial"/>
              </a:defRPr>
            </a:pPr>
            <a:r>
              <a:t>Scattered files. Repeated effort.</a:t>
            </a:r>
          </a:p>
        </p:txBody>
      </p:sp>
      <p:sp>
        <p:nvSpPr>
          <p:cNvPr id="16" name="TextBox 15"/>
          <p:cNvSpPr txBox="1"/>
          <p:nvPr/>
        </p:nvSpPr>
        <p:spPr>
          <a:xfrm>
            <a:off x="7543800" y="2651760"/>
            <a:ext cx="548640" cy="365760"/>
          </a:xfrm>
          <a:prstGeom prst="rect">
            <a:avLst/>
          </a:prstGeom>
          <a:noFill/>
        </p:spPr>
        <p:txBody>
          <a:bodyPr wrap="square" lIns="0" rIns="0" tIns="0" bIns="0">
            <a:spAutoFit/>
          </a:bodyPr>
          <a:lstStyle/>
          <a:p>
            <a:pPr>
              <a:spcAft>
                <a:spcPts val="600"/>
              </a:spcAft>
              <a:defRPr sz="1800" b="1">
                <a:solidFill>
                  <a:srgbClr val="C6532C"/>
                </a:solidFill>
                <a:latin typeface="Arial"/>
              </a:defRPr>
            </a:pPr>
            <a:r>
              <a:t>01</a:t>
            </a:r>
          </a:p>
        </p:txBody>
      </p:sp>
      <p:sp>
        <p:nvSpPr>
          <p:cNvPr id="17" name="TextBox 16"/>
          <p:cNvSpPr txBox="1"/>
          <p:nvPr/>
        </p:nvSpPr>
        <p:spPr>
          <a:xfrm>
            <a:off x="8229600" y="2651760"/>
            <a:ext cx="3291840" cy="411480"/>
          </a:xfrm>
          <a:prstGeom prst="rect">
            <a:avLst/>
          </a:prstGeom>
          <a:noFill/>
        </p:spPr>
        <p:txBody>
          <a:bodyPr wrap="square" lIns="0" rIns="0" tIns="0" bIns="0">
            <a:spAutoFit/>
          </a:bodyPr>
          <a:lstStyle/>
          <a:p>
            <a:pPr>
              <a:spcAft>
                <a:spcPts val="600"/>
              </a:spcAft>
              <a:defRPr sz="2300" b="1">
                <a:solidFill>
                  <a:srgbClr val="171717"/>
                </a:solidFill>
                <a:latin typeface="Arial"/>
              </a:defRPr>
            </a:pPr>
            <a:r>
              <a:t>Send it all again</a:t>
            </a:r>
          </a:p>
        </p:txBody>
      </p:sp>
      <p:sp>
        <p:nvSpPr>
          <p:cNvPr id="18" name="TextBox 17"/>
          <p:cNvSpPr txBox="1"/>
          <p:nvPr/>
        </p:nvSpPr>
        <p:spPr>
          <a:xfrm>
            <a:off x="8229600" y="3108960"/>
            <a:ext cx="3200400" cy="594360"/>
          </a:xfrm>
          <a:prstGeom prst="rect">
            <a:avLst/>
          </a:prstGeom>
          <a:noFill/>
        </p:spPr>
        <p:txBody>
          <a:bodyPr wrap="square" lIns="0" rIns="0" tIns="0" bIns="0">
            <a:spAutoFit/>
          </a:bodyPr>
          <a:lstStyle/>
          <a:p>
            <a:pPr>
              <a:spcAft>
                <a:spcPts val="600"/>
              </a:spcAft>
              <a:defRPr sz="1800" b="0">
                <a:solidFill>
                  <a:srgbClr val="655F56"/>
                </a:solidFill>
                <a:latin typeface="Arial"/>
              </a:defRPr>
            </a:pPr>
            <a:r>
              <a:t>The same evidence, every time.</a:t>
            </a:r>
          </a:p>
        </p:txBody>
      </p:sp>
      <p:sp>
        <p:nvSpPr>
          <p:cNvPr id="19" name="TextBox 18"/>
          <p:cNvSpPr txBox="1"/>
          <p:nvPr/>
        </p:nvSpPr>
        <p:spPr>
          <a:xfrm>
            <a:off x="7543800" y="3794760"/>
            <a:ext cx="548640" cy="365760"/>
          </a:xfrm>
          <a:prstGeom prst="rect">
            <a:avLst/>
          </a:prstGeom>
          <a:noFill/>
        </p:spPr>
        <p:txBody>
          <a:bodyPr wrap="square" lIns="0" rIns="0" tIns="0" bIns="0">
            <a:spAutoFit/>
          </a:bodyPr>
          <a:lstStyle/>
          <a:p>
            <a:pPr>
              <a:spcAft>
                <a:spcPts val="600"/>
              </a:spcAft>
              <a:defRPr sz="1800" b="1">
                <a:solidFill>
                  <a:srgbClr val="C6532C"/>
                </a:solidFill>
                <a:latin typeface="Arial"/>
              </a:defRPr>
            </a:pPr>
            <a:r>
              <a:t>02</a:t>
            </a:r>
          </a:p>
        </p:txBody>
      </p:sp>
      <p:sp>
        <p:nvSpPr>
          <p:cNvPr id="20" name="TextBox 19"/>
          <p:cNvSpPr txBox="1"/>
          <p:nvPr/>
        </p:nvSpPr>
        <p:spPr>
          <a:xfrm>
            <a:off x="8229600" y="3794760"/>
            <a:ext cx="3291840" cy="411480"/>
          </a:xfrm>
          <a:prstGeom prst="rect">
            <a:avLst/>
          </a:prstGeom>
          <a:noFill/>
        </p:spPr>
        <p:txBody>
          <a:bodyPr wrap="square" lIns="0" rIns="0" tIns="0" bIns="0">
            <a:spAutoFit/>
          </a:bodyPr>
          <a:lstStyle/>
          <a:p>
            <a:pPr>
              <a:spcAft>
                <a:spcPts val="600"/>
              </a:spcAft>
              <a:defRPr sz="2300" b="1">
                <a:solidFill>
                  <a:srgbClr val="171717"/>
                </a:solidFill>
                <a:latin typeface="Arial"/>
              </a:defRPr>
            </a:pPr>
            <a:r>
              <a:t>Hard to judge</a:t>
            </a:r>
          </a:p>
        </p:txBody>
      </p:sp>
      <p:sp>
        <p:nvSpPr>
          <p:cNvPr id="21" name="TextBox 20"/>
          <p:cNvSpPr txBox="1"/>
          <p:nvPr/>
        </p:nvSpPr>
        <p:spPr>
          <a:xfrm>
            <a:off x="8229600" y="4251960"/>
            <a:ext cx="3200400" cy="594360"/>
          </a:xfrm>
          <a:prstGeom prst="rect">
            <a:avLst/>
          </a:prstGeom>
          <a:noFill/>
        </p:spPr>
        <p:txBody>
          <a:bodyPr wrap="square" lIns="0" rIns="0" tIns="0" bIns="0">
            <a:spAutoFit/>
          </a:bodyPr>
          <a:lstStyle/>
          <a:p>
            <a:pPr>
              <a:spcAft>
                <a:spcPts val="600"/>
              </a:spcAft>
              <a:defRPr sz="1800" b="0">
                <a:solidFill>
                  <a:srgbClr val="655F56"/>
                </a:solidFill>
                <a:latin typeface="Arial"/>
              </a:defRPr>
            </a:pPr>
            <a:r>
              <a:t>Who issued it? Is it current?</a:t>
            </a:r>
          </a:p>
        </p:txBody>
      </p:sp>
      <p:sp>
        <p:nvSpPr>
          <p:cNvPr id="22" name="TextBox 21"/>
          <p:cNvSpPr txBox="1"/>
          <p:nvPr/>
        </p:nvSpPr>
        <p:spPr>
          <a:xfrm>
            <a:off x="7543800" y="4937760"/>
            <a:ext cx="548640" cy="365760"/>
          </a:xfrm>
          <a:prstGeom prst="rect">
            <a:avLst/>
          </a:prstGeom>
          <a:noFill/>
        </p:spPr>
        <p:txBody>
          <a:bodyPr wrap="square" lIns="0" rIns="0" tIns="0" bIns="0">
            <a:spAutoFit/>
          </a:bodyPr>
          <a:lstStyle/>
          <a:p>
            <a:pPr>
              <a:spcAft>
                <a:spcPts val="600"/>
              </a:spcAft>
              <a:defRPr sz="1800" b="1">
                <a:solidFill>
                  <a:srgbClr val="C6532C"/>
                </a:solidFill>
                <a:latin typeface="Arial"/>
              </a:defRPr>
            </a:pPr>
            <a:r>
              <a:t>03</a:t>
            </a:r>
          </a:p>
        </p:txBody>
      </p:sp>
      <p:sp>
        <p:nvSpPr>
          <p:cNvPr id="23" name="TextBox 22"/>
          <p:cNvSpPr txBox="1"/>
          <p:nvPr/>
        </p:nvSpPr>
        <p:spPr>
          <a:xfrm>
            <a:off x="8229600" y="4937760"/>
            <a:ext cx="3291840" cy="411480"/>
          </a:xfrm>
          <a:prstGeom prst="rect">
            <a:avLst/>
          </a:prstGeom>
          <a:noFill/>
        </p:spPr>
        <p:txBody>
          <a:bodyPr wrap="square" lIns="0" rIns="0" tIns="0" bIns="0">
            <a:spAutoFit/>
          </a:bodyPr>
          <a:lstStyle/>
          <a:p>
            <a:pPr>
              <a:spcAft>
                <a:spcPts val="600"/>
              </a:spcAft>
              <a:defRPr sz="2300" b="1">
                <a:solidFill>
                  <a:srgbClr val="171717"/>
                </a:solidFill>
                <a:latin typeface="Arial"/>
              </a:defRPr>
            </a:pPr>
            <a:r>
              <a:t>Claims without context</a:t>
            </a:r>
          </a:p>
        </p:txBody>
      </p:sp>
      <p:sp>
        <p:nvSpPr>
          <p:cNvPr id="24" name="TextBox 23"/>
          <p:cNvSpPr txBox="1"/>
          <p:nvPr/>
        </p:nvSpPr>
        <p:spPr>
          <a:xfrm>
            <a:off x="8229600" y="5394960"/>
            <a:ext cx="3200400" cy="594360"/>
          </a:xfrm>
          <a:prstGeom prst="rect">
            <a:avLst/>
          </a:prstGeom>
          <a:noFill/>
        </p:spPr>
        <p:txBody>
          <a:bodyPr wrap="square" lIns="0" rIns="0" tIns="0" bIns="0">
            <a:spAutoFit/>
          </a:bodyPr>
          <a:lstStyle/>
          <a:p>
            <a:pPr>
              <a:spcAft>
                <a:spcPts val="600"/>
              </a:spcAft>
              <a:defRPr sz="1800" b="0">
                <a:solidFill>
                  <a:srgbClr val="655F56"/>
                </a:solidFill>
                <a:latin typeface="Arial"/>
              </a:defRPr>
            </a:pPr>
            <a:r>
              <a:t>A CV rarely shows completed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THE SOLUTION</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03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One Skill Passport.</a:t>
            </a:r>
          </a:p>
          <a:p>
            <a:pPr>
              <a:spcAft>
                <a:spcPts val="600"/>
              </a:spcAft>
              <a:defRPr sz="3400" b="1">
                <a:solidFill>
                  <a:srgbClr val="171717"/>
                </a:solidFill>
                <a:latin typeface="Arial"/>
              </a:defRPr>
            </a:pPr>
            <a:r>
              <a:t>A complete picture of your work.</a:t>
            </a:r>
          </a:p>
        </p:txBody>
      </p:sp>
      <p:sp>
        <p:nvSpPr>
          <p:cNvPr id="7" name="TextBox 6"/>
          <p:cNvSpPr txBox="1"/>
          <p:nvPr/>
        </p:nvSpPr>
        <p:spPr>
          <a:xfrm>
            <a:off x="658368" y="2606040"/>
            <a:ext cx="1828800" cy="457200"/>
          </a:xfrm>
          <a:prstGeom prst="rect">
            <a:avLst/>
          </a:prstGeom>
          <a:noFill/>
        </p:spPr>
        <p:txBody>
          <a:bodyPr wrap="square" lIns="0" rIns="0" tIns="0" bIns="0">
            <a:spAutoFit/>
          </a:bodyPr>
          <a:lstStyle/>
          <a:p>
            <a:pPr>
              <a:spcAft>
                <a:spcPts val="600"/>
              </a:spcAft>
              <a:defRPr sz="2900" b="1">
                <a:solidFill>
                  <a:srgbClr val="C6532C"/>
                </a:solidFill>
                <a:latin typeface="Arial"/>
              </a:defRPr>
            </a:pPr>
            <a:r>
              <a:t>Show</a:t>
            </a:r>
          </a:p>
        </p:txBody>
      </p:sp>
      <p:sp>
        <p:nvSpPr>
          <p:cNvPr id="8" name="TextBox 7"/>
          <p:cNvSpPr txBox="1"/>
          <p:nvPr/>
        </p:nvSpPr>
        <p:spPr>
          <a:xfrm>
            <a:off x="658368" y="3108960"/>
            <a:ext cx="3520440" cy="594360"/>
          </a:xfrm>
          <a:prstGeom prst="rect">
            <a:avLst/>
          </a:prstGeom>
          <a:noFill/>
        </p:spPr>
        <p:txBody>
          <a:bodyPr wrap="square" lIns="0" rIns="0" tIns="0" bIns="0">
            <a:spAutoFit/>
          </a:bodyPr>
          <a:lstStyle/>
          <a:p>
            <a:pPr>
              <a:spcAft>
                <a:spcPts val="600"/>
              </a:spcAft>
              <a:defRPr sz="1800" b="0">
                <a:solidFill>
                  <a:srgbClr val="171717"/>
                </a:solidFill>
                <a:latin typeface="Arial"/>
              </a:defRPr>
            </a:pPr>
            <a:r>
              <a:t>Skills, projects, experience.</a:t>
            </a:r>
          </a:p>
        </p:txBody>
      </p:sp>
      <p:sp>
        <p:nvSpPr>
          <p:cNvPr id="9" name="TextBox 8"/>
          <p:cNvSpPr txBox="1"/>
          <p:nvPr/>
        </p:nvSpPr>
        <p:spPr>
          <a:xfrm>
            <a:off x="658368" y="3657600"/>
            <a:ext cx="1828800" cy="457200"/>
          </a:xfrm>
          <a:prstGeom prst="rect">
            <a:avLst/>
          </a:prstGeom>
          <a:noFill/>
        </p:spPr>
        <p:txBody>
          <a:bodyPr wrap="square" lIns="0" rIns="0" tIns="0" bIns="0">
            <a:spAutoFit/>
          </a:bodyPr>
          <a:lstStyle/>
          <a:p>
            <a:pPr>
              <a:spcAft>
                <a:spcPts val="600"/>
              </a:spcAft>
              <a:defRPr sz="2900" b="1">
                <a:solidFill>
                  <a:srgbClr val="C6532C"/>
                </a:solidFill>
                <a:latin typeface="Arial"/>
              </a:defRPr>
            </a:pPr>
            <a:r>
              <a:t>Prove</a:t>
            </a:r>
          </a:p>
        </p:txBody>
      </p:sp>
      <p:sp>
        <p:nvSpPr>
          <p:cNvPr id="10" name="TextBox 9"/>
          <p:cNvSpPr txBox="1"/>
          <p:nvPr/>
        </p:nvSpPr>
        <p:spPr>
          <a:xfrm>
            <a:off x="658368" y="4160520"/>
            <a:ext cx="3520440" cy="594360"/>
          </a:xfrm>
          <a:prstGeom prst="rect">
            <a:avLst/>
          </a:prstGeom>
          <a:noFill/>
        </p:spPr>
        <p:txBody>
          <a:bodyPr wrap="square" lIns="0" rIns="0" tIns="0" bIns="0">
            <a:spAutoFit/>
          </a:bodyPr>
          <a:lstStyle/>
          <a:p>
            <a:pPr>
              <a:spcAft>
                <a:spcPts val="600"/>
              </a:spcAft>
              <a:defRPr sz="1800" b="0">
                <a:solidFill>
                  <a:srgbClr val="171717"/>
                </a:solidFill>
                <a:latin typeface="Arial"/>
              </a:defRPr>
            </a:pPr>
            <a:r>
              <a:t>Evidence + issued credentials.</a:t>
            </a:r>
          </a:p>
        </p:txBody>
      </p:sp>
      <p:sp>
        <p:nvSpPr>
          <p:cNvPr id="11" name="TextBox 10"/>
          <p:cNvSpPr txBox="1"/>
          <p:nvPr/>
        </p:nvSpPr>
        <p:spPr>
          <a:xfrm>
            <a:off x="658368" y="4709160"/>
            <a:ext cx="1828800" cy="457200"/>
          </a:xfrm>
          <a:prstGeom prst="rect">
            <a:avLst/>
          </a:prstGeom>
          <a:noFill/>
        </p:spPr>
        <p:txBody>
          <a:bodyPr wrap="square" lIns="0" rIns="0" tIns="0" bIns="0">
            <a:spAutoFit/>
          </a:bodyPr>
          <a:lstStyle/>
          <a:p>
            <a:pPr>
              <a:spcAft>
                <a:spcPts val="600"/>
              </a:spcAft>
              <a:defRPr sz="2900" b="1">
                <a:solidFill>
                  <a:srgbClr val="C6532C"/>
                </a:solidFill>
                <a:latin typeface="Arial"/>
              </a:defRPr>
            </a:pPr>
            <a:r>
              <a:t>Grow</a:t>
            </a:r>
          </a:p>
        </p:txBody>
      </p:sp>
      <p:sp>
        <p:nvSpPr>
          <p:cNvPr id="12" name="TextBox 11"/>
          <p:cNvSpPr txBox="1"/>
          <p:nvPr/>
        </p:nvSpPr>
        <p:spPr>
          <a:xfrm>
            <a:off x="658368" y="5212080"/>
            <a:ext cx="3520440" cy="594360"/>
          </a:xfrm>
          <a:prstGeom prst="rect">
            <a:avLst/>
          </a:prstGeom>
          <a:noFill/>
        </p:spPr>
        <p:txBody>
          <a:bodyPr wrap="square" lIns="0" rIns="0" tIns="0" bIns="0">
            <a:spAutoFit/>
          </a:bodyPr>
          <a:lstStyle/>
          <a:p>
            <a:pPr>
              <a:spcAft>
                <a:spcPts val="600"/>
              </a:spcAft>
              <a:defRPr sz="1800" b="0">
                <a:solidFill>
                  <a:srgbClr val="171717"/>
                </a:solidFill>
                <a:latin typeface="Arial"/>
              </a:defRPr>
            </a:pPr>
            <a:r>
              <a:t>Opportunities + work history.</a:t>
            </a:r>
          </a:p>
        </p:txBody>
      </p:sp>
      <p:sp>
        <p:nvSpPr>
          <p:cNvPr id="13" name="Rectangle 12"/>
          <p:cNvSpPr/>
          <p:nvPr/>
        </p:nvSpPr>
        <p:spPr>
          <a:xfrm>
            <a:off x="4297680" y="2423160"/>
            <a:ext cx="7315200" cy="3611880"/>
          </a:xfrm>
          <a:prstGeom prst="rect">
            <a:avLst/>
          </a:prstGeom>
          <a:solidFill>
            <a:srgbClr val="FFFCF6"/>
          </a:solidFill>
          <a:ln>
            <a:solidFill>
              <a:srgbClr val="E7DECF"/>
            </a:solidFill>
          </a:ln>
        </p:spPr>
        <p:txBody>
          <a:bodyPr rtlCol="0" anchor="ctr"/>
          <a:lstStyle/>
          <a:p>
            <a:pPr algn="ctr"/>
          </a:p>
        </p:txBody>
      </p:sp>
      <p:pic>
        <p:nvPicPr>
          <p:cNvPr id="14" name="Picture 13" descr="passport-focus.png"/>
          <p:cNvPicPr>
            <a:picLocks noChangeAspect="1"/>
          </p:cNvPicPr>
          <p:nvPr/>
        </p:nvPicPr>
        <p:blipFill>
          <a:blip r:embed="rId2"/>
          <a:stretch>
            <a:fillRect/>
          </a:stretch>
        </p:blipFill>
        <p:spPr>
          <a:xfrm>
            <a:off x="5016234" y="2560320"/>
            <a:ext cx="5878090" cy="3337560"/>
          </a:xfrm>
          <a:prstGeom prst="rect">
            <a:avLst/>
          </a:prstGeom>
        </p:spPr>
      </p:pic>
      <p:sp>
        <p:nvSpPr>
          <p:cNvPr id="15" name="TextBox 14"/>
          <p:cNvSpPr txBox="1"/>
          <p:nvPr/>
        </p:nvSpPr>
        <p:spPr>
          <a:xfrm>
            <a:off x="4434840" y="6217920"/>
            <a:ext cx="6400800" cy="274320"/>
          </a:xfrm>
          <a:prstGeom prst="rect">
            <a:avLst/>
          </a:prstGeom>
          <a:noFill/>
        </p:spPr>
        <p:txBody>
          <a:bodyPr wrap="square" lIns="0" rIns="0" tIns="0" bIns="0">
            <a:spAutoFit/>
          </a:bodyPr>
          <a:lstStyle/>
          <a:p>
            <a:pPr>
              <a:spcAft>
                <a:spcPts val="600"/>
              </a:spcAft>
              <a:defRPr sz="1200" b="1">
                <a:solidFill>
                  <a:srgbClr val="655F56"/>
                </a:solidFill>
                <a:latin typeface="Arial"/>
              </a:defRPr>
            </a:pPr>
            <a:r>
              <a:t>RUNNING APP · DEMO PASSPORT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THE JOURNEY</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04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From showing your skills</a:t>
            </a:r>
          </a:p>
          <a:p>
            <a:pPr>
              <a:spcAft>
                <a:spcPts val="600"/>
              </a:spcAft>
              <a:defRPr sz="3400" b="1">
                <a:solidFill>
                  <a:srgbClr val="171717"/>
                </a:solidFill>
                <a:latin typeface="Arial"/>
              </a:defRPr>
            </a:pPr>
            <a:r>
              <a:t>to building your reputation.</a:t>
            </a:r>
          </a:p>
        </p:txBody>
      </p:sp>
      <p:sp>
        <p:nvSpPr>
          <p:cNvPr id="7" name="Rectangle 6"/>
          <p:cNvSpPr/>
          <p:nvPr/>
        </p:nvSpPr>
        <p:spPr>
          <a:xfrm>
            <a:off x="640080" y="2606040"/>
            <a:ext cx="411480" cy="411480"/>
          </a:xfrm>
          <a:prstGeom prst="rect">
            <a:avLst/>
          </a:prstGeom>
          <a:solidFill>
            <a:srgbClr val="C6532C"/>
          </a:solidFill>
          <a:ln>
            <a:noFill/>
          </a:ln>
        </p:spPr>
        <p:txBody>
          <a:bodyPr rtlCol="0" anchor="ctr"/>
          <a:lstStyle/>
          <a:p>
            <a:pPr algn="ctr"/>
          </a:p>
        </p:txBody>
      </p:sp>
      <p:sp>
        <p:nvSpPr>
          <p:cNvPr id="8" name="TextBox 7"/>
          <p:cNvSpPr txBox="1"/>
          <p:nvPr/>
        </p:nvSpPr>
        <p:spPr>
          <a:xfrm>
            <a:off x="749808" y="2651760"/>
            <a:ext cx="27432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1</a:t>
            </a:r>
          </a:p>
        </p:txBody>
      </p:sp>
      <p:sp>
        <p:nvSpPr>
          <p:cNvPr id="9" name="TextBox 8"/>
          <p:cNvSpPr txBox="1"/>
          <p:nvPr/>
        </p:nvSpPr>
        <p:spPr>
          <a:xfrm>
            <a:off x="640080" y="3246120"/>
            <a:ext cx="2148840" cy="1005840"/>
          </a:xfrm>
          <a:prstGeom prst="rect">
            <a:avLst/>
          </a:prstGeom>
          <a:noFill/>
        </p:spPr>
        <p:txBody>
          <a:bodyPr wrap="square" lIns="0" rIns="0" tIns="0" bIns="0">
            <a:spAutoFit/>
          </a:bodyPr>
          <a:lstStyle/>
          <a:p>
            <a:pPr>
              <a:spcAft>
                <a:spcPts val="600"/>
              </a:spcAft>
              <a:defRPr sz="2300" b="1">
                <a:solidFill>
                  <a:srgbClr val="171717"/>
                </a:solidFill>
                <a:latin typeface="Arial"/>
              </a:defRPr>
            </a:pPr>
            <a:r>
              <a:t>Create a</a:t>
            </a:r>
          </a:p>
          <a:p>
            <a:pPr>
              <a:spcAft>
                <a:spcPts val="600"/>
              </a:spcAft>
              <a:defRPr sz="2300" b="1">
                <a:solidFill>
                  <a:srgbClr val="171717"/>
                </a:solidFill>
                <a:latin typeface="Arial"/>
              </a:defRPr>
            </a:pPr>
            <a:r>
              <a:t>Passport</a:t>
            </a:r>
          </a:p>
        </p:txBody>
      </p:sp>
      <p:sp>
        <p:nvSpPr>
          <p:cNvPr id="10" name="TextBox 9"/>
          <p:cNvSpPr txBox="1"/>
          <p:nvPr/>
        </p:nvSpPr>
        <p:spPr>
          <a:xfrm>
            <a:off x="640080" y="4343400"/>
            <a:ext cx="2029968" cy="640080"/>
          </a:xfrm>
          <a:prstGeom prst="rect">
            <a:avLst/>
          </a:prstGeom>
          <a:noFill/>
        </p:spPr>
        <p:txBody>
          <a:bodyPr wrap="square" lIns="0" rIns="0" tIns="0" bIns="0">
            <a:spAutoFit/>
          </a:bodyPr>
          <a:lstStyle/>
          <a:p>
            <a:pPr>
              <a:spcAft>
                <a:spcPts val="600"/>
              </a:spcAft>
              <a:defRPr sz="1700" b="0">
                <a:solidFill>
                  <a:srgbClr val="655F56"/>
                </a:solidFill>
                <a:latin typeface="Arial"/>
              </a:defRPr>
            </a:pPr>
            <a:r>
              <a:t>Your starting point</a:t>
            </a:r>
          </a:p>
        </p:txBody>
      </p:sp>
      <p:sp>
        <p:nvSpPr>
          <p:cNvPr id="11" name="TextBox 10"/>
          <p:cNvSpPr txBox="1"/>
          <p:nvPr/>
        </p:nvSpPr>
        <p:spPr>
          <a:xfrm>
            <a:off x="2331720" y="2587752"/>
            <a:ext cx="502920" cy="457200"/>
          </a:xfrm>
          <a:prstGeom prst="rect">
            <a:avLst/>
          </a:prstGeom>
          <a:noFill/>
        </p:spPr>
        <p:txBody>
          <a:bodyPr wrap="square" lIns="0" rIns="0" tIns="0" bIns="0">
            <a:spAutoFit/>
          </a:bodyPr>
          <a:lstStyle/>
          <a:p>
            <a:pPr>
              <a:spcAft>
                <a:spcPts val="600"/>
              </a:spcAft>
              <a:defRPr sz="2800" b="0">
                <a:solidFill>
                  <a:srgbClr val="C6532C"/>
                </a:solidFill>
                <a:latin typeface="Arial"/>
              </a:defRPr>
            </a:pPr>
            <a:r>
              <a:t>→</a:t>
            </a:r>
          </a:p>
        </p:txBody>
      </p:sp>
      <p:sp>
        <p:nvSpPr>
          <p:cNvPr id="12" name="Rectangle 11"/>
          <p:cNvSpPr/>
          <p:nvPr/>
        </p:nvSpPr>
        <p:spPr>
          <a:xfrm>
            <a:off x="2944368" y="2606040"/>
            <a:ext cx="411480" cy="411480"/>
          </a:xfrm>
          <a:prstGeom prst="rect">
            <a:avLst/>
          </a:prstGeom>
          <a:solidFill>
            <a:srgbClr val="C6532C"/>
          </a:solidFill>
          <a:ln>
            <a:noFill/>
          </a:ln>
        </p:spPr>
        <p:txBody>
          <a:bodyPr rtlCol="0" anchor="ctr"/>
          <a:lstStyle/>
          <a:p>
            <a:pPr algn="ctr"/>
          </a:p>
        </p:txBody>
      </p:sp>
      <p:sp>
        <p:nvSpPr>
          <p:cNvPr id="13" name="TextBox 12"/>
          <p:cNvSpPr txBox="1"/>
          <p:nvPr/>
        </p:nvSpPr>
        <p:spPr>
          <a:xfrm>
            <a:off x="3054096" y="2651760"/>
            <a:ext cx="27432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2</a:t>
            </a:r>
          </a:p>
        </p:txBody>
      </p:sp>
      <p:sp>
        <p:nvSpPr>
          <p:cNvPr id="14" name="TextBox 13"/>
          <p:cNvSpPr txBox="1"/>
          <p:nvPr/>
        </p:nvSpPr>
        <p:spPr>
          <a:xfrm>
            <a:off x="2944368" y="3246120"/>
            <a:ext cx="2148840" cy="1005840"/>
          </a:xfrm>
          <a:prstGeom prst="rect">
            <a:avLst/>
          </a:prstGeom>
          <a:noFill/>
        </p:spPr>
        <p:txBody>
          <a:bodyPr wrap="square" lIns="0" rIns="0" tIns="0" bIns="0">
            <a:spAutoFit/>
          </a:bodyPr>
          <a:lstStyle/>
          <a:p>
            <a:pPr>
              <a:spcAft>
                <a:spcPts val="600"/>
              </a:spcAft>
              <a:defRPr sz="2300" b="1">
                <a:solidFill>
                  <a:srgbClr val="171717"/>
                </a:solidFill>
                <a:latin typeface="Arial"/>
              </a:defRPr>
            </a:pPr>
            <a:r>
              <a:t>Show</a:t>
            </a:r>
          </a:p>
          <a:p>
            <a:pPr>
              <a:spcAft>
                <a:spcPts val="600"/>
              </a:spcAft>
              <a:defRPr sz="2300" b="1">
                <a:solidFill>
                  <a:srgbClr val="171717"/>
                </a:solidFill>
                <a:latin typeface="Arial"/>
              </a:defRPr>
            </a:pPr>
            <a:r>
              <a:t>Work</a:t>
            </a:r>
          </a:p>
        </p:txBody>
      </p:sp>
      <p:sp>
        <p:nvSpPr>
          <p:cNvPr id="15" name="TextBox 14"/>
          <p:cNvSpPr txBox="1"/>
          <p:nvPr/>
        </p:nvSpPr>
        <p:spPr>
          <a:xfrm>
            <a:off x="2944368" y="4343400"/>
            <a:ext cx="2029968" cy="640080"/>
          </a:xfrm>
          <a:prstGeom prst="rect">
            <a:avLst/>
          </a:prstGeom>
          <a:noFill/>
        </p:spPr>
        <p:txBody>
          <a:bodyPr wrap="square" lIns="0" rIns="0" tIns="0" bIns="0">
            <a:spAutoFit/>
          </a:bodyPr>
          <a:lstStyle/>
          <a:p>
            <a:pPr>
              <a:spcAft>
                <a:spcPts val="600"/>
              </a:spcAft>
              <a:defRPr sz="1700" b="0">
                <a:solidFill>
                  <a:srgbClr val="655F56"/>
                </a:solidFill>
                <a:latin typeface="Arial"/>
              </a:defRPr>
            </a:pPr>
            <a:r>
              <a:t>Projects + evidence</a:t>
            </a:r>
          </a:p>
        </p:txBody>
      </p:sp>
      <p:sp>
        <p:nvSpPr>
          <p:cNvPr id="16" name="TextBox 15"/>
          <p:cNvSpPr txBox="1"/>
          <p:nvPr/>
        </p:nvSpPr>
        <p:spPr>
          <a:xfrm>
            <a:off x="4636008" y="2587752"/>
            <a:ext cx="502920" cy="457200"/>
          </a:xfrm>
          <a:prstGeom prst="rect">
            <a:avLst/>
          </a:prstGeom>
          <a:noFill/>
        </p:spPr>
        <p:txBody>
          <a:bodyPr wrap="square" lIns="0" rIns="0" tIns="0" bIns="0">
            <a:spAutoFit/>
          </a:bodyPr>
          <a:lstStyle/>
          <a:p>
            <a:pPr>
              <a:spcAft>
                <a:spcPts val="600"/>
              </a:spcAft>
              <a:defRPr sz="2800" b="0">
                <a:solidFill>
                  <a:srgbClr val="C6532C"/>
                </a:solidFill>
                <a:latin typeface="Arial"/>
              </a:defRPr>
            </a:pPr>
            <a:r>
              <a:t>→</a:t>
            </a:r>
          </a:p>
        </p:txBody>
      </p:sp>
      <p:sp>
        <p:nvSpPr>
          <p:cNvPr id="17" name="Rectangle 16"/>
          <p:cNvSpPr/>
          <p:nvPr/>
        </p:nvSpPr>
        <p:spPr>
          <a:xfrm>
            <a:off x="5248656" y="2606040"/>
            <a:ext cx="411480" cy="411480"/>
          </a:xfrm>
          <a:prstGeom prst="rect">
            <a:avLst/>
          </a:prstGeom>
          <a:solidFill>
            <a:srgbClr val="C6532C"/>
          </a:solidFill>
          <a:ln>
            <a:noFill/>
          </a:ln>
        </p:spPr>
        <p:txBody>
          <a:bodyPr rtlCol="0" anchor="ctr"/>
          <a:lstStyle/>
          <a:p>
            <a:pPr algn="ctr"/>
          </a:p>
        </p:txBody>
      </p:sp>
      <p:sp>
        <p:nvSpPr>
          <p:cNvPr id="18" name="TextBox 17"/>
          <p:cNvSpPr txBox="1"/>
          <p:nvPr/>
        </p:nvSpPr>
        <p:spPr>
          <a:xfrm>
            <a:off x="5358384" y="2651760"/>
            <a:ext cx="27432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3</a:t>
            </a:r>
          </a:p>
        </p:txBody>
      </p:sp>
      <p:sp>
        <p:nvSpPr>
          <p:cNvPr id="19" name="TextBox 18"/>
          <p:cNvSpPr txBox="1"/>
          <p:nvPr/>
        </p:nvSpPr>
        <p:spPr>
          <a:xfrm>
            <a:off x="5248656" y="3246120"/>
            <a:ext cx="2148840" cy="1005840"/>
          </a:xfrm>
          <a:prstGeom prst="rect">
            <a:avLst/>
          </a:prstGeom>
          <a:noFill/>
        </p:spPr>
        <p:txBody>
          <a:bodyPr wrap="square" lIns="0" rIns="0" tIns="0" bIns="0">
            <a:spAutoFit/>
          </a:bodyPr>
          <a:lstStyle/>
          <a:p>
            <a:pPr>
              <a:spcAft>
                <a:spcPts val="600"/>
              </a:spcAft>
              <a:defRPr sz="2300" b="1">
                <a:solidFill>
                  <a:srgbClr val="171717"/>
                </a:solidFill>
                <a:latin typeface="Arial"/>
              </a:defRPr>
            </a:pPr>
            <a:r>
              <a:t>Find an</a:t>
            </a:r>
          </a:p>
          <a:p>
            <a:pPr>
              <a:spcAft>
                <a:spcPts val="600"/>
              </a:spcAft>
              <a:defRPr sz="2300" b="1">
                <a:solidFill>
                  <a:srgbClr val="171717"/>
                </a:solidFill>
                <a:latin typeface="Arial"/>
              </a:defRPr>
            </a:pPr>
            <a:r>
              <a:t>Opportunity</a:t>
            </a:r>
          </a:p>
        </p:txBody>
      </p:sp>
      <p:sp>
        <p:nvSpPr>
          <p:cNvPr id="20" name="TextBox 19"/>
          <p:cNvSpPr txBox="1"/>
          <p:nvPr/>
        </p:nvSpPr>
        <p:spPr>
          <a:xfrm>
            <a:off x="5248656" y="4343400"/>
            <a:ext cx="2029968" cy="640080"/>
          </a:xfrm>
          <a:prstGeom prst="rect">
            <a:avLst/>
          </a:prstGeom>
          <a:noFill/>
        </p:spPr>
        <p:txBody>
          <a:bodyPr wrap="square" lIns="0" rIns="0" tIns="0" bIns="0">
            <a:spAutoFit/>
          </a:bodyPr>
          <a:lstStyle/>
          <a:p>
            <a:pPr>
              <a:spcAft>
                <a:spcPts val="600"/>
              </a:spcAft>
              <a:defRPr sz="1700" b="0">
                <a:solidFill>
                  <a:srgbClr val="655F56"/>
                </a:solidFill>
                <a:latin typeface="Arial"/>
              </a:defRPr>
            </a:pPr>
            <a:r>
              <a:t>Challenges + projects</a:t>
            </a:r>
          </a:p>
        </p:txBody>
      </p:sp>
      <p:sp>
        <p:nvSpPr>
          <p:cNvPr id="21" name="TextBox 20"/>
          <p:cNvSpPr txBox="1"/>
          <p:nvPr/>
        </p:nvSpPr>
        <p:spPr>
          <a:xfrm>
            <a:off x="6940296" y="2587752"/>
            <a:ext cx="502920" cy="457200"/>
          </a:xfrm>
          <a:prstGeom prst="rect">
            <a:avLst/>
          </a:prstGeom>
          <a:noFill/>
        </p:spPr>
        <p:txBody>
          <a:bodyPr wrap="square" lIns="0" rIns="0" tIns="0" bIns="0">
            <a:spAutoFit/>
          </a:bodyPr>
          <a:lstStyle/>
          <a:p>
            <a:pPr>
              <a:spcAft>
                <a:spcPts val="600"/>
              </a:spcAft>
              <a:defRPr sz="2800" b="0">
                <a:solidFill>
                  <a:srgbClr val="C6532C"/>
                </a:solidFill>
                <a:latin typeface="Arial"/>
              </a:defRPr>
            </a:pPr>
            <a:r>
              <a:t>→</a:t>
            </a:r>
          </a:p>
        </p:txBody>
      </p:sp>
      <p:sp>
        <p:nvSpPr>
          <p:cNvPr id="22" name="Rectangle 21"/>
          <p:cNvSpPr/>
          <p:nvPr/>
        </p:nvSpPr>
        <p:spPr>
          <a:xfrm>
            <a:off x="7552944" y="2606040"/>
            <a:ext cx="411480" cy="411480"/>
          </a:xfrm>
          <a:prstGeom prst="rect">
            <a:avLst/>
          </a:prstGeom>
          <a:solidFill>
            <a:srgbClr val="C6532C"/>
          </a:solidFill>
          <a:ln>
            <a:noFill/>
          </a:ln>
        </p:spPr>
        <p:txBody>
          <a:bodyPr rtlCol="0" anchor="ctr"/>
          <a:lstStyle/>
          <a:p>
            <a:pPr algn="ctr"/>
          </a:p>
        </p:txBody>
      </p:sp>
      <p:sp>
        <p:nvSpPr>
          <p:cNvPr id="23" name="TextBox 22"/>
          <p:cNvSpPr txBox="1"/>
          <p:nvPr/>
        </p:nvSpPr>
        <p:spPr>
          <a:xfrm>
            <a:off x="7662671" y="2651760"/>
            <a:ext cx="27432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4</a:t>
            </a:r>
          </a:p>
        </p:txBody>
      </p:sp>
      <p:sp>
        <p:nvSpPr>
          <p:cNvPr id="24" name="TextBox 23"/>
          <p:cNvSpPr txBox="1"/>
          <p:nvPr/>
        </p:nvSpPr>
        <p:spPr>
          <a:xfrm>
            <a:off x="7552944" y="3246120"/>
            <a:ext cx="2148840" cy="1005840"/>
          </a:xfrm>
          <a:prstGeom prst="rect">
            <a:avLst/>
          </a:prstGeom>
          <a:noFill/>
        </p:spPr>
        <p:txBody>
          <a:bodyPr wrap="square" lIns="0" rIns="0" tIns="0" bIns="0">
            <a:spAutoFit/>
          </a:bodyPr>
          <a:lstStyle/>
          <a:p>
            <a:pPr>
              <a:spcAft>
                <a:spcPts val="600"/>
              </a:spcAft>
              <a:defRPr sz="2300" b="1">
                <a:solidFill>
                  <a:srgbClr val="171717"/>
                </a:solidFill>
                <a:latin typeface="Arial"/>
              </a:defRPr>
            </a:pPr>
            <a:r>
              <a:t>Complete</a:t>
            </a:r>
          </a:p>
          <a:p>
            <a:pPr>
              <a:spcAft>
                <a:spcPts val="600"/>
              </a:spcAft>
              <a:defRPr sz="2300" b="1">
                <a:solidFill>
                  <a:srgbClr val="171717"/>
                </a:solidFill>
                <a:latin typeface="Arial"/>
              </a:defRPr>
            </a:pPr>
            <a:r>
              <a:t>Work</a:t>
            </a:r>
          </a:p>
        </p:txBody>
      </p:sp>
      <p:sp>
        <p:nvSpPr>
          <p:cNvPr id="25" name="TextBox 24"/>
          <p:cNvSpPr txBox="1"/>
          <p:nvPr/>
        </p:nvSpPr>
        <p:spPr>
          <a:xfrm>
            <a:off x="7552944" y="4343400"/>
            <a:ext cx="2029968" cy="640080"/>
          </a:xfrm>
          <a:prstGeom prst="rect">
            <a:avLst/>
          </a:prstGeom>
          <a:noFill/>
        </p:spPr>
        <p:txBody>
          <a:bodyPr wrap="square" lIns="0" rIns="0" tIns="0" bIns="0">
            <a:spAutoFit/>
          </a:bodyPr>
          <a:lstStyle/>
          <a:p>
            <a:pPr>
              <a:spcAft>
                <a:spcPts val="600"/>
              </a:spcAft>
              <a:defRPr sz="1700" b="0">
                <a:solidFill>
                  <a:srgbClr val="655F56"/>
                </a:solidFill>
                <a:latin typeface="Arial"/>
              </a:defRPr>
            </a:pPr>
            <a:r>
              <a:t>Submit + review</a:t>
            </a:r>
          </a:p>
        </p:txBody>
      </p:sp>
      <p:sp>
        <p:nvSpPr>
          <p:cNvPr id="26" name="TextBox 25"/>
          <p:cNvSpPr txBox="1"/>
          <p:nvPr/>
        </p:nvSpPr>
        <p:spPr>
          <a:xfrm>
            <a:off x="9244584" y="2587752"/>
            <a:ext cx="502920" cy="457200"/>
          </a:xfrm>
          <a:prstGeom prst="rect">
            <a:avLst/>
          </a:prstGeom>
          <a:noFill/>
        </p:spPr>
        <p:txBody>
          <a:bodyPr wrap="square" lIns="0" rIns="0" tIns="0" bIns="0">
            <a:spAutoFit/>
          </a:bodyPr>
          <a:lstStyle/>
          <a:p>
            <a:pPr>
              <a:spcAft>
                <a:spcPts val="600"/>
              </a:spcAft>
              <a:defRPr sz="2800" b="0">
                <a:solidFill>
                  <a:srgbClr val="C6532C"/>
                </a:solidFill>
                <a:latin typeface="Arial"/>
              </a:defRPr>
            </a:pPr>
            <a:r>
              <a:t>→</a:t>
            </a:r>
          </a:p>
        </p:txBody>
      </p:sp>
      <p:sp>
        <p:nvSpPr>
          <p:cNvPr id="27" name="Rectangle 26"/>
          <p:cNvSpPr/>
          <p:nvPr/>
        </p:nvSpPr>
        <p:spPr>
          <a:xfrm>
            <a:off x="9857232" y="2606040"/>
            <a:ext cx="411480" cy="411480"/>
          </a:xfrm>
          <a:prstGeom prst="rect">
            <a:avLst/>
          </a:prstGeom>
          <a:solidFill>
            <a:srgbClr val="C6532C"/>
          </a:solidFill>
          <a:ln>
            <a:noFill/>
          </a:ln>
        </p:spPr>
        <p:txBody>
          <a:bodyPr rtlCol="0" anchor="ctr"/>
          <a:lstStyle/>
          <a:p>
            <a:pPr algn="ctr"/>
          </a:p>
        </p:txBody>
      </p:sp>
      <p:sp>
        <p:nvSpPr>
          <p:cNvPr id="28" name="TextBox 27"/>
          <p:cNvSpPr txBox="1"/>
          <p:nvPr/>
        </p:nvSpPr>
        <p:spPr>
          <a:xfrm>
            <a:off x="9966959" y="2651760"/>
            <a:ext cx="27432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5</a:t>
            </a:r>
          </a:p>
        </p:txBody>
      </p:sp>
      <p:sp>
        <p:nvSpPr>
          <p:cNvPr id="29" name="TextBox 28"/>
          <p:cNvSpPr txBox="1"/>
          <p:nvPr/>
        </p:nvSpPr>
        <p:spPr>
          <a:xfrm>
            <a:off x="9857232" y="3246120"/>
            <a:ext cx="2148840" cy="1005840"/>
          </a:xfrm>
          <a:prstGeom prst="rect">
            <a:avLst/>
          </a:prstGeom>
          <a:noFill/>
        </p:spPr>
        <p:txBody>
          <a:bodyPr wrap="square" lIns="0" rIns="0" tIns="0" bIns="0">
            <a:spAutoFit/>
          </a:bodyPr>
          <a:lstStyle/>
          <a:p>
            <a:pPr>
              <a:spcAft>
                <a:spcPts val="600"/>
              </a:spcAft>
              <a:defRPr sz="2300" b="1">
                <a:solidFill>
                  <a:srgbClr val="171717"/>
                </a:solidFill>
                <a:latin typeface="Arial"/>
              </a:defRPr>
            </a:pPr>
            <a:r>
              <a:t>Add an</a:t>
            </a:r>
          </a:p>
          <a:p>
            <a:pPr>
              <a:spcAft>
                <a:spcPts val="600"/>
              </a:spcAft>
              <a:defRPr sz="2300" b="1">
                <a:solidFill>
                  <a:srgbClr val="171717"/>
                </a:solidFill>
                <a:latin typeface="Arial"/>
              </a:defRPr>
            </a:pPr>
            <a:r>
              <a:t>achievement</a:t>
            </a:r>
          </a:p>
        </p:txBody>
      </p:sp>
      <p:sp>
        <p:nvSpPr>
          <p:cNvPr id="30" name="TextBox 29"/>
          <p:cNvSpPr txBox="1"/>
          <p:nvPr/>
        </p:nvSpPr>
        <p:spPr>
          <a:xfrm>
            <a:off x="9857232" y="4343400"/>
            <a:ext cx="2029968" cy="640080"/>
          </a:xfrm>
          <a:prstGeom prst="rect">
            <a:avLst/>
          </a:prstGeom>
          <a:noFill/>
        </p:spPr>
        <p:txBody>
          <a:bodyPr wrap="square" lIns="0" rIns="0" tIns="0" bIns="0">
            <a:spAutoFit/>
          </a:bodyPr>
          <a:lstStyle/>
          <a:p>
            <a:pPr>
              <a:spcAft>
                <a:spcPts val="600"/>
              </a:spcAft>
              <a:defRPr sz="1700" b="0">
                <a:solidFill>
                  <a:srgbClr val="655F56"/>
                </a:solidFill>
                <a:latin typeface="Arial"/>
              </a:defRPr>
            </a:pPr>
            <a:r>
              <a:t>Separately issued</a:t>
            </a:r>
          </a:p>
        </p:txBody>
      </p:sp>
      <p:sp>
        <p:nvSpPr>
          <p:cNvPr id="31" name="Rectangle 30"/>
          <p:cNvSpPr/>
          <p:nvPr/>
        </p:nvSpPr>
        <p:spPr>
          <a:xfrm>
            <a:off x="640080" y="5349240"/>
            <a:ext cx="10881360" cy="731520"/>
          </a:xfrm>
          <a:prstGeom prst="rect">
            <a:avLst/>
          </a:prstGeom>
          <a:solidFill>
            <a:srgbClr val="E7DECF"/>
          </a:solidFill>
          <a:ln>
            <a:noFill/>
          </a:ln>
        </p:spPr>
        <p:txBody>
          <a:bodyPr rtlCol="0" anchor="ctr"/>
          <a:lstStyle/>
          <a:p>
            <a:pPr algn="ctr"/>
          </a:p>
        </p:txBody>
      </p:sp>
      <p:sp>
        <p:nvSpPr>
          <p:cNvPr id="32" name="TextBox 31"/>
          <p:cNvSpPr txBox="1"/>
          <p:nvPr/>
        </p:nvSpPr>
        <p:spPr>
          <a:xfrm>
            <a:off x="868680" y="5522976"/>
            <a:ext cx="10424160" cy="411480"/>
          </a:xfrm>
          <a:prstGeom prst="rect">
            <a:avLst/>
          </a:prstGeom>
          <a:noFill/>
        </p:spPr>
        <p:txBody>
          <a:bodyPr wrap="square" lIns="0" rIns="0" tIns="0" bIns="0">
            <a:spAutoFit/>
          </a:bodyPr>
          <a:lstStyle/>
          <a:p>
            <a:pPr>
              <a:spcAft>
                <a:spcPts val="600"/>
              </a:spcAft>
              <a:defRPr sz="2200" b="1">
                <a:solidFill>
                  <a:srgbClr val="171717"/>
                </a:solidFill>
                <a:latin typeface="Arial"/>
              </a:defRPr>
            </a:pPr>
            <a:r>
              <a:t>Paid projects: agreed milestones → work review → payment</a:t>
            </a:r>
          </a:p>
        </p:txBody>
      </p:sp>
      <p:sp>
        <p:nvSpPr>
          <p:cNvPr id="33" name="TextBox 32"/>
          <p:cNvSpPr txBox="1"/>
          <p:nvPr/>
        </p:nvSpPr>
        <p:spPr>
          <a:xfrm>
            <a:off x="685800" y="6309360"/>
            <a:ext cx="10972800" cy="320040"/>
          </a:xfrm>
          <a:prstGeom prst="rect">
            <a:avLst/>
          </a:prstGeom>
          <a:noFill/>
        </p:spPr>
        <p:txBody>
          <a:bodyPr wrap="square" lIns="0" rIns="0" tIns="0" bIns="0">
            <a:spAutoFit/>
          </a:bodyPr>
          <a:lstStyle/>
          <a:p>
            <a:pPr>
              <a:spcAft>
                <a:spcPts val="600"/>
              </a:spcAft>
              <a:defRPr sz="1500" b="0">
                <a:solidFill>
                  <a:srgbClr val="655F56"/>
                </a:solidFill>
                <a:latin typeface="Arial"/>
              </a:defRPr>
            </a:pPr>
            <a:r>
              <a:t>Authorized organizations issue credentials separately. A payment does not create a credential.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F5F0E6"/>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WHY SOLANA</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F5F0E6"/>
                </a:solidFill>
                <a:latin typeface="Arial"/>
              </a:defRPr>
            </a:pPr>
            <a:r>
              <a:t>05 / 11</a:t>
            </a:r>
          </a:p>
        </p:txBody>
      </p:sp>
      <p:sp>
        <p:nvSpPr>
          <p:cNvPr id="5" name="Rectangle 4"/>
          <p:cNvSpPr/>
          <p:nvPr/>
        </p:nvSpPr>
        <p:spPr>
          <a:xfrm>
            <a:off x="502920" y="694944"/>
            <a:ext cx="11155680" cy="12801"/>
          </a:xfrm>
          <a:prstGeom prst="rect">
            <a:avLst/>
          </a:prstGeom>
          <a:solidFill>
            <a:srgbClr val="44413B"/>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F5F0E6"/>
                </a:solidFill>
                <a:latin typeface="Arial"/>
              </a:defRPr>
            </a:pPr>
            <a:r>
              <a:t>Two important jobs for Solana.</a:t>
            </a:r>
          </a:p>
        </p:txBody>
      </p:sp>
      <p:sp>
        <p:nvSpPr>
          <p:cNvPr id="7" name="TextBox 6"/>
          <p:cNvSpPr txBox="1"/>
          <p:nvPr/>
        </p:nvSpPr>
        <p:spPr>
          <a:xfrm>
            <a:off x="685800" y="2468880"/>
            <a:ext cx="914400" cy="548640"/>
          </a:xfrm>
          <a:prstGeom prst="rect">
            <a:avLst/>
          </a:prstGeom>
          <a:noFill/>
        </p:spPr>
        <p:txBody>
          <a:bodyPr wrap="square" lIns="0" rIns="0" tIns="0" bIns="0">
            <a:spAutoFit/>
          </a:bodyPr>
          <a:lstStyle/>
          <a:p>
            <a:pPr>
              <a:spcAft>
                <a:spcPts val="600"/>
              </a:spcAft>
              <a:defRPr sz="3400" b="1">
                <a:solidFill>
                  <a:srgbClr val="C6532C"/>
                </a:solidFill>
                <a:latin typeface="Arial"/>
              </a:defRPr>
            </a:pPr>
            <a:r>
              <a:t>01</a:t>
            </a:r>
          </a:p>
        </p:txBody>
      </p:sp>
      <p:sp>
        <p:nvSpPr>
          <p:cNvPr id="8" name="TextBox 7"/>
          <p:cNvSpPr txBox="1"/>
          <p:nvPr/>
        </p:nvSpPr>
        <p:spPr>
          <a:xfrm>
            <a:off x="685800" y="3154680"/>
            <a:ext cx="5029200" cy="502920"/>
          </a:xfrm>
          <a:prstGeom prst="rect">
            <a:avLst/>
          </a:prstGeom>
          <a:noFill/>
        </p:spPr>
        <p:txBody>
          <a:bodyPr wrap="square" lIns="0" rIns="0" tIns="0" bIns="0">
            <a:spAutoFit/>
          </a:bodyPr>
          <a:lstStyle/>
          <a:p>
            <a:pPr>
              <a:spcAft>
                <a:spcPts val="600"/>
              </a:spcAft>
              <a:defRPr sz="2900" b="1">
                <a:solidFill>
                  <a:srgbClr val="F5F0E6"/>
                </a:solidFill>
                <a:latin typeface="Arial"/>
              </a:defRPr>
            </a:pPr>
            <a:r>
              <a:t>Credential integrity</a:t>
            </a:r>
          </a:p>
        </p:txBody>
      </p:sp>
      <p:sp>
        <p:nvSpPr>
          <p:cNvPr id="9" name="TextBox 8"/>
          <p:cNvSpPr txBox="1"/>
          <p:nvPr/>
        </p:nvSpPr>
        <p:spPr>
          <a:xfrm>
            <a:off x="685800" y="3840480"/>
            <a:ext cx="5120640" cy="914400"/>
          </a:xfrm>
          <a:prstGeom prst="rect">
            <a:avLst/>
          </a:prstGeom>
          <a:noFill/>
        </p:spPr>
        <p:txBody>
          <a:bodyPr wrap="square" lIns="0" rIns="0" tIns="0" bIns="0">
            <a:spAutoFit/>
          </a:bodyPr>
          <a:lstStyle/>
          <a:p>
            <a:pPr>
              <a:spcAft>
                <a:spcPts val="600"/>
              </a:spcAft>
              <a:defRPr sz="2200" b="0">
                <a:solidFill>
                  <a:srgbClr val="F5F0E6"/>
                </a:solidFill>
                <a:latin typeface="Arial"/>
              </a:defRPr>
            </a:pPr>
            <a:r>
              <a:t>Record a digital fingerprint.</a:t>
            </a:r>
          </a:p>
          <a:p>
            <a:pPr>
              <a:spcAft>
                <a:spcPts val="600"/>
              </a:spcAft>
              <a:defRPr sz="2200" b="0">
                <a:solidFill>
                  <a:srgbClr val="F5F0E6"/>
                </a:solidFill>
                <a:latin typeface="Arial"/>
              </a:defRPr>
            </a:pPr>
            <a:r>
              <a:t>Check whether the record changed.</a:t>
            </a:r>
          </a:p>
        </p:txBody>
      </p:sp>
      <p:sp>
        <p:nvSpPr>
          <p:cNvPr id="10" name="TextBox 9"/>
          <p:cNvSpPr txBox="1"/>
          <p:nvPr/>
        </p:nvSpPr>
        <p:spPr>
          <a:xfrm>
            <a:off x="685800" y="4983480"/>
            <a:ext cx="5120640" cy="548640"/>
          </a:xfrm>
          <a:prstGeom prst="rect">
            <a:avLst/>
          </a:prstGeom>
          <a:noFill/>
        </p:spPr>
        <p:txBody>
          <a:bodyPr wrap="square" lIns="0" rIns="0" tIns="0" bIns="0">
            <a:spAutoFit/>
          </a:bodyPr>
          <a:lstStyle/>
          <a:p>
            <a:pPr>
              <a:spcAft>
                <a:spcPts val="600"/>
              </a:spcAft>
              <a:defRPr sz="1800" b="0">
                <a:solidFill>
                  <a:srgbClr val="D6CDBF"/>
                </a:solidFill>
                <a:latin typeface="Arial"/>
              </a:defRPr>
            </a:pPr>
            <a:r>
              <a:t>Credential → fingerprint → Solana</a:t>
            </a:r>
          </a:p>
        </p:txBody>
      </p:sp>
      <p:sp>
        <p:nvSpPr>
          <p:cNvPr id="11" name="TextBox 10"/>
          <p:cNvSpPr txBox="1"/>
          <p:nvPr/>
        </p:nvSpPr>
        <p:spPr>
          <a:xfrm>
            <a:off x="6400800" y="2468880"/>
            <a:ext cx="914400" cy="548640"/>
          </a:xfrm>
          <a:prstGeom prst="rect">
            <a:avLst/>
          </a:prstGeom>
          <a:noFill/>
        </p:spPr>
        <p:txBody>
          <a:bodyPr wrap="square" lIns="0" rIns="0" tIns="0" bIns="0">
            <a:spAutoFit/>
          </a:bodyPr>
          <a:lstStyle/>
          <a:p>
            <a:pPr>
              <a:spcAft>
                <a:spcPts val="600"/>
              </a:spcAft>
              <a:defRPr sz="3400" b="1">
                <a:solidFill>
                  <a:srgbClr val="C6532C"/>
                </a:solidFill>
                <a:latin typeface="Arial"/>
              </a:defRPr>
            </a:pPr>
            <a:r>
              <a:t>02</a:t>
            </a:r>
          </a:p>
        </p:txBody>
      </p:sp>
      <p:sp>
        <p:nvSpPr>
          <p:cNvPr id="12" name="TextBox 11"/>
          <p:cNvSpPr txBox="1"/>
          <p:nvPr/>
        </p:nvSpPr>
        <p:spPr>
          <a:xfrm>
            <a:off x="6400800" y="3154680"/>
            <a:ext cx="5029200" cy="502920"/>
          </a:xfrm>
          <a:prstGeom prst="rect">
            <a:avLst/>
          </a:prstGeom>
          <a:noFill/>
        </p:spPr>
        <p:txBody>
          <a:bodyPr wrap="square" lIns="0" rIns="0" tIns="0" bIns="0">
            <a:spAutoFit/>
          </a:bodyPr>
          <a:lstStyle/>
          <a:p>
            <a:pPr>
              <a:spcAft>
                <a:spcPts val="600"/>
              </a:spcAft>
              <a:defRPr sz="2900" b="1">
                <a:solidFill>
                  <a:srgbClr val="F5F0E6"/>
                </a:solidFill>
                <a:latin typeface="Arial"/>
              </a:defRPr>
            </a:pPr>
            <a:r>
              <a:t>Milestone payments</a:t>
            </a:r>
          </a:p>
        </p:txBody>
      </p:sp>
      <p:sp>
        <p:nvSpPr>
          <p:cNvPr id="13" name="TextBox 12"/>
          <p:cNvSpPr txBox="1"/>
          <p:nvPr/>
        </p:nvSpPr>
        <p:spPr>
          <a:xfrm>
            <a:off x="6400800" y="3840480"/>
            <a:ext cx="5120640" cy="914400"/>
          </a:xfrm>
          <a:prstGeom prst="rect">
            <a:avLst/>
          </a:prstGeom>
          <a:noFill/>
        </p:spPr>
        <p:txBody>
          <a:bodyPr wrap="square" lIns="0" rIns="0" tIns="0" bIns="0">
            <a:spAutoFit/>
          </a:bodyPr>
          <a:lstStyle/>
          <a:p>
            <a:pPr>
              <a:spcAft>
                <a:spcPts val="600"/>
              </a:spcAft>
              <a:defRPr sz="2200" b="0">
                <a:solidFill>
                  <a:srgbClr val="F5F0E6"/>
                </a:solidFill>
                <a:latin typeface="Arial"/>
              </a:defRPr>
            </a:pPr>
            <a:r>
              <a:t>Connected wallets send test USDC</a:t>
            </a:r>
          </a:p>
          <a:p>
            <a:pPr>
              <a:spcAft>
                <a:spcPts val="600"/>
              </a:spcAft>
              <a:defRPr sz="2200" b="0">
                <a:solidFill>
                  <a:srgbClr val="F5F0E6"/>
                </a:solidFill>
                <a:latin typeface="Arial"/>
              </a:defRPr>
            </a:pPr>
            <a:r>
              <a:t>for approved project milestones.</a:t>
            </a:r>
          </a:p>
        </p:txBody>
      </p:sp>
      <p:sp>
        <p:nvSpPr>
          <p:cNvPr id="14" name="TextBox 13"/>
          <p:cNvSpPr txBox="1"/>
          <p:nvPr/>
        </p:nvSpPr>
        <p:spPr>
          <a:xfrm>
            <a:off x="6400800" y="4983480"/>
            <a:ext cx="5120640" cy="548640"/>
          </a:xfrm>
          <a:prstGeom prst="rect">
            <a:avLst/>
          </a:prstGeom>
          <a:noFill/>
        </p:spPr>
        <p:txBody>
          <a:bodyPr wrap="square" lIns="0" rIns="0" tIns="0" bIns="0">
            <a:spAutoFit/>
          </a:bodyPr>
          <a:lstStyle/>
          <a:p>
            <a:pPr>
              <a:spcAft>
                <a:spcPts val="600"/>
              </a:spcAft>
              <a:defRPr sz="1800" b="0">
                <a:solidFill>
                  <a:srgbClr val="D6CDBF"/>
                </a:solidFill>
                <a:latin typeface="Arial"/>
              </a:defRPr>
            </a:pPr>
            <a:r>
              <a:t>Approved work → transfer → receipt</a:t>
            </a:r>
          </a:p>
        </p:txBody>
      </p:sp>
      <p:sp>
        <p:nvSpPr>
          <p:cNvPr id="15" name="Rectangle 14"/>
          <p:cNvSpPr/>
          <p:nvPr/>
        </p:nvSpPr>
        <p:spPr>
          <a:xfrm>
            <a:off x="5870448" y="2468880"/>
            <a:ext cx="13716" cy="2926080"/>
          </a:xfrm>
          <a:prstGeom prst="rect">
            <a:avLst/>
          </a:prstGeom>
          <a:solidFill>
            <a:srgbClr val="575049"/>
          </a:solidFill>
          <a:ln>
            <a:noFill/>
          </a:ln>
        </p:spPr>
        <p:txBody>
          <a:bodyPr rtlCol="0" anchor="ctr"/>
          <a:lstStyle/>
          <a:p>
            <a:pPr algn="ctr"/>
          </a:p>
        </p:txBody>
      </p:sp>
      <p:sp>
        <p:nvSpPr>
          <p:cNvPr id="16" name="TextBox 15"/>
          <p:cNvSpPr txBox="1"/>
          <p:nvPr/>
        </p:nvSpPr>
        <p:spPr>
          <a:xfrm>
            <a:off x="685800" y="5806440"/>
            <a:ext cx="10972800" cy="457200"/>
          </a:xfrm>
          <a:prstGeom prst="rect">
            <a:avLst/>
          </a:prstGeom>
          <a:noFill/>
        </p:spPr>
        <p:txBody>
          <a:bodyPr wrap="square" lIns="0" rIns="0" tIns="0" bIns="0">
            <a:spAutoFit/>
          </a:bodyPr>
          <a:lstStyle/>
          <a:p>
            <a:pPr>
              <a:spcAft>
                <a:spcPts val="600"/>
              </a:spcAft>
              <a:defRPr sz="2300" b="1">
                <a:solidFill>
                  <a:srgbClr val="F5F0E6"/>
                </a:solidFill>
                <a:latin typeface="Arial"/>
              </a:defRPr>
            </a:pPr>
            <a:r>
              <a:t>Low costs. Fast settlement. Public transaction records.</a:t>
            </a:r>
          </a:p>
        </p:txBody>
      </p:sp>
      <p:sp>
        <p:nvSpPr>
          <p:cNvPr id="17" name="TextBox 16"/>
          <p:cNvSpPr txBox="1"/>
          <p:nvPr/>
        </p:nvSpPr>
        <p:spPr>
          <a:xfrm>
            <a:off x="685800" y="6400800"/>
            <a:ext cx="10972800" cy="228600"/>
          </a:xfrm>
          <a:prstGeom prst="rect">
            <a:avLst/>
          </a:prstGeom>
          <a:noFill/>
        </p:spPr>
        <p:txBody>
          <a:bodyPr wrap="square" lIns="0" rIns="0" tIns="0" bIns="0">
            <a:spAutoFit/>
          </a:bodyPr>
          <a:lstStyle/>
          <a:p>
            <a:pPr>
              <a:spcAft>
                <a:spcPts val="600"/>
              </a:spcAft>
              <a:defRPr sz="1200" b="1">
                <a:solidFill>
                  <a:srgbClr val="E9A58C"/>
                </a:solidFill>
                <a:latin typeface="Arial"/>
              </a:defRPr>
            </a:pPr>
            <a:r>
              <a:t>DEVNET ONLY · TEST TOKENS · LIVE END-TO-END VALIDATION STILL PENDING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THE DIFFERENCE</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06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More than a CV.</a:t>
            </a:r>
          </a:p>
          <a:p>
            <a:pPr>
              <a:spcAft>
                <a:spcPts val="600"/>
              </a:spcAft>
              <a:defRPr sz="3400" b="1">
                <a:solidFill>
                  <a:srgbClr val="171717"/>
                </a:solidFill>
                <a:latin typeface="Arial"/>
              </a:defRPr>
            </a:pPr>
            <a:r>
              <a:t>More than a job platform.</a:t>
            </a:r>
          </a:p>
        </p:txBody>
      </p:sp>
      <p:sp>
        <p:nvSpPr>
          <p:cNvPr id="7" name="TextBox 6"/>
          <p:cNvSpPr txBox="1"/>
          <p:nvPr/>
        </p:nvSpPr>
        <p:spPr>
          <a:xfrm>
            <a:off x="731520" y="2560320"/>
            <a:ext cx="3657600" cy="365760"/>
          </a:xfrm>
          <a:prstGeom prst="rect">
            <a:avLst/>
          </a:prstGeom>
          <a:noFill/>
        </p:spPr>
        <p:txBody>
          <a:bodyPr wrap="square" lIns="0" rIns="0" tIns="0" bIns="0">
            <a:spAutoFit/>
          </a:bodyPr>
          <a:lstStyle/>
          <a:p>
            <a:pPr>
              <a:spcAft>
                <a:spcPts val="600"/>
              </a:spcAft>
              <a:defRPr sz="1500" b="1">
                <a:solidFill>
                  <a:srgbClr val="655F56"/>
                </a:solidFill>
                <a:latin typeface="Arial"/>
              </a:defRPr>
            </a:pPr>
            <a:r>
              <a:t>TODAY</a:t>
            </a:r>
          </a:p>
        </p:txBody>
      </p:sp>
      <p:sp>
        <p:nvSpPr>
          <p:cNvPr id="8" name="TextBox 7"/>
          <p:cNvSpPr txBox="1"/>
          <p:nvPr/>
        </p:nvSpPr>
        <p:spPr>
          <a:xfrm>
            <a:off x="731520" y="3154680"/>
            <a:ext cx="4572000" cy="457200"/>
          </a:xfrm>
          <a:prstGeom prst="rect">
            <a:avLst/>
          </a:prstGeom>
          <a:noFill/>
        </p:spPr>
        <p:txBody>
          <a:bodyPr wrap="square" lIns="0" rIns="0" tIns="0" bIns="0">
            <a:spAutoFit/>
          </a:bodyPr>
          <a:lstStyle/>
          <a:p>
            <a:pPr>
              <a:spcAft>
                <a:spcPts val="600"/>
              </a:spcAft>
              <a:defRPr sz="2400" b="0">
                <a:solidFill>
                  <a:srgbClr val="171717"/>
                </a:solidFill>
                <a:latin typeface="Arial"/>
              </a:defRPr>
            </a:pPr>
            <a:r>
              <a:t>CV + separate project links</a:t>
            </a:r>
          </a:p>
        </p:txBody>
      </p:sp>
      <p:sp>
        <p:nvSpPr>
          <p:cNvPr id="9" name="TextBox 8"/>
          <p:cNvSpPr txBox="1"/>
          <p:nvPr/>
        </p:nvSpPr>
        <p:spPr>
          <a:xfrm>
            <a:off x="731520" y="3886200"/>
            <a:ext cx="4572000" cy="457200"/>
          </a:xfrm>
          <a:prstGeom prst="rect">
            <a:avLst/>
          </a:prstGeom>
          <a:noFill/>
        </p:spPr>
        <p:txBody>
          <a:bodyPr wrap="square" lIns="0" rIns="0" tIns="0" bIns="0">
            <a:spAutoFit/>
          </a:bodyPr>
          <a:lstStyle/>
          <a:p>
            <a:pPr>
              <a:spcAft>
                <a:spcPts val="600"/>
              </a:spcAft>
              <a:defRPr sz="2400" b="0">
                <a:solidFill>
                  <a:srgbClr val="171717"/>
                </a:solidFill>
                <a:latin typeface="Arial"/>
              </a:defRPr>
            </a:pPr>
            <a:r>
              <a:t>Certificates in email</a:t>
            </a:r>
          </a:p>
        </p:txBody>
      </p:sp>
      <p:sp>
        <p:nvSpPr>
          <p:cNvPr id="10" name="TextBox 9"/>
          <p:cNvSpPr txBox="1"/>
          <p:nvPr/>
        </p:nvSpPr>
        <p:spPr>
          <a:xfrm>
            <a:off x="731520" y="4617720"/>
            <a:ext cx="4572000" cy="457200"/>
          </a:xfrm>
          <a:prstGeom prst="rect">
            <a:avLst/>
          </a:prstGeom>
          <a:noFill/>
        </p:spPr>
        <p:txBody>
          <a:bodyPr wrap="square" lIns="0" rIns="0" tIns="0" bIns="0">
            <a:spAutoFit/>
          </a:bodyPr>
          <a:lstStyle/>
          <a:p>
            <a:pPr>
              <a:spcAft>
                <a:spcPts val="600"/>
              </a:spcAft>
              <a:defRPr sz="2400" b="0">
                <a:solidFill>
                  <a:srgbClr val="171717"/>
                </a:solidFill>
                <a:latin typeface="Arial"/>
              </a:defRPr>
            </a:pPr>
            <a:r>
              <a:t>Work history left behind</a:t>
            </a:r>
          </a:p>
        </p:txBody>
      </p:sp>
      <p:sp>
        <p:nvSpPr>
          <p:cNvPr id="11" name="TextBox 10"/>
          <p:cNvSpPr txBox="1"/>
          <p:nvPr/>
        </p:nvSpPr>
        <p:spPr>
          <a:xfrm>
            <a:off x="5486400" y="3703320"/>
            <a:ext cx="914400" cy="640080"/>
          </a:xfrm>
          <a:prstGeom prst="rect">
            <a:avLst/>
          </a:prstGeom>
          <a:noFill/>
        </p:spPr>
        <p:txBody>
          <a:bodyPr wrap="square" lIns="0" rIns="0" tIns="0" bIns="0">
            <a:spAutoFit/>
          </a:bodyPr>
          <a:lstStyle/>
          <a:p>
            <a:pPr>
              <a:spcAft>
                <a:spcPts val="600"/>
              </a:spcAft>
              <a:defRPr sz="4600" b="0">
                <a:solidFill>
                  <a:srgbClr val="C6532C"/>
                </a:solidFill>
                <a:latin typeface="Arial"/>
              </a:defRPr>
            </a:pPr>
            <a:r>
              <a:t>→</a:t>
            </a:r>
          </a:p>
        </p:txBody>
      </p:sp>
      <p:sp>
        <p:nvSpPr>
          <p:cNvPr id="12" name="Rectangle 11"/>
          <p:cNvSpPr/>
          <p:nvPr/>
        </p:nvSpPr>
        <p:spPr>
          <a:xfrm>
            <a:off x="6583680" y="2514600"/>
            <a:ext cx="4846320" cy="3337560"/>
          </a:xfrm>
          <a:prstGeom prst="rect">
            <a:avLst/>
          </a:prstGeom>
          <a:solidFill>
            <a:srgbClr val="E7DECF"/>
          </a:solidFill>
          <a:ln>
            <a:noFill/>
          </a:ln>
        </p:spPr>
        <p:txBody>
          <a:bodyPr rtlCol="0" anchor="ctr"/>
          <a:lstStyle/>
          <a:p>
            <a:pPr algn="ctr"/>
          </a:p>
        </p:txBody>
      </p:sp>
      <p:sp>
        <p:nvSpPr>
          <p:cNvPr id="13" name="TextBox 12"/>
          <p:cNvSpPr txBox="1"/>
          <p:nvPr/>
        </p:nvSpPr>
        <p:spPr>
          <a:xfrm>
            <a:off x="6858000" y="2788920"/>
            <a:ext cx="4297680" cy="320040"/>
          </a:xfrm>
          <a:prstGeom prst="rect">
            <a:avLst/>
          </a:prstGeom>
          <a:noFill/>
        </p:spPr>
        <p:txBody>
          <a:bodyPr wrap="square" lIns="0" rIns="0" tIns="0" bIns="0">
            <a:spAutoFit/>
          </a:bodyPr>
          <a:lstStyle/>
          <a:p>
            <a:pPr>
              <a:spcAft>
                <a:spcPts val="600"/>
              </a:spcAft>
              <a:defRPr sz="1500" b="1">
                <a:solidFill>
                  <a:srgbClr val="C6532C"/>
                </a:solidFill>
                <a:latin typeface="Arial"/>
              </a:defRPr>
            </a:pPr>
            <a:r>
              <a:t>WITH PROOFPAK</a:t>
            </a:r>
          </a:p>
        </p:txBody>
      </p:sp>
      <p:sp>
        <p:nvSpPr>
          <p:cNvPr id="14" name="TextBox 13"/>
          <p:cNvSpPr txBox="1"/>
          <p:nvPr/>
        </p:nvSpPr>
        <p:spPr>
          <a:xfrm>
            <a:off x="6858000" y="3429000"/>
            <a:ext cx="4206240" cy="1188720"/>
          </a:xfrm>
          <a:prstGeom prst="rect">
            <a:avLst/>
          </a:prstGeom>
          <a:noFill/>
        </p:spPr>
        <p:txBody>
          <a:bodyPr wrap="square" lIns="0" rIns="0" tIns="0" bIns="0">
            <a:spAutoFit/>
          </a:bodyPr>
          <a:lstStyle/>
          <a:p>
            <a:pPr>
              <a:spcAft>
                <a:spcPts val="600"/>
              </a:spcAft>
              <a:defRPr sz="3300" b="1">
                <a:solidFill>
                  <a:srgbClr val="171717"/>
                </a:solidFill>
                <a:latin typeface="Arial"/>
              </a:defRPr>
            </a:pPr>
            <a:r>
              <a:t>One shareable</a:t>
            </a:r>
          </a:p>
          <a:p>
            <a:pPr>
              <a:spcAft>
                <a:spcPts val="600"/>
              </a:spcAft>
              <a:defRPr sz="3300" b="1">
                <a:solidFill>
                  <a:srgbClr val="171717"/>
                </a:solidFill>
                <a:latin typeface="Arial"/>
              </a:defRPr>
            </a:pPr>
            <a:r>
              <a:t>professional record.</a:t>
            </a:r>
          </a:p>
        </p:txBody>
      </p:sp>
      <p:sp>
        <p:nvSpPr>
          <p:cNvPr id="15" name="TextBox 14"/>
          <p:cNvSpPr txBox="1"/>
          <p:nvPr/>
        </p:nvSpPr>
        <p:spPr>
          <a:xfrm>
            <a:off x="6858000" y="5029200"/>
            <a:ext cx="4114800" cy="640080"/>
          </a:xfrm>
          <a:prstGeom prst="rect">
            <a:avLst/>
          </a:prstGeom>
          <a:noFill/>
        </p:spPr>
        <p:txBody>
          <a:bodyPr wrap="square" lIns="0" rIns="0" tIns="0" bIns="0">
            <a:spAutoFit/>
          </a:bodyPr>
          <a:lstStyle/>
          <a:p>
            <a:pPr>
              <a:spcAft>
                <a:spcPts val="600"/>
              </a:spcAft>
              <a:defRPr sz="2100" b="0">
                <a:solidFill>
                  <a:srgbClr val="171717"/>
                </a:solidFill>
                <a:latin typeface="Arial"/>
              </a:defRPr>
            </a:pPr>
            <a:r>
              <a:t>Each new achievement adds 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PRODUCT STATUS</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07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Built and ready for real-world testing.</a:t>
            </a:r>
          </a:p>
        </p:txBody>
      </p:sp>
      <p:sp>
        <p:nvSpPr>
          <p:cNvPr id="7" name="Rectangle 6"/>
          <p:cNvSpPr/>
          <p:nvPr/>
        </p:nvSpPr>
        <p:spPr>
          <a:xfrm>
            <a:off x="640080" y="2011680"/>
            <a:ext cx="3154680" cy="2240280"/>
          </a:xfrm>
          <a:prstGeom prst="rect">
            <a:avLst/>
          </a:prstGeom>
          <a:solidFill>
            <a:srgbClr val="FFFCF6"/>
          </a:solidFill>
          <a:ln>
            <a:solidFill>
              <a:srgbClr val="E7DECF"/>
            </a:solidFill>
          </a:ln>
        </p:spPr>
        <p:txBody>
          <a:bodyPr rtlCol="0" anchor="ctr"/>
          <a:lstStyle/>
          <a:p>
            <a:pPr algn="ctr"/>
          </a:p>
        </p:txBody>
      </p:sp>
      <p:pic>
        <p:nvPicPr>
          <p:cNvPr id="8" name="Picture 7" descr="passport-focus.png"/>
          <p:cNvPicPr>
            <a:picLocks noChangeAspect="1"/>
          </p:cNvPicPr>
          <p:nvPr/>
        </p:nvPicPr>
        <p:blipFill>
          <a:blip r:embed="rId2"/>
          <a:stretch>
            <a:fillRect/>
          </a:stretch>
        </p:blipFill>
        <p:spPr>
          <a:xfrm>
            <a:off x="713231" y="2277747"/>
            <a:ext cx="3008376" cy="1708145"/>
          </a:xfrm>
          <a:prstGeom prst="rect">
            <a:avLst/>
          </a:prstGeom>
        </p:spPr>
      </p:pic>
      <p:sp>
        <p:nvSpPr>
          <p:cNvPr id="9" name="TextBox 8"/>
          <p:cNvSpPr txBox="1"/>
          <p:nvPr/>
        </p:nvSpPr>
        <p:spPr>
          <a:xfrm>
            <a:off x="640080" y="4389120"/>
            <a:ext cx="3337560" cy="411480"/>
          </a:xfrm>
          <a:prstGeom prst="rect">
            <a:avLst/>
          </a:prstGeom>
          <a:noFill/>
        </p:spPr>
        <p:txBody>
          <a:bodyPr wrap="square" lIns="0" rIns="0" tIns="0" bIns="0">
            <a:spAutoFit/>
          </a:bodyPr>
          <a:lstStyle/>
          <a:p>
            <a:pPr>
              <a:spcAft>
                <a:spcPts val="600"/>
              </a:spcAft>
              <a:defRPr sz="2100" b="1">
                <a:solidFill>
                  <a:srgbClr val="171717"/>
                </a:solidFill>
                <a:latin typeface="Arial"/>
              </a:defRPr>
            </a:pPr>
            <a:r>
              <a:t>Skill Passport</a:t>
            </a:r>
          </a:p>
        </p:txBody>
      </p:sp>
      <p:sp>
        <p:nvSpPr>
          <p:cNvPr id="10" name="Rectangle 9"/>
          <p:cNvSpPr/>
          <p:nvPr/>
        </p:nvSpPr>
        <p:spPr>
          <a:xfrm>
            <a:off x="4517136" y="2011680"/>
            <a:ext cx="3154680" cy="2240280"/>
          </a:xfrm>
          <a:prstGeom prst="rect">
            <a:avLst/>
          </a:prstGeom>
          <a:solidFill>
            <a:srgbClr val="FFFCF6"/>
          </a:solidFill>
          <a:ln>
            <a:solidFill>
              <a:srgbClr val="E7DECF"/>
            </a:solidFill>
          </a:ln>
        </p:spPr>
        <p:txBody>
          <a:bodyPr rtlCol="0" anchor="ctr"/>
          <a:lstStyle/>
          <a:p>
            <a:pPr algn="ctr"/>
          </a:p>
        </p:txBody>
      </p:sp>
      <p:pic>
        <p:nvPicPr>
          <p:cNvPr id="11" name="Picture 10" descr="credential-focus.png"/>
          <p:cNvPicPr>
            <a:picLocks noChangeAspect="1"/>
          </p:cNvPicPr>
          <p:nvPr/>
        </p:nvPicPr>
        <p:blipFill>
          <a:blip r:embed="rId3"/>
          <a:stretch>
            <a:fillRect/>
          </a:stretch>
        </p:blipFill>
        <p:spPr>
          <a:xfrm>
            <a:off x="4590288" y="2208339"/>
            <a:ext cx="3008375" cy="1846960"/>
          </a:xfrm>
          <a:prstGeom prst="rect">
            <a:avLst/>
          </a:prstGeom>
        </p:spPr>
      </p:pic>
      <p:sp>
        <p:nvSpPr>
          <p:cNvPr id="12" name="TextBox 11"/>
          <p:cNvSpPr txBox="1"/>
          <p:nvPr/>
        </p:nvSpPr>
        <p:spPr>
          <a:xfrm>
            <a:off x="4517136" y="4389120"/>
            <a:ext cx="3337560" cy="411480"/>
          </a:xfrm>
          <a:prstGeom prst="rect">
            <a:avLst/>
          </a:prstGeom>
          <a:noFill/>
        </p:spPr>
        <p:txBody>
          <a:bodyPr wrap="square" lIns="0" rIns="0" tIns="0" bIns="0">
            <a:spAutoFit/>
          </a:bodyPr>
          <a:lstStyle/>
          <a:p>
            <a:pPr>
              <a:spcAft>
                <a:spcPts val="600"/>
              </a:spcAft>
              <a:defRPr sz="2100" b="1">
                <a:solidFill>
                  <a:srgbClr val="171717"/>
                </a:solidFill>
                <a:latin typeface="Arial"/>
              </a:defRPr>
            </a:pPr>
            <a:r>
              <a:t>Credential presentation</a:t>
            </a:r>
          </a:p>
        </p:txBody>
      </p:sp>
      <p:sp>
        <p:nvSpPr>
          <p:cNvPr id="13" name="Rectangle 12"/>
          <p:cNvSpPr/>
          <p:nvPr/>
        </p:nvSpPr>
        <p:spPr>
          <a:xfrm>
            <a:off x="8394192" y="2011680"/>
            <a:ext cx="3154680" cy="2240280"/>
          </a:xfrm>
          <a:prstGeom prst="rect">
            <a:avLst/>
          </a:prstGeom>
          <a:solidFill>
            <a:srgbClr val="FFFCF6"/>
          </a:solidFill>
          <a:ln>
            <a:solidFill>
              <a:srgbClr val="E7DECF"/>
            </a:solidFill>
          </a:ln>
        </p:spPr>
        <p:txBody>
          <a:bodyPr rtlCol="0" anchor="ctr"/>
          <a:lstStyle/>
          <a:p>
            <a:pPr algn="ctr"/>
          </a:p>
        </p:txBody>
      </p:sp>
      <p:pic>
        <p:nvPicPr>
          <p:cNvPr id="14" name="Picture 13" descr="challenges-focus.png"/>
          <p:cNvPicPr>
            <a:picLocks noChangeAspect="1"/>
          </p:cNvPicPr>
          <p:nvPr/>
        </p:nvPicPr>
        <p:blipFill>
          <a:blip r:embed="rId4"/>
          <a:stretch>
            <a:fillRect/>
          </a:stretch>
        </p:blipFill>
        <p:spPr>
          <a:xfrm>
            <a:off x="8467344" y="2179167"/>
            <a:ext cx="3008376" cy="1905304"/>
          </a:xfrm>
          <a:prstGeom prst="rect">
            <a:avLst/>
          </a:prstGeom>
        </p:spPr>
      </p:pic>
      <p:sp>
        <p:nvSpPr>
          <p:cNvPr id="15" name="TextBox 14"/>
          <p:cNvSpPr txBox="1"/>
          <p:nvPr/>
        </p:nvSpPr>
        <p:spPr>
          <a:xfrm>
            <a:off x="8394192" y="4389120"/>
            <a:ext cx="3337560" cy="411480"/>
          </a:xfrm>
          <a:prstGeom prst="rect">
            <a:avLst/>
          </a:prstGeom>
          <a:noFill/>
        </p:spPr>
        <p:txBody>
          <a:bodyPr wrap="square" lIns="0" rIns="0" tIns="0" bIns="0">
            <a:spAutoFit/>
          </a:bodyPr>
          <a:lstStyle/>
          <a:p>
            <a:pPr>
              <a:spcAft>
                <a:spcPts val="600"/>
              </a:spcAft>
              <a:defRPr sz="2100" b="1">
                <a:solidFill>
                  <a:srgbClr val="171717"/>
                </a:solidFill>
                <a:latin typeface="Arial"/>
              </a:defRPr>
            </a:pPr>
            <a:r>
              <a:t>Challenges</a:t>
            </a:r>
          </a:p>
        </p:txBody>
      </p:sp>
      <p:sp>
        <p:nvSpPr>
          <p:cNvPr id="16" name="TextBox 15"/>
          <p:cNvSpPr txBox="1"/>
          <p:nvPr/>
        </p:nvSpPr>
        <p:spPr>
          <a:xfrm>
            <a:off x="640080" y="4937760"/>
            <a:ext cx="10972800" cy="365760"/>
          </a:xfrm>
          <a:prstGeom prst="rect">
            <a:avLst/>
          </a:prstGeom>
          <a:noFill/>
        </p:spPr>
        <p:txBody>
          <a:bodyPr wrap="square" lIns="0" rIns="0" tIns="0" bIns="0">
            <a:spAutoFit/>
          </a:bodyPr>
          <a:lstStyle/>
          <a:p>
            <a:pPr>
              <a:spcAft>
                <a:spcPts val="600"/>
              </a:spcAft>
              <a:defRPr sz="2100" b="0">
                <a:solidFill>
                  <a:srgbClr val="171717"/>
                </a:solidFill>
                <a:latin typeface="Arial"/>
              </a:defRPr>
            </a:pPr>
            <a:r>
              <a:t>Also implemented: milestones, wallet ownership checks, devnet receipts.</a:t>
            </a:r>
          </a:p>
        </p:txBody>
      </p:sp>
      <p:sp>
        <p:nvSpPr>
          <p:cNvPr id="17" name="TextBox 16"/>
          <p:cNvSpPr txBox="1"/>
          <p:nvPr/>
        </p:nvSpPr>
        <p:spPr>
          <a:xfrm>
            <a:off x="640080" y="5440680"/>
            <a:ext cx="10972800" cy="274320"/>
          </a:xfrm>
          <a:prstGeom prst="rect">
            <a:avLst/>
          </a:prstGeom>
          <a:noFill/>
        </p:spPr>
        <p:txBody>
          <a:bodyPr wrap="square" lIns="0" rIns="0" tIns="0" bIns="0">
            <a:spAutoFit/>
          </a:bodyPr>
          <a:lstStyle/>
          <a:p>
            <a:pPr>
              <a:spcAft>
                <a:spcPts val="600"/>
              </a:spcAft>
              <a:defRPr sz="1400" b="0">
                <a:solidFill>
                  <a:srgbClr val="655F56"/>
                </a:solidFill>
                <a:latin typeface="Arial"/>
              </a:defRPr>
            </a:pPr>
            <a:r>
              <a:t>Actual app captures · demo data + offline credential fixture</a:t>
            </a:r>
          </a:p>
        </p:txBody>
      </p:sp>
      <p:sp>
        <p:nvSpPr>
          <p:cNvPr id="18" name="Rectangle 17"/>
          <p:cNvSpPr/>
          <p:nvPr/>
        </p:nvSpPr>
        <p:spPr>
          <a:xfrm>
            <a:off x="640080" y="5715000"/>
            <a:ext cx="10927080" cy="713232"/>
          </a:xfrm>
          <a:prstGeom prst="rect">
            <a:avLst/>
          </a:prstGeom>
          <a:solidFill>
            <a:srgbClr val="E7DECF"/>
          </a:solidFill>
          <a:ln>
            <a:noFill/>
          </a:ln>
        </p:spPr>
        <p:txBody>
          <a:bodyPr rtlCol="0" anchor="ctr"/>
          <a:lstStyle/>
          <a:p>
            <a:pPr algn="ctr"/>
          </a:p>
        </p:txBody>
      </p:sp>
      <p:sp>
        <p:nvSpPr>
          <p:cNvPr id="19" name="TextBox 18"/>
          <p:cNvSpPr txBox="1"/>
          <p:nvPr/>
        </p:nvSpPr>
        <p:spPr>
          <a:xfrm>
            <a:off x="841248" y="5879592"/>
            <a:ext cx="10607040" cy="365760"/>
          </a:xfrm>
          <a:prstGeom prst="rect">
            <a:avLst/>
          </a:prstGeom>
          <a:noFill/>
        </p:spPr>
        <p:txBody>
          <a:bodyPr wrap="square" lIns="0" rIns="0" tIns="0" bIns="0">
            <a:spAutoFit/>
          </a:bodyPr>
          <a:lstStyle/>
          <a:p>
            <a:pPr>
              <a:spcAft>
                <a:spcPts val="600"/>
              </a:spcAft>
              <a:defRPr sz="1900" b="1">
                <a:solidFill>
                  <a:srgbClr val="171717"/>
                </a:solidFill>
                <a:latin typeface="Arial"/>
              </a:defRPr>
            </a:pPr>
            <a:r>
              <a:t>TESTED: 60 unit tests + 112 browser tests + local database rules</a:t>
            </a:r>
          </a:p>
        </p:txBody>
      </p:sp>
      <p:sp>
        <p:nvSpPr>
          <p:cNvPr id="20" name="TextBox 19"/>
          <p:cNvSpPr txBox="1"/>
          <p:nvPr/>
        </p:nvSpPr>
        <p:spPr>
          <a:xfrm>
            <a:off x="640080" y="6473952"/>
            <a:ext cx="10972800" cy="274320"/>
          </a:xfrm>
          <a:prstGeom prst="rect">
            <a:avLst/>
          </a:prstGeom>
          <a:noFill/>
        </p:spPr>
        <p:txBody>
          <a:bodyPr wrap="square" lIns="0" rIns="0" tIns="0" bIns="0">
            <a:spAutoFit/>
          </a:bodyPr>
          <a:lstStyle/>
          <a:p>
            <a:pPr>
              <a:spcAft>
                <a:spcPts val="600"/>
              </a:spcAft>
              <a:defRPr sz="1400" b="1">
                <a:solidFill>
                  <a:srgbClr val="C6532C"/>
                </a:solidFill>
                <a:latin typeface="Arial"/>
              </a:defRPr>
            </a:pPr>
            <a:r>
              <a:t>PENDING: hosted account journeys + real wallet-to-devnet acceptance tests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INITIAL MARKET</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08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Starting with Pakistan’s skilled talent.</a:t>
            </a:r>
          </a:p>
        </p:txBody>
      </p:sp>
      <p:sp>
        <p:nvSpPr>
          <p:cNvPr id="7" name="TextBox 6"/>
          <p:cNvSpPr txBox="1"/>
          <p:nvPr/>
        </p:nvSpPr>
        <p:spPr>
          <a:xfrm>
            <a:off x="685800" y="2148840"/>
            <a:ext cx="4572000" cy="1188720"/>
          </a:xfrm>
          <a:prstGeom prst="rect">
            <a:avLst/>
          </a:prstGeom>
          <a:noFill/>
        </p:spPr>
        <p:txBody>
          <a:bodyPr wrap="square" lIns="0" rIns="0" tIns="0" bIns="0">
            <a:spAutoFit/>
          </a:bodyPr>
          <a:lstStyle/>
          <a:p>
            <a:pPr>
              <a:spcAft>
                <a:spcPts val="600"/>
              </a:spcAft>
              <a:defRPr sz="3500" b="1">
                <a:solidFill>
                  <a:srgbClr val="C6532C"/>
                </a:solidFill>
                <a:latin typeface="Arial"/>
              </a:defRPr>
            </a:pPr>
            <a:r>
              <a:t>A focused</a:t>
            </a:r>
          </a:p>
          <a:p>
            <a:pPr>
              <a:spcAft>
                <a:spcPts val="600"/>
              </a:spcAft>
              <a:defRPr sz="3500" b="1">
                <a:solidFill>
                  <a:srgbClr val="C6532C"/>
                </a:solidFill>
                <a:latin typeface="Arial"/>
              </a:defRPr>
            </a:pPr>
            <a:r>
              <a:t>first market.</a:t>
            </a:r>
          </a:p>
        </p:txBody>
      </p:sp>
      <p:sp>
        <p:nvSpPr>
          <p:cNvPr id="8" name="TextBox 7"/>
          <p:cNvSpPr txBox="1"/>
          <p:nvPr/>
        </p:nvSpPr>
        <p:spPr>
          <a:xfrm>
            <a:off x="685800" y="3703320"/>
            <a:ext cx="4572000" cy="1371600"/>
          </a:xfrm>
          <a:prstGeom prst="rect">
            <a:avLst/>
          </a:prstGeom>
          <a:noFill/>
        </p:spPr>
        <p:txBody>
          <a:bodyPr wrap="square" lIns="0" rIns="0" tIns="0" bIns="0">
            <a:spAutoFit/>
          </a:bodyPr>
          <a:lstStyle/>
          <a:p>
            <a:pPr>
              <a:spcAft>
                <a:spcPts val="600"/>
              </a:spcAft>
              <a:defRPr sz="2700" b="0">
                <a:solidFill>
                  <a:srgbClr val="171717"/>
                </a:solidFill>
                <a:latin typeface="Arial"/>
              </a:defRPr>
            </a:pPr>
            <a:r>
              <a:t>Start where practical work</a:t>
            </a:r>
          </a:p>
          <a:p>
            <a:pPr>
              <a:spcAft>
                <a:spcPts val="600"/>
              </a:spcAft>
              <a:defRPr sz="2700" b="0">
                <a:solidFill>
                  <a:srgbClr val="171717"/>
                </a:solidFill>
                <a:latin typeface="Arial"/>
              </a:defRPr>
            </a:pPr>
            <a:r>
              <a:t>needs a clearer professional record.</a:t>
            </a:r>
          </a:p>
        </p:txBody>
      </p:sp>
      <p:sp>
        <p:nvSpPr>
          <p:cNvPr id="9" name="TextBox 8"/>
          <p:cNvSpPr txBox="1"/>
          <p:nvPr/>
        </p:nvSpPr>
        <p:spPr>
          <a:xfrm>
            <a:off x="5943600" y="2103120"/>
            <a:ext cx="548640" cy="457200"/>
          </a:xfrm>
          <a:prstGeom prst="rect">
            <a:avLst/>
          </a:prstGeom>
          <a:noFill/>
        </p:spPr>
        <p:txBody>
          <a:bodyPr wrap="square" lIns="0" rIns="0" tIns="0" bIns="0">
            <a:spAutoFit/>
          </a:bodyPr>
          <a:lstStyle/>
          <a:p>
            <a:pPr>
              <a:spcAft>
                <a:spcPts val="600"/>
              </a:spcAft>
              <a:defRPr sz="2000" b="1">
                <a:solidFill>
                  <a:srgbClr val="C6532C"/>
                </a:solidFill>
                <a:latin typeface="Arial"/>
              </a:defRPr>
            </a:pPr>
            <a:r>
              <a:t>01</a:t>
            </a:r>
          </a:p>
        </p:txBody>
      </p:sp>
      <p:sp>
        <p:nvSpPr>
          <p:cNvPr id="10" name="TextBox 9"/>
          <p:cNvSpPr txBox="1"/>
          <p:nvPr/>
        </p:nvSpPr>
        <p:spPr>
          <a:xfrm>
            <a:off x="6675120" y="2103120"/>
            <a:ext cx="4846320" cy="502920"/>
          </a:xfrm>
          <a:prstGeom prst="rect">
            <a:avLst/>
          </a:prstGeom>
          <a:noFill/>
        </p:spPr>
        <p:txBody>
          <a:bodyPr wrap="square" lIns="0" rIns="0" tIns="0" bIns="0">
            <a:spAutoFit/>
          </a:bodyPr>
          <a:lstStyle/>
          <a:p>
            <a:pPr>
              <a:spcAft>
                <a:spcPts val="600"/>
              </a:spcAft>
              <a:defRPr sz="2700" b="1">
                <a:solidFill>
                  <a:srgbClr val="171717"/>
                </a:solidFill>
                <a:latin typeface="Arial"/>
              </a:defRPr>
            </a:pPr>
            <a:r>
              <a:t>Students &amp; graduates</a:t>
            </a:r>
          </a:p>
        </p:txBody>
      </p:sp>
      <p:sp>
        <p:nvSpPr>
          <p:cNvPr id="11" name="TextBox 10"/>
          <p:cNvSpPr txBox="1"/>
          <p:nvPr/>
        </p:nvSpPr>
        <p:spPr>
          <a:xfrm>
            <a:off x="6675120" y="2697479"/>
            <a:ext cx="4846320" cy="640080"/>
          </a:xfrm>
          <a:prstGeom prst="rect">
            <a:avLst/>
          </a:prstGeom>
          <a:noFill/>
        </p:spPr>
        <p:txBody>
          <a:bodyPr wrap="square" lIns="0" rIns="0" tIns="0" bIns="0">
            <a:spAutoFit/>
          </a:bodyPr>
          <a:lstStyle/>
          <a:p>
            <a:pPr>
              <a:spcAft>
                <a:spcPts val="600"/>
              </a:spcAft>
              <a:defRPr sz="2100" b="0">
                <a:solidFill>
                  <a:srgbClr val="655F56"/>
                </a:solidFill>
                <a:latin typeface="Arial"/>
              </a:defRPr>
            </a:pPr>
            <a:r>
              <a:t>Build a first professional record.</a:t>
            </a:r>
          </a:p>
        </p:txBody>
      </p:sp>
      <p:sp>
        <p:nvSpPr>
          <p:cNvPr id="12" name="TextBox 11"/>
          <p:cNvSpPr txBox="1"/>
          <p:nvPr/>
        </p:nvSpPr>
        <p:spPr>
          <a:xfrm>
            <a:off x="5943600" y="3520440"/>
            <a:ext cx="548640" cy="457200"/>
          </a:xfrm>
          <a:prstGeom prst="rect">
            <a:avLst/>
          </a:prstGeom>
          <a:noFill/>
        </p:spPr>
        <p:txBody>
          <a:bodyPr wrap="square" lIns="0" rIns="0" tIns="0" bIns="0">
            <a:spAutoFit/>
          </a:bodyPr>
          <a:lstStyle/>
          <a:p>
            <a:pPr>
              <a:spcAft>
                <a:spcPts val="600"/>
              </a:spcAft>
              <a:defRPr sz="2000" b="1">
                <a:solidFill>
                  <a:srgbClr val="C6532C"/>
                </a:solidFill>
                <a:latin typeface="Arial"/>
              </a:defRPr>
            </a:pPr>
            <a:r>
              <a:t>02</a:t>
            </a:r>
          </a:p>
        </p:txBody>
      </p:sp>
      <p:sp>
        <p:nvSpPr>
          <p:cNvPr id="13" name="TextBox 12"/>
          <p:cNvSpPr txBox="1"/>
          <p:nvPr/>
        </p:nvSpPr>
        <p:spPr>
          <a:xfrm>
            <a:off x="6675120" y="3520440"/>
            <a:ext cx="4846320" cy="502920"/>
          </a:xfrm>
          <a:prstGeom prst="rect">
            <a:avLst/>
          </a:prstGeom>
          <a:noFill/>
        </p:spPr>
        <p:txBody>
          <a:bodyPr wrap="square" lIns="0" rIns="0" tIns="0" bIns="0">
            <a:spAutoFit/>
          </a:bodyPr>
          <a:lstStyle/>
          <a:p>
            <a:pPr>
              <a:spcAft>
                <a:spcPts val="600"/>
              </a:spcAft>
              <a:defRPr sz="2700" b="1">
                <a:solidFill>
                  <a:srgbClr val="171717"/>
                </a:solidFill>
                <a:latin typeface="Arial"/>
              </a:defRPr>
            </a:pPr>
            <a:r>
              <a:t>Developers &amp; freelancers</a:t>
            </a:r>
          </a:p>
        </p:txBody>
      </p:sp>
      <p:sp>
        <p:nvSpPr>
          <p:cNvPr id="14" name="TextBox 13"/>
          <p:cNvSpPr txBox="1"/>
          <p:nvPr/>
        </p:nvSpPr>
        <p:spPr>
          <a:xfrm>
            <a:off x="6675120" y="4114800"/>
            <a:ext cx="4846320" cy="640080"/>
          </a:xfrm>
          <a:prstGeom prst="rect">
            <a:avLst/>
          </a:prstGeom>
          <a:noFill/>
        </p:spPr>
        <p:txBody>
          <a:bodyPr wrap="square" lIns="0" rIns="0" tIns="0" bIns="0">
            <a:spAutoFit/>
          </a:bodyPr>
          <a:lstStyle/>
          <a:p>
            <a:pPr>
              <a:spcAft>
                <a:spcPts val="600"/>
              </a:spcAft>
              <a:defRPr sz="2100" b="0">
                <a:solidFill>
                  <a:srgbClr val="655F56"/>
                </a:solidFill>
                <a:latin typeface="Arial"/>
              </a:defRPr>
            </a:pPr>
            <a:r>
              <a:t>Show practical work and progress.</a:t>
            </a:r>
          </a:p>
        </p:txBody>
      </p:sp>
      <p:sp>
        <p:nvSpPr>
          <p:cNvPr id="15" name="TextBox 14"/>
          <p:cNvSpPr txBox="1"/>
          <p:nvPr/>
        </p:nvSpPr>
        <p:spPr>
          <a:xfrm>
            <a:off x="5943600" y="4937760"/>
            <a:ext cx="548640" cy="457200"/>
          </a:xfrm>
          <a:prstGeom prst="rect">
            <a:avLst/>
          </a:prstGeom>
          <a:noFill/>
        </p:spPr>
        <p:txBody>
          <a:bodyPr wrap="square" lIns="0" rIns="0" tIns="0" bIns="0">
            <a:spAutoFit/>
          </a:bodyPr>
          <a:lstStyle/>
          <a:p>
            <a:pPr>
              <a:spcAft>
                <a:spcPts val="600"/>
              </a:spcAft>
              <a:defRPr sz="2000" b="1">
                <a:solidFill>
                  <a:srgbClr val="C6532C"/>
                </a:solidFill>
                <a:latin typeface="Arial"/>
              </a:defRPr>
            </a:pPr>
            <a:r>
              <a:t>03</a:t>
            </a:r>
          </a:p>
        </p:txBody>
      </p:sp>
      <p:sp>
        <p:nvSpPr>
          <p:cNvPr id="16" name="TextBox 15"/>
          <p:cNvSpPr txBox="1"/>
          <p:nvPr/>
        </p:nvSpPr>
        <p:spPr>
          <a:xfrm>
            <a:off x="6675120" y="4937760"/>
            <a:ext cx="4846320" cy="502920"/>
          </a:xfrm>
          <a:prstGeom prst="rect">
            <a:avLst/>
          </a:prstGeom>
          <a:noFill/>
        </p:spPr>
        <p:txBody>
          <a:bodyPr wrap="square" lIns="0" rIns="0" tIns="0" bIns="0">
            <a:spAutoFit/>
          </a:bodyPr>
          <a:lstStyle/>
          <a:p>
            <a:pPr>
              <a:spcAft>
                <a:spcPts val="600"/>
              </a:spcAft>
              <a:defRPr sz="2700" b="1">
                <a:solidFill>
                  <a:srgbClr val="171717"/>
                </a:solidFill>
                <a:latin typeface="Arial"/>
              </a:defRPr>
            </a:pPr>
            <a:r>
              <a:t>Companies &amp; training teams</a:t>
            </a:r>
          </a:p>
        </p:txBody>
      </p:sp>
      <p:sp>
        <p:nvSpPr>
          <p:cNvPr id="17" name="TextBox 16"/>
          <p:cNvSpPr txBox="1"/>
          <p:nvPr/>
        </p:nvSpPr>
        <p:spPr>
          <a:xfrm>
            <a:off x="6675120" y="5532120"/>
            <a:ext cx="4846320" cy="640080"/>
          </a:xfrm>
          <a:prstGeom prst="rect">
            <a:avLst/>
          </a:prstGeom>
          <a:noFill/>
        </p:spPr>
        <p:txBody>
          <a:bodyPr wrap="square" lIns="0" rIns="0" tIns="0" bIns="0">
            <a:spAutoFit/>
          </a:bodyPr>
          <a:lstStyle/>
          <a:p>
            <a:pPr>
              <a:spcAft>
                <a:spcPts val="600"/>
              </a:spcAft>
              <a:defRPr sz="2100" b="0">
                <a:solidFill>
                  <a:srgbClr val="655F56"/>
                </a:solidFill>
                <a:latin typeface="Arial"/>
              </a:defRPr>
            </a:pPr>
            <a:r>
              <a:t>Assess evidence and issue recognition.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PROPOSED BUSINESS MODEL</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09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Free for talent.</a:t>
            </a:r>
          </a:p>
          <a:p>
            <a:pPr>
              <a:spcAft>
                <a:spcPts val="600"/>
              </a:spcAft>
              <a:defRPr sz="3400" b="1">
                <a:solidFill>
                  <a:srgbClr val="171717"/>
                </a:solidFill>
                <a:latin typeface="Arial"/>
              </a:defRPr>
            </a:pPr>
            <a:r>
              <a:t>Built for organizations.</a:t>
            </a:r>
          </a:p>
        </p:txBody>
      </p:sp>
      <p:sp>
        <p:nvSpPr>
          <p:cNvPr id="7" name="Rectangle 6"/>
          <p:cNvSpPr/>
          <p:nvPr/>
        </p:nvSpPr>
        <p:spPr>
          <a:xfrm>
            <a:off x="640080" y="2651760"/>
            <a:ext cx="4114800" cy="2926080"/>
          </a:xfrm>
          <a:prstGeom prst="rect">
            <a:avLst/>
          </a:prstGeom>
          <a:solidFill>
            <a:srgbClr val="171717"/>
          </a:solidFill>
          <a:ln>
            <a:noFill/>
          </a:ln>
        </p:spPr>
        <p:txBody>
          <a:bodyPr rtlCol="0" anchor="ctr"/>
          <a:lstStyle/>
          <a:p>
            <a:pPr algn="ctr"/>
          </a:p>
        </p:txBody>
      </p:sp>
      <p:sp>
        <p:nvSpPr>
          <p:cNvPr id="8" name="TextBox 7"/>
          <p:cNvSpPr txBox="1"/>
          <p:nvPr/>
        </p:nvSpPr>
        <p:spPr>
          <a:xfrm>
            <a:off x="914400" y="2926080"/>
            <a:ext cx="3657600" cy="365760"/>
          </a:xfrm>
          <a:prstGeom prst="rect">
            <a:avLst/>
          </a:prstGeom>
          <a:noFill/>
        </p:spPr>
        <p:txBody>
          <a:bodyPr wrap="square" lIns="0" rIns="0" tIns="0" bIns="0">
            <a:spAutoFit/>
          </a:bodyPr>
          <a:lstStyle/>
          <a:p>
            <a:pPr>
              <a:spcAft>
                <a:spcPts val="600"/>
              </a:spcAft>
              <a:defRPr sz="1400" b="1">
                <a:solidFill>
                  <a:srgbClr val="E9A58C"/>
                </a:solidFill>
                <a:latin typeface="Arial"/>
              </a:defRPr>
            </a:pPr>
            <a:r>
              <a:t>INDIVIDUALS</a:t>
            </a:r>
          </a:p>
        </p:txBody>
      </p:sp>
      <p:sp>
        <p:nvSpPr>
          <p:cNvPr id="9" name="TextBox 8"/>
          <p:cNvSpPr txBox="1"/>
          <p:nvPr/>
        </p:nvSpPr>
        <p:spPr>
          <a:xfrm>
            <a:off x="914400" y="3566160"/>
            <a:ext cx="3657600" cy="1188720"/>
          </a:xfrm>
          <a:prstGeom prst="rect">
            <a:avLst/>
          </a:prstGeom>
          <a:noFill/>
        </p:spPr>
        <p:txBody>
          <a:bodyPr wrap="square" lIns="0" rIns="0" tIns="0" bIns="0">
            <a:spAutoFit/>
          </a:bodyPr>
          <a:lstStyle/>
          <a:p>
            <a:pPr>
              <a:spcAft>
                <a:spcPts val="600"/>
              </a:spcAft>
              <a:defRPr sz="3400" b="1">
                <a:solidFill>
                  <a:srgbClr val="F5F0E6"/>
                </a:solidFill>
                <a:latin typeface="Arial"/>
              </a:defRPr>
            </a:pPr>
            <a:r>
              <a:t>Free basic</a:t>
            </a:r>
          </a:p>
          <a:p>
            <a:pPr>
              <a:spcAft>
                <a:spcPts val="600"/>
              </a:spcAft>
              <a:defRPr sz="3400" b="1">
                <a:solidFill>
                  <a:srgbClr val="F5F0E6"/>
                </a:solidFill>
                <a:latin typeface="Arial"/>
              </a:defRPr>
            </a:pPr>
            <a:r>
              <a:t>Skill Passport</a:t>
            </a:r>
          </a:p>
        </p:txBody>
      </p:sp>
      <p:sp>
        <p:nvSpPr>
          <p:cNvPr id="10" name="TextBox 9"/>
          <p:cNvSpPr txBox="1"/>
          <p:nvPr/>
        </p:nvSpPr>
        <p:spPr>
          <a:xfrm>
            <a:off x="914400" y="4937760"/>
            <a:ext cx="3657600" cy="457200"/>
          </a:xfrm>
          <a:prstGeom prst="rect">
            <a:avLst/>
          </a:prstGeom>
          <a:noFill/>
        </p:spPr>
        <p:txBody>
          <a:bodyPr wrap="square" lIns="0" rIns="0" tIns="0" bIns="0">
            <a:spAutoFit/>
          </a:bodyPr>
          <a:lstStyle/>
          <a:p>
            <a:pPr>
              <a:spcAft>
                <a:spcPts val="600"/>
              </a:spcAft>
              <a:defRPr sz="1800" b="0">
                <a:solidFill>
                  <a:srgbClr val="F5F0E6"/>
                </a:solidFill>
                <a:latin typeface="Arial"/>
              </a:defRPr>
            </a:pPr>
            <a:r>
              <a:t>Create. Share. Build your record.</a:t>
            </a:r>
          </a:p>
        </p:txBody>
      </p:sp>
      <p:sp>
        <p:nvSpPr>
          <p:cNvPr id="11" name="TextBox 10"/>
          <p:cNvSpPr txBox="1"/>
          <p:nvPr/>
        </p:nvSpPr>
        <p:spPr>
          <a:xfrm>
            <a:off x="5486400" y="2743200"/>
            <a:ext cx="5486400" cy="548640"/>
          </a:xfrm>
          <a:prstGeom prst="rect">
            <a:avLst/>
          </a:prstGeom>
          <a:noFill/>
        </p:spPr>
        <p:txBody>
          <a:bodyPr wrap="square" lIns="0" rIns="0" tIns="0" bIns="0">
            <a:spAutoFit/>
          </a:bodyPr>
          <a:lstStyle/>
          <a:p>
            <a:pPr>
              <a:spcAft>
                <a:spcPts val="600"/>
              </a:spcAft>
              <a:defRPr sz="3000" b="1">
                <a:solidFill>
                  <a:srgbClr val="171717"/>
                </a:solidFill>
                <a:latin typeface="Arial"/>
              </a:defRPr>
            </a:pPr>
            <a:r>
              <a:t>Organizations</a:t>
            </a:r>
          </a:p>
        </p:txBody>
      </p:sp>
      <p:sp>
        <p:nvSpPr>
          <p:cNvPr id="12" name="TextBox 11"/>
          <p:cNvSpPr txBox="1"/>
          <p:nvPr/>
        </p:nvSpPr>
        <p:spPr>
          <a:xfrm>
            <a:off x="5486400" y="3474720"/>
            <a:ext cx="5486400" cy="1005840"/>
          </a:xfrm>
          <a:prstGeom prst="rect">
            <a:avLst/>
          </a:prstGeom>
          <a:noFill/>
        </p:spPr>
        <p:txBody>
          <a:bodyPr wrap="square" lIns="0" rIns="0" tIns="0" bIns="0">
            <a:spAutoFit/>
          </a:bodyPr>
          <a:lstStyle/>
          <a:p>
            <a:pPr>
              <a:spcAft>
                <a:spcPts val="600"/>
              </a:spcAft>
              <a:defRPr sz="2300" b="0">
                <a:solidFill>
                  <a:srgbClr val="171717"/>
                </a:solidFill>
                <a:latin typeface="Arial"/>
              </a:defRPr>
            </a:pPr>
            <a:r>
              <a:t>Potential paid tools for issuance,</a:t>
            </a:r>
          </a:p>
          <a:p>
            <a:pPr>
              <a:spcAft>
                <a:spcPts val="600"/>
              </a:spcAft>
              <a:defRPr sz="2300" b="0">
                <a:solidFill>
                  <a:srgbClr val="171717"/>
                </a:solidFill>
                <a:latin typeface="Arial"/>
              </a:defRPr>
            </a:pPr>
            <a:r>
              <a:t>challenges, hiring and opportunities.</a:t>
            </a:r>
          </a:p>
        </p:txBody>
      </p:sp>
      <p:sp>
        <p:nvSpPr>
          <p:cNvPr id="13" name="Rectangle 12"/>
          <p:cNvSpPr/>
          <p:nvPr/>
        </p:nvSpPr>
        <p:spPr>
          <a:xfrm>
            <a:off x="5486400" y="4800600"/>
            <a:ext cx="5760720" cy="18288"/>
          </a:xfrm>
          <a:prstGeom prst="rect">
            <a:avLst/>
          </a:prstGeom>
          <a:solidFill>
            <a:srgbClr val="E7DECF"/>
          </a:solidFill>
          <a:ln>
            <a:noFill/>
          </a:ln>
        </p:spPr>
        <p:txBody>
          <a:bodyPr rtlCol="0" anchor="ctr"/>
          <a:lstStyle/>
          <a:p>
            <a:pPr algn="ctr"/>
          </a:p>
        </p:txBody>
      </p:sp>
      <p:sp>
        <p:nvSpPr>
          <p:cNvPr id="14" name="TextBox 13"/>
          <p:cNvSpPr txBox="1"/>
          <p:nvPr/>
        </p:nvSpPr>
        <p:spPr>
          <a:xfrm>
            <a:off x="5486400" y="5120640"/>
            <a:ext cx="5669280" cy="502920"/>
          </a:xfrm>
          <a:prstGeom prst="rect">
            <a:avLst/>
          </a:prstGeom>
          <a:noFill/>
        </p:spPr>
        <p:txBody>
          <a:bodyPr wrap="square" lIns="0" rIns="0" tIns="0" bIns="0">
            <a:spAutoFit/>
          </a:bodyPr>
          <a:lstStyle/>
          <a:p>
            <a:pPr>
              <a:spcAft>
                <a:spcPts val="600"/>
              </a:spcAft>
              <a:defRPr sz="2200" b="1">
                <a:solidFill>
                  <a:srgbClr val="C6532C"/>
                </a:solidFill>
                <a:latin typeface="Arial"/>
              </a:defRPr>
            </a:pPr>
            <a:r>
              <a:t>Later: possible project transaction fees</a:t>
            </a:r>
          </a:p>
        </p:txBody>
      </p:sp>
      <p:sp>
        <p:nvSpPr>
          <p:cNvPr id="15" name="TextBox 14"/>
          <p:cNvSpPr txBox="1"/>
          <p:nvPr/>
        </p:nvSpPr>
        <p:spPr>
          <a:xfrm>
            <a:off x="5486400" y="5715000"/>
            <a:ext cx="5577840" cy="457200"/>
          </a:xfrm>
          <a:prstGeom prst="rect">
            <a:avLst/>
          </a:prstGeom>
          <a:noFill/>
        </p:spPr>
        <p:txBody>
          <a:bodyPr wrap="square" lIns="0" rIns="0" tIns="0" bIns="0">
            <a:spAutoFit/>
          </a:bodyPr>
          <a:lstStyle/>
          <a:p>
            <a:pPr>
              <a:spcAft>
                <a:spcPts val="600"/>
              </a:spcAft>
              <a:defRPr sz="1900" b="0">
                <a:solidFill>
                  <a:srgbClr val="655F56"/>
                </a:solidFill>
                <a:latin typeface="Arial"/>
              </a:defRPr>
            </a:pPr>
            <a:r>
              <a:t>Subject to validation and applicable rules.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171717"/>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ADOPTION PLAN</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171717"/>
                </a:solidFill>
                <a:latin typeface="Arial"/>
              </a:defRPr>
            </a:pPr>
            <a:r>
              <a:t>10 / 11</a:t>
            </a:r>
          </a:p>
        </p:txBody>
      </p:sp>
      <p:sp>
        <p:nvSpPr>
          <p:cNvPr id="5" name="Rectangle 4"/>
          <p:cNvSpPr/>
          <p:nvPr/>
        </p:nvSpPr>
        <p:spPr>
          <a:xfrm>
            <a:off x="502920" y="694944"/>
            <a:ext cx="11155680" cy="12801"/>
          </a:xfrm>
          <a:prstGeom prst="rect">
            <a:avLst/>
          </a:prstGeom>
          <a:solidFill>
            <a:srgbClr val="E7DECF"/>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171717"/>
                </a:solidFill>
                <a:latin typeface="Arial"/>
              </a:defRPr>
            </a:pPr>
            <a:r>
              <a:t>Start with communities.</a:t>
            </a:r>
          </a:p>
          <a:p>
            <a:pPr>
              <a:spcAft>
                <a:spcPts val="600"/>
              </a:spcAft>
              <a:defRPr sz="3400" b="1">
                <a:solidFill>
                  <a:srgbClr val="171717"/>
                </a:solidFill>
                <a:latin typeface="Arial"/>
              </a:defRPr>
            </a:pPr>
            <a:r>
              <a:t>Grow through real use.</a:t>
            </a:r>
          </a:p>
        </p:txBody>
      </p:sp>
      <p:sp>
        <p:nvSpPr>
          <p:cNvPr id="7" name="Rectangle 6"/>
          <p:cNvSpPr/>
          <p:nvPr/>
        </p:nvSpPr>
        <p:spPr>
          <a:xfrm>
            <a:off x="731520" y="2514600"/>
            <a:ext cx="411480" cy="411480"/>
          </a:xfrm>
          <a:prstGeom prst="rect">
            <a:avLst/>
          </a:prstGeom>
          <a:solidFill>
            <a:srgbClr val="C6532C"/>
          </a:solidFill>
          <a:ln>
            <a:noFill/>
          </a:ln>
        </p:spPr>
        <p:txBody>
          <a:bodyPr rtlCol="0" anchor="ctr"/>
          <a:lstStyle/>
          <a:p>
            <a:pPr algn="ctr"/>
          </a:p>
        </p:txBody>
      </p:sp>
      <p:sp>
        <p:nvSpPr>
          <p:cNvPr id="8" name="TextBox 7"/>
          <p:cNvSpPr txBox="1"/>
          <p:nvPr/>
        </p:nvSpPr>
        <p:spPr>
          <a:xfrm>
            <a:off x="859536" y="2560320"/>
            <a:ext cx="22860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1</a:t>
            </a:r>
          </a:p>
        </p:txBody>
      </p:sp>
      <p:sp>
        <p:nvSpPr>
          <p:cNvPr id="9" name="TextBox 8"/>
          <p:cNvSpPr txBox="1"/>
          <p:nvPr/>
        </p:nvSpPr>
        <p:spPr>
          <a:xfrm>
            <a:off x="1508760" y="2514600"/>
            <a:ext cx="2103120" cy="502920"/>
          </a:xfrm>
          <a:prstGeom prst="rect">
            <a:avLst/>
          </a:prstGeom>
          <a:noFill/>
        </p:spPr>
        <p:txBody>
          <a:bodyPr wrap="square" lIns="0" rIns="0" tIns="0" bIns="0">
            <a:spAutoFit/>
          </a:bodyPr>
          <a:lstStyle/>
          <a:p>
            <a:pPr>
              <a:spcAft>
                <a:spcPts val="600"/>
              </a:spcAft>
              <a:defRPr sz="2700" b="1">
                <a:solidFill>
                  <a:srgbClr val="171717"/>
                </a:solidFill>
                <a:latin typeface="Arial"/>
              </a:defRPr>
            </a:pPr>
            <a:r>
              <a:t>Invite</a:t>
            </a:r>
          </a:p>
        </p:txBody>
      </p:sp>
      <p:sp>
        <p:nvSpPr>
          <p:cNvPr id="10" name="TextBox 9"/>
          <p:cNvSpPr txBox="1"/>
          <p:nvPr/>
        </p:nvSpPr>
        <p:spPr>
          <a:xfrm>
            <a:off x="4114800" y="2514600"/>
            <a:ext cx="7132320" cy="777240"/>
          </a:xfrm>
          <a:prstGeom prst="rect">
            <a:avLst/>
          </a:prstGeom>
          <a:noFill/>
        </p:spPr>
        <p:txBody>
          <a:bodyPr wrap="square" lIns="0" rIns="0" tIns="0" bIns="0">
            <a:spAutoFit/>
          </a:bodyPr>
          <a:lstStyle/>
          <a:p>
            <a:pPr>
              <a:spcAft>
                <a:spcPts val="600"/>
              </a:spcAft>
              <a:defRPr sz="2100" b="0">
                <a:solidFill>
                  <a:srgbClr val="171717"/>
                </a:solidFill>
                <a:latin typeface="Arial"/>
              </a:defRPr>
            </a:pPr>
            <a:r>
              <a:t>Students, developers and professionals</a:t>
            </a:r>
          </a:p>
          <a:p>
            <a:pPr>
              <a:spcAft>
                <a:spcPts val="600"/>
              </a:spcAft>
              <a:defRPr sz="2100" b="0">
                <a:solidFill>
                  <a:srgbClr val="171717"/>
                </a:solidFill>
                <a:latin typeface="Arial"/>
              </a:defRPr>
            </a:pPr>
            <a:r>
              <a:t>through relevant communities.</a:t>
            </a:r>
          </a:p>
        </p:txBody>
      </p:sp>
      <p:sp>
        <p:nvSpPr>
          <p:cNvPr id="11" name="Rectangle 10"/>
          <p:cNvSpPr/>
          <p:nvPr/>
        </p:nvSpPr>
        <p:spPr>
          <a:xfrm>
            <a:off x="731520" y="3401568"/>
            <a:ext cx="411480" cy="411480"/>
          </a:xfrm>
          <a:prstGeom prst="rect">
            <a:avLst/>
          </a:prstGeom>
          <a:solidFill>
            <a:srgbClr val="C6532C"/>
          </a:solidFill>
          <a:ln>
            <a:noFill/>
          </a:ln>
        </p:spPr>
        <p:txBody>
          <a:bodyPr rtlCol="0" anchor="ctr"/>
          <a:lstStyle/>
          <a:p>
            <a:pPr algn="ctr"/>
          </a:p>
        </p:txBody>
      </p:sp>
      <p:sp>
        <p:nvSpPr>
          <p:cNvPr id="12" name="TextBox 11"/>
          <p:cNvSpPr txBox="1"/>
          <p:nvPr/>
        </p:nvSpPr>
        <p:spPr>
          <a:xfrm>
            <a:off x="859536" y="3447287"/>
            <a:ext cx="22860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2</a:t>
            </a:r>
          </a:p>
        </p:txBody>
      </p:sp>
      <p:sp>
        <p:nvSpPr>
          <p:cNvPr id="13" name="TextBox 12"/>
          <p:cNvSpPr txBox="1"/>
          <p:nvPr/>
        </p:nvSpPr>
        <p:spPr>
          <a:xfrm>
            <a:off x="1508760" y="3401568"/>
            <a:ext cx="2103120" cy="502920"/>
          </a:xfrm>
          <a:prstGeom prst="rect">
            <a:avLst/>
          </a:prstGeom>
          <a:noFill/>
        </p:spPr>
        <p:txBody>
          <a:bodyPr wrap="square" lIns="0" rIns="0" tIns="0" bIns="0">
            <a:spAutoFit/>
          </a:bodyPr>
          <a:lstStyle/>
          <a:p>
            <a:pPr>
              <a:spcAft>
                <a:spcPts val="600"/>
              </a:spcAft>
              <a:defRPr sz="2700" b="1">
                <a:solidFill>
                  <a:srgbClr val="171717"/>
                </a:solidFill>
                <a:latin typeface="Arial"/>
              </a:defRPr>
            </a:pPr>
            <a:r>
              <a:t>Pilot</a:t>
            </a:r>
          </a:p>
        </p:txBody>
      </p:sp>
      <p:sp>
        <p:nvSpPr>
          <p:cNvPr id="14" name="TextBox 13"/>
          <p:cNvSpPr txBox="1"/>
          <p:nvPr/>
        </p:nvSpPr>
        <p:spPr>
          <a:xfrm>
            <a:off x="4114800" y="3401568"/>
            <a:ext cx="7132320" cy="777240"/>
          </a:xfrm>
          <a:prstGeom prst="rect">
            <a:avLst/>
          </a:prstGeom>
          <a:noFill/>
        </p:spPr>
        <p:txBody>
          <a:bodyPr wrap="square" lIns="0" rIns="0" tIns="0" bIns="0">
            <a:spAutoFit/>
          </a:bodyPr>
          <a:lstStyle/>
          <a:p>
            <a:pPr>
              <a:spcAft>
                <a:spcPts val="600"/>
              </a:spcAft>
              <a:defRPr sz="2100" b="0">
                <a:solidFill>
                  <a:srgbClr val="171717"/>
                </a:solidFill>
                <a:latin typeface="Arial"/>
              </a:defRPr>
            </a:pPr>
            <a:r>
              <a:t>Interested training teams and companies.</a:t>
            </a:r>
          </a:p>
          <a:p>
            <a:pPr>
              <a:spcAft>
                <a:spcPts val="600"/>
              </a:spcAft>
              <a:defRPr sz="2100" b="0">
                <a:solidFill>
                  <a:srgbClr val="171717"/>
                </a:solidFill>
                <a:latin typeface="Arial"/>
              </a:defRPr>
            </a:pPr>
            <a:r>
              <a:t>Start with a small, agreed use case.</a:t>
            </a:r>
          </a:p>
        </p:txBody>
      </p:sp>
      <p:sp>
        <p:nvSpPr>
          <p:cNvPr id="15" name="Rectangle 14"/>
          <p:cNvSpPr/>
          <p:nvPr/>
        </p:nvSpPr>
        <p:spPr>
          <a:xfrm>
            <a:off x="731520" y="4288536"/>
            <a:ext cx="411480" cy="411480"/>
          </a:xfrm>
          <a:prstGeom prst="rect">
            <a:avLst/>
          </a:prstGeom>
          <a:solidFill>
            <a:srgbClr val="C6532C"/>
          </a:solidFill>
          <a:ln>
            <a:noFill/>
          </a:ln>
        </p:spPr>
        <p:txBody>
          <a:bodyPr rtlCol="0" anchor="ctr"/>
          <a:lstStyle/>
          <a:p>
            <a:pPr algn="ctr"/>
          </a:p>
        </p:txBody>
      </p:sp>
      <p:sp>
        <p:nvSpPr>
          <p:cNvPr id="16" name="TextBox 15"/>
          <p:cNvSpPr txBox="1"/>
          <p:nvPr/>
        </p:nvSpPr>
        <p:spPr>
          <a:xfrm>
            <a:off x="859536" y="4334255"/>
            <a:ext cx="22860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3</a:t>
            </a:r>
          </a:p>
        </p:txBody>
      </p:sp>
      <p:sp>
        <p:nvSpPr>
          <p:cNvPr id="17" name="TextBox 16"/>
          <p:cNvSpPr txBox="1"/>
          <p:nvPr/>
        </p:nvSpPr>
        <p:spPr>
          <a:xfrm>
            <a:off x="1508760" y="4288536"/>
            <a:ext cx="2103120" cy="502920"/>
          </a:xfrm>
          <a:prstGeom prst="rect">
            <a:avLst/>
          </a:prstGeom>
          <a:noFill/>
        </p:spPr>
        <p:txBody>
          <a:bodyPr wrap="square" lIns="0" rIns="0" tIns="0" bIns="0">
            <a:spAutoFit/>
          </a:bodyPr>
          <a:lstStyle/>
          <a:p>
            <a:pPr>
              <a:spcAft>
                <a:spcPts val="600"/>
              </a:spcAft>
              <a:defRPr sz="2700" b="1">
                <a:solidFill>
                  <a:srgbClr val="171717"/>
                </a:solidFill>
                <a:latin typeface="Arial"/>
              </a:defRPr>
            </a:pPr>
            <a:r>
              <a:t>Test</a:t>
            </a:r>
          </a:p>
        </p:txBody>
      </p:sp>
      <p:sp>
        <p:nvSpPr>
          <p:cNvPr id="18" name="TextBox 17"/>
          <p:cNvSpPr txBox="1"/>
          <p:nvPr/>
        </p:nvSpPr>
        <p:spPr>
          <a:xfrm>
            <a:off x="4114800" y="4288536"/>
            <a:ext cx="7132320" cy="777240"/>
          </a:xfrm>
          <a:prstGeom prst="rect">
            <a:avLst/>
          </a:prstGeom>
          <a:noFill/>
        </p:spPr>
        <p:txBody>
          <a:bodyPr wrap="square" lIns="0" rIns="0" tIns="0" bIns="0">
            <a:spAutoFit/>
          </a:bodyPr>
          <a:lstStyle/>
          <a:p>
            <a:pPr>
              <a:spcAft>
                <a:spcPts val="600"/>
              </a:spcAft>
              <a:defRPr sz="2100" b="0">
                <a:solidFill>
                  <a:srgbClr val="171717"/>
                </a:solidFill>
                <a:latin typeface="Arial"/>
              </a:defRPr>
            </a:pPr>
            <a:r>
              <a:t>Real issuance, applications and</a:t>
            </a:r>
          </a:p>
          <a:p>
            <a:pPr>
              <a:spcAft>
                <a:spcPts val="600"/>
              </a:spcAft>
              <a:defRPr sz="2100" b="0">
                <a:solidFill>
                  <a:srgbClr val="171717"/>
                </a:solidFill>
                <a:latin typeface="Arial"/>
              </a:defRPr>
            </a:pPr>
            <a:r>
              <a:t>the complete work workflow.</a:t>
            </a:r>
          </a:p>
        </p:txBody>
      </p:sp>
      <p:sp>
        <p:nvSpPr>
          <p:cNvPr id="19" name="Rectangle 18"/>
          <p:cNvSpPr/>
          <p:nvPr/>
        </p:nvSpPr>
        <p:spPr>
          <a:xfrm>
            <a:off x="731520" y="5175504"/>
            <a:ext cx="411480" cy="411480"/>
          </a:xfrm>
          <a:prstGeom prst="rect">
            <a:avLst/>
          </a:prstGeom>
          <a:solidFill>
            <a:srgbClr val="C6532C"/>
          </a:solidFill>
          <a:ln>
            <a:noFill/>
          </a:ln>
        </p:spPr>
        <p:txBody>
          <a:bodyPr rtlCol="0" anchor="ctr"/>
          <a:lstStyle/>
          <a:p>
            <a:pPr algn="ctr"/>
          </a:p>
        </p:txBody>
      </p:sp>
      <p:sp>
        <p:nvSpPr>
          <p:cNvPr id="20" name="TextBox 19"/>
          <p:cNvSpPr txBox="1"/>
          <p:nvPr/>
        </p:nvSpPr>
        <p:spPr>
          <a:xfrm>
            <a:off x="859536" y="5221224"/>
            <a:ext cx="228600" cy="274320"/>
          </a:xfrm>
          <a:prstGeom prst="rect">
            <a:avLst/>
          </a:prstGeom>
          <a:noFill/>
        </p:spPr>
        <p:txBody>
          <a:bodyPr wrap="square" lIns="0" rIns="0" tIns="0" bIns="0">
            <a:spAutoFit/>
          </a:bodyPr>
          <a:lstStyle/>
          <a:p>
            <a:pPr>
              <a:spcAft>
                <a:spcPts val="600"/>
              </a:spcAft>
              <a:defRPr sz="1600" b="1">
                <a:solidFill>
                  <a:srgbClr val="FFFCF6"/>
                </a:solidFill>
                <a:latin typeface="Arial"/>
              </a:defRPr>
            </a:pPr>
            <a:r>
              <a:t>4</a:t>
            </a:r>
          </a:p>
        </p:txBody>
      </p:sp>
      <p:sp>
        <p:nvSpPr>
          <p:cNvPr id="21" name="TextBox 20"/>
          <p:cNvSpPr txBox="1"/>
          <p:nvPr/>
        </p:nvSpPr>
        <p:spPr>
          <a:xfrm>
            <a:off x="1508760" y="5175504"/>
            <a:ext cx="2103120" cy="502920"/>
          </a:xfrm>
          <a:prstGeom prst="rect">
            <a:avLst/>
          </a:prstGeom>
          <a:noFill/>
        </p:spPr>
        <p:txBody>
          <a:bodyPr wrap="square" lIns="0" rIns="0" tIns="0" bIns="0">
            <a:spAutoFit/>
          </a:bodyPr>
          <a:lstStyle/>
          <a:p>
            <a:pPr>
              <a:spcAft>
                <a:spcPts val="600"/>
              </a:spcAft>
              <a:defRPr sz="2700" b="1">
                <a:solidFill>
                  <a:srgbClr val="171717"/>
                </a:solidFill>
                <a:latin typeface="Arial"/>
              </a:defRPr>
            </a:pPr>
            <a:r>
              <a:t>Improve</a:t>
            </a:r>
          </a:p>
        </p:txBody>
      </p:sp>
      <p:sp>
        <p:nvSpPr>
          <p:cNvPr id="22" name="TextBox 21"/>
          <p:cNvSpPr txBox="1"/>
          <p:nvPr/>
        </p:nvSpPr>
        <p:spPr>
          <a:xfrm>
            <a:off x="4114800" y="5175504"/>
            <a:ext cx="7132320" cy="777240"/>
          </a:xfrm>
          <a:prstGeom prst="rect">
            <a:avLst/>
          </a:prstGeom>
          <a:noFill/>
        </p:spPr>
        <p:txBody>
          <a:bodyPr wrap="square" lIns="0" rIns="0" tIns="0" bIns="0">
            <a:spAutoFit/>
          </a:bodyPr>
          <a:lstStyle/>
          <a:p>
            <a:pPr>
              <a:spcAft>
                <a:spcPts val="600"/>
              </a:spcAft>
              <a:defRPr sz="2100" b="0">
                <a:solidFill>
                  <a:srgbClr val="171717"/>
                </a:solidFill>
                <a:latin typeface="Arial"/>
              </a:defRPr>
            </a:pPr>
            <a:r>
              <a:t>Use feedback, then add</a:t>
            </a:r>
          </a:p>
          <a:p>
            <a:pPr>
              <a:spcAft>
                <a:spcPts val="600"/>
              </a:spcAft>
              <a:defRPr sz="2100" b="0">
                <a:solidFill>
                  <a:srgbClr val="171717"/>
                </a:solidFill>
                <a:latin typeface="Arial"/>
              </a:defRPr>
            </a:pPr>
            <a:r>
              <a:t>more issuers and employers.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sp>
        <p:nvSpPr>
          <p:cNvPr id="2" name="TextBox 1"/>
          <p:cNvSpPr txBox="1"/>
          <p:nvPr/>
        </p:nvSpPr>
        <p:spPr>
          <a:xfrm>
            <a:off x="502920" y="274320"/>
            <a:ext cx="1828800" cy="201168"/>
          </a:xfrm>
          <a:prstGeom prst="rect">
            <a:avLst/>
          </a:prstGeom>
          <a:noFill/>
        </p:spPr>
        <p:txBody>
          <a:bodyPr wrap="square" lIns="0" rIns="0" tIns="0" bIns="0">
            <a:spAutoFit/>
          </a:bodyPr>
          <a:lstStyle/>
          <a:p>
            <a:pPr>
              <a:spcAft>
                <a:spcPts val="600"/>
              </a:spcAft>
              <a:defRPr sz="1100" b="1">
                <a:solidFill>
                  <a:srgbClr val="F5F0E6"/>
                </a:solidFill>
                <a:latin typeface="Arial"/>
              </a:defRPr>
            </a:pPr>
            <a:r>
              <a:t>PROOFPAK</a:t>
            </a:r>
          </a:p>
        </p:txBody>
      </p:sp>
      <p:sp>
        <p:nvSpPr>
          <p:cNvPr id="3" name="TextBox 2"/>
          <p:cNvSpPr txBox="1"/>
          <p:nvPr/>
        </p:nvSpPr>
        <p:spPr>
          <a:xfrm>
            <a:off x="2148840" y="274320"/>
            <a:ext cx="8229600" cy="201168"/>
          </a:xfrm>
          <a:prstGeom prst="rect">
            <a:avLst/>
          </a:prstGeom>
          <a:noFill/>
        </p:spPr>
        <p:txBody>
          <a:bodyPr wrap="square" lIns="0" rIns="0" tIns="0" bIns="0">
            <a:spAutoFit/>
          </a:bodyPr>
          <a:lstStyle/>
          <a:p>
            <a:pPr>
              <a:spcAft>
                <a:spcPts val="600"/>
              </a:spcAft>
              <a:defRPr sz="1100" b="1">
                <a:solidFill>
                  <a:srgbClr val="C6532C"/>
                </a:solidFill>
                <a:latin typeface="Arial"/>
              </a:defRPr>
            </a:pPr>
            <a:r>
              <a:t>VISION</a:t>
            </a:r>
          </a:p>
        </p:txBody>
      </p:sp>
      <p:sp>
        <p:nvSpPr>
          <p:cNvPr id="4" name="TextBox 3"/>
          <p:cNvSpPr txBox="1"/>
          <p:nvPr/>
        </p:nvSpPr>
        <p:spPr>
          <a:xfrm>
            <a:off x="10698480" y="274320"/>
            <a:ext cx="1005840" cy="201168"/>
          </a:xfrm>
          <a:prstGeom prst="rect">
            <a:avLst/>
          </a:prstGeom>
          <a:noFill/>
        </p:spPr>
        <p:txBody>
          <a:bodyPr wrap="square" lIns="0" rIns="0" tIns="0" bIns="0">
            <a:spAutoFit/>
          </a:bodyPr>
          <a:lstStyle/>
          <a:p>
            <a:pPr>
              <a:spcAft>
                <a:spcPts val="600"/>
              </a:spcAft>
              <a:defRPr sz="1100" b="0">
                <a:solidFill>
                  <a:srgbClr val="F5F0E6"/>
                </a:solidFill>
                <a:latin typeface="Arial"/>
              </a:defRPr>
            </a:pPr>
            <a:r>
              <a:t>11 / 11</a:t>
            </a:r>
          </a:p>
        </p:txBody>
      </p:sp>
      <p:sp>
        <p:nvSpPr>
          <p:cNvPr id="5" name="Rectangle 4"/>
          <p:cNvSpPr/>
          <p:nvPr/>
        </p:nvSpPr>
        <p:spPr>
          <a:xfrm>
            <a:off x="502920" y="694944"/>
            <a:ext cx="11155680" cy="12801"/>
          </a:xfrm>
          <a:prstGeom prst="rect">
            <a:avLst/>
          </a:prstGeom>
          <a:solidFill>
            <a:srgbClr val="44413B"/>
          </a:solidFill>
          <a:ln>
            <a:noFill/>
          </a:ln>
        </p:spPr>
        <p:txBody>
          <a:bodyPr rtlCol="0" anchor="ctr"/>
          <a:lstStyle/>
          <a:p>
            <a:pPr algn="ctr"/>
          </a:p>
        </p:txBody>
      </p:sp>
      <p:sp>
        <p:nvSpPr>
          <p:cNvPr id="6" name="TextBox 5"/>
          <p:cNvSpPr txBox="1"/>
          <p:nvPr/>
        </p:nvSpPr>
        <p:spPr>
          <a:xfrm>
            <a:off x="594360" y="932688"/>
            <a:ext cx="11018520" cy="1280160"/>
          </a:xfrm>
          <a:prstGeom prst="rect">
            <a:avLst/>
          </a:prstGeom>
          <a:noFill/>
        </p:spPr>
        <p:txBody>
          <a:bodyPr wrap="square" lIns="0" rIns="0" tIns="0" bIns="0">
            <a:spAutoFit/>
          </a:bodyPr>
          <a:lstStyle/>
          <a:p>
            <a:pPr>
              <a:spcAft>
                <a:spcPts val="600"/>
              </a:spcAft>
              <a:defRPr sz="3400" b="1">
                <a:solidFill>
                  <a:srgbClr val="F5F0E6"/>
                </a:solidFill>
                <a:latin typeface="Arial"/>
              </a:defRPr>
            </a:pPr>
            <a:r>
              <a:t>Your work should build</a:t>
            </a:r>
          </a:p>
          <a:p>
            <a:pPr>
              <a:spcAft>
                <a:spcPts val="600"/>
              </a:spcAft>
              <a:defRPr sz="3400" b="1">
                <a:solidFill>
                  <a:srgbClr val="F5F0E6"/>
                </a:solidFill>
                <a:latin typeface="Arial"/>
              </a:defRPr>
            </a:pPr>
            <a:r>
              <a:t>your reputation.</a:t>
            </a:r>
          </a:p>
        </p:txBody>
      </p:sp>
      <p:sp>
        <p:nvSpPr>
          <p:cNvPr id="7" name="TextBox 6"/>
          <p:cNvSpPr txBox="1"/>
          <p:nvPr/>
        </p:nvSpPr>
        <p:spPr>
          <a:xfrm>
            <a:off x="685800" y="2560320"/>
            <a:ext cx="10789920" cy="1005840"/>
          </a:xfrm>
          <a:prstGeom prst="rect">
            <a:avLst/>
          </a:prstGeom>
          <a:noFill/>
        </p:spPr>
        <p:txBody>
          <a:bodyPr wrap="square" lIns="0" rIns="0" tIns="0" bIns="0">
            <a:spAutoFit/>
          </a:bodyPr>
          <a:lstStyle/>
          <a:p>
            <a:pPr>
              <a:spcAft>
                <a:spcPts val="600"/>
              </a:spcAft>
              <a:defRPr sz="3000" b="0">
                <a:solidFill>
                  <a:srgbClr val="F5F0E6"/>
                </a:solidFill>
                <a:latin typeface="Arial"/>
              </a:defRPr>
            </a:pPr>
            <a:r>
              <a:t>A Skill Passport that grows with every</a:t>
            </a:r>
          </a:p>
          <a:p>
            <a:pPr>
              <a:spcAft>
                <a:spcPts val="600"/>
              </a:spcAft>
              <a:defRPr sz="3000" b="0">
                <a:solidFill>
                  <a:srgbClr val="F5F0E6"/>
                </a:solidFill>
                <a:latin typeface="Arial"/>
              </a:defRPr>
            </a:pPr>
            <a:r>
              <a:t>project, credential, and achievement.</a:t>
            </a:r>
          </a:p>
        </p:txBody>
      </p:sp>
      <p:sp>
        <p:nvSpPr>
          <p:cNvPr id="8" name="TextBox 7"/>
          <p:cNvSpPr txBox="1"/>
          <p:nvPr/>
        </p:nvSpPr>
        <p:spPr>
          <a:xfrm>
            <a:off x="685800" y="4096512"/>
            <a:ext cx="2651760" cy="365760"/>
          </a:xfrm>
          <a:prstGeom prst="rect">
            <a:avLst/>
          </a:prstGeom>
          <a:noFill/>
        </p:spPr>
        <p:txBody>
          <a:bodyPr wrap="square" lIns="0" rIns="0" tIns="0" bIns="0">
            <a:spAutoFit/>
          </a:bodyPr>
          <a:lstStyle/>
          <a:p>
            <a:pPr>
              <a:spcAft>
                <a:spcPts val="600"/>
              </a:spcAft>
              <a:defRPr sz="1800" b="1">
                <a:solidFill>
                  <a:srgbClr val="E9A58C"/>
                </a:solidFill>
                <a:latin typeface="Arial"/>
              </a:defRPr>
            </a:pPr>
            <a:r>
              <a:t>Next</a:t>
            </a:r>
          </a:p>
        </p:txBody>
      </p:sp>
      <p:sp>
        <p:nvSpPr>
          <p:cNvPr id="9" name="TextBox 8"/>
          <p:cNvSpPr txBox="1"/>
          <p:nvPr/>
        </p:nvSpPr>
        <p:spPr>
          <a:xfrm>
            <a:off x="685800" y="4617720"/>
            <a:ext cx="2606040" cy="777240"/>
          </a:xfrm>
          <a:prstGeom prst="rect">
            <a:avLst/>
          </a:prstGeom>
          <a:noFill/>
        </p:spPr>
        <p:txBody>
          <a:bodyPr wrap="square" lIns="0" rIns="0" tIns="0" bIns="0">
            <a:spAutoFit/>
          </a:bodyPr>
          <a:lstStyle/>
          <a:p>
            <a:pPr>
              <a:spcAft>
                <a:spcPts val="600"/>
              </a:spcAft>
              <a:defRPr sz="2000" b="0">
                <a:solidFill>
                  <a:srgbClr val="F5F0E6"/>
                </a:solidFill>
                <a:latin typeface="Arial"/>
              </a:defRPr>
            </a:pPr>
            <a:r>
              <a:t>Real-user testing</a:t>
            </a:r>
          </a:p>
        </p:txBody>
      </p:sp>
      <p:sp>
        <p:nvSpPr>
          <p:cNvPr id="10" name="TextBox 9"/>
          <p:cNvSpPr txBox="1"/>
          <p:nvPr/>
        </p:nvSpPr>
        <p:spPr>
          <a:xfrm>
            <a:off x="3566160" y="4096512"/>
            <a:ext cx="2651760" cy="365760"/>
          </a:xfrm>
          <a:prstGeom prst="rect">
            <a:avLst/>
          </a:prstGeom>
          <a:noFill/>
        </p:spPr>
        <p:txBody>
          <a:bodyPr wrap="square" lIns="0" rIns="0" tIns="0" bIns="0">
            <a:spAutoFit/>
          </a:bodyPr>
          <a:lstStyle/>
          <a:p>
            <a:pPr>
              <a:spcAft>
                <a:spcPts val="600"/>
              </a:spcAft>
              <a:defRPr sz="1800" b="1">
                <a:solidFill>
                  <a:srgbClr val="E9A58C"/>
                </a:solidFill>
                <a:latin typeface="Arial"/>
              </a:defRPr>
            </a:pPr>
            <a:r>
              <a:t>Then</a:t>
            </a:r>
          </a:p>
        </p:txBody>
      </p:sp>
      <p:sp>
        <p:nvSpPr>
          <p:cNvPr id="11" name="TextBox 10"/>
          <p:cNvSpPr txBox="1"/>
          <p:nvPr/>
        </p:nvSpPr>
        <p:spPr>
          <a:xfrm>
            <a:off x="3566160" y="4617720"/>
            <a:ext cx="2606040" cy="777240"/>
          </a:xfrm>
          <a:prstGeom prst="rect">
            <a:avLst/>
          </a:prstGeom>
          <a:noFill/>
        </p:spPr>
        <p:txBody>
          <a:bodyPr wrap="square" lIns="0" rIns="0" tIns="0" bIns="0">
            <a:spAutoFit/>
          </a:bodyPr>
          <a:lstStyle/>
          <a:p>
            <a:pPr>
              <a:spcAft>
                <a:spcPts val="600"/>
              </a:spcAft>
              <a:defRPr sz="2000" b="0">
                <a:solidFill>
                  <a:srgbClr val="F5F0E6"/>
                </a:solidFill>
                <a:latin typeface="Arial"/>
              </a:defRPr>
            </a:pPr>
            <a:r>
              <a:t>Company + issuer pilots</a:t>
            </a:r>
          </a:p>
        </p:txBody>
      </p:sp>
      <p:sp>
        <p:nvSpPr>
          <p:cNvPr id="12" name="TextBox 11"/>
          <p:cNvSpPr txBox="1"/>
          <p:nvPr/>
        </p:nvSpPr>
        <p:spPr>
          <a:xfrm>
            <a:off x="6446520" y="4096512"/>
            <a:ext cx="2651760" cy="365760"/>
          </a:xfrm>
          <a:prstGeom prst="rect">
            <a:avLst/>
          </a:prstGeom>
          <a:noFill/>
        </p:spPr>
        <p:txBody>
          <a:bodyPr wrap="square" lIns="0" rIns="0" tIns="0" bIns="0">
            <a:spAutoFit/>
          </a:bodyPr>
          <a:lstStyle/>
          <a:p>
            <a:pPr>
              <a:spcAft>
                <a:spcPts val="600"/>
              </a:spcAft>
              <a:defRPr sz="1800" b="1">
                <a:solidFill>
                  <a:srgbClr val="E9A58C"/>
                </a:solidFill>
                <a:latin typeface="Arial"/>
              </a:defRPr>
            </a:pPr>
            <a:r>
              <a:t>Later</a:t>
            </a:r>
          </a:p>
        </p:txBody>
      </p:sp>
      <p:sp>
        <p:nvSpPr>
          <p:cNvPr id="13" name="TextBox 12"/>
          <p:cNvSpPr txBox="1"/>
          <p:nvPr/>
        </p:nvSpPr>
        <p:spPr>
          <a:xfrm>
            <a:off x="6446520" y="4617720"/>
            <a:ext cx="2606040" cy="777240"/>
          </a:xfrm>
          <a:prstGeom prst="rect">
            <a:avLst/>
          </a:prstGeom>
          <a:noFill/>
        </p:spPr>
        <p:txBody>
          <a:bodyPr wrap="square" lIns="0" rIns="0" tIns="0" bIns="0">
            <a:spAutoFit/>
          </a:bodyPr>
          <a:lstStyle/>
          <a:p>
            <a:pPr>
              <a:spcAft>
                <a:spcPts val="600"/>
              </a:spcAft>
              <a:defRPr sz="2000" b="0">
                <a:solidFill>
                  <a:srgbClr val="F5F0E6"/>
                </a:solidFill>
                <a:latin typeface="Arial"/>
              </a:defRPr>
            </a:pPr>
            <a:r>
              <a:t>More credentials + payments</a:t>
            </a:r>
          </a:p>
        </p:txBody>
      </p:sp>
      <p:sp>
        <p:nvSpPr>
          <p:cNvPr id="14" name="TextBox 13"/>
          <p:cNvSpPr txBox="1"/>
          <p:nvPr/>
        </p:nvSpPr>
        <p:spPr>
          <a:xfrm>
            <a:off x="9326880" y="4096512"/>
            <a:ext cx="2651760" cy="365760"/>
          </a:xfrm>
          <a:prstGeom prst="rect">
            <a:avLst/>
          </a:prstGeom>
          <a:noFill/>
        </p:spPr>
        <p:txBody>
          <a:bodyPr wrap="square" lIns="0" rIns="0" tIns="0" bIns="0">
            <a:spAutoFit/>
          </a:bodyPr>
          <a:lstStyle/>
          <a:p>
            <a:pPr>
              <a:spcAft>
                <a:spcPts val="600"/>
              </a:spcAft>
              <a:defRPr sz="1800" b="1">
                <a:solidFill>
                  <a:srgbClr val="E9A58C"/>
                </a:solidFill>
                <a:latin typeface="Arial"/>
              </a:defRPr>
            </a:pPr>
            <a:r>
              <a:t>Long term</a:t>
            </a:r>
          </a:p>
        </p:txBody>
      </p:sp>
      <p:sp>
        <p:nvSpPr>
          <p:cNvPr id="15" name="TextBox 14"/>
          <p:cNvSpPr txBox="1"/>
          <p:nvPr/>
        </p:nvSpPr>
        <p:spPr>
          <a:xfrm>
            <a:off x="9326880" y="4617720"/>
            <a:ext cx="2606040" cy="777240"/>
          </a:xfrm>
          <a:prstGeom prst="rect">
            <a:avLst/>
          </a:prstGeom>
          <a:noFill/>
        </p:spPr>
        <p:txBody>
          <a:bodyPr wrap="square" lIns="0" rIns="0" tIns="0" bIns="0">
            <a:spAutoFit/>
          </a:bodyPr>
          <a:lstStyle/>
          <a:p>
            <a:pPr>
              <a:spcAft>
                <a:spcPts val="600"/>
              </a:spcAft>
              <a:defRPr sz="2000" b="0">
                <a:solidFill>
                  <a:srgbClr val="F5F0E6"/>
                </a:solidFill>
                <a:latin typeface="Arial"/>
              </a:defRPr>
            </a:pPr>
            <a:r>
              <a:t>Portable professional evidence</a:t>
            </a:r>
          </a:p>
        </p:txBody>
      </p:sp>
      <p:sp>
        <p:nvSpPr>
          <p:cNvPr id="16" name="TextBox 15"/>
          <p:cNvSpPr txBox="1"/>
          <p:nvPr/>
        </p:nvSpPr>
        <p:spPr>
          <a:xfrm>
            <a:off x="685800" y="5532120"/>
            <a:ext cx="10972800" cy="365760"/>
          </a:xfrm>
          <a:prstGeom prst="rect">
            <a:avLst/>
          </a:prstGeom>
          <a:noFill/>
        </p:spPr>
        <p:txBody>
          <a:bodyPr wrap="square" lIns="0" rIns="0" tIns="0" bIns="0">
            <a:spAutoFit/>
          </a:bodyPr>
          <a:lstStyle/>
          <a:p>
            <a:pPr>
              <a:spcAft>
                <a:spcPts val="600"/>
              </a:spcAft>
              <a:defRPr sz="1600" b="0">
                <a:solidFill>
                  <a:srgbClr val="C6BEB1"/>
                </a:solidFill>
                <a:latin typeface="Arial"/>
              </a:defRPr>
            </a:pPr>
            <a:r>
              <a:t>Future mainnet payments require separate validation and release approval.</a:t>
            </a:r>
          </a:p>
        </p:txBody>
      </p:sp>
      <p:sp>
        <p:nvSpPr>
          <p:cNvPr id="17" name="TextBox 16"/>
          <p:cNvSpPr txBox="1"/>
          <p:nvPr/>
        </p:nvSpPr>
        <p:spPr>
          <a:xfrm>
            <a:off x="685800" y="6080760"/>
            <a:ext cx="2194560" cy="502920"/>
          </a:xfrm>
          <a:prstGeom prst="rect">
            <a:avLst/>
          </a:prstGeom>
          <a:noFill/>
        </p:spPr>
        <p:txBody>
          <a:bodyPr wrap="square" lIns="0" rIns="0" tIns="0" bIns="0">
            <a:spAutoFit/>
          </a:bodyPr>
          <a:lstStyle/>
          <a:p>
            <a:pPr>
              <a:spcAft>
                <a:spcPts val="600"/>
              </a:spcAft>
              <a:defRPr sz="2800" b="1">
                <a:solidFill>
                  <a:srgbClr val="F5F0E6"/>
                </a:solidFill>
                <a:latin typeface="Arial"/>
              </a:defRPr>
            </a:pPr>
            <a:r>
              <a:t>ProofPak</a:t>
            </a:r>
          </a:p>
        </p:txBody>
      </p:sp>
      <p:sp>
        <p:nvSpPr>
          <p:cNvPr id="18" name="TextBox 17"/>
          <p:cNvSpPr txBox="1"/>
          <p:nvPr/>
        </p:nvSpPr>
        <p:spPr>
          <a:xfrm>
            <a:off x="3063240" y="6199632"/>
            <a:ext cx="8229600" cy="411480"/>
          </a:xfrm>
          <a:prstGeom prst="rect">
            <a:avLst/>
          </a:prstGeom>
          <a:noFill/>
        </p:spPr>
        <p:txBody>
          <a:bodyPr wrap="square" lIns="0" rIns="0" tIns="0" bIns="0">
            <a:spAutoFit/>
          </a:bodyPr>
          <a:lstStyle/>
          <a:p>
            <a:pPr>
              <a:spcAft>
                <a:spcPts val="600"/>
              </a:spcAft>
              <a:defRPr sz="2100" b="1">
                <a:solidFill>
                  <a:srgbClr val="F5F0E6"/>
                </a:solidFill>
                <a:latin typeface="Arial"/>
              </a:defRPr>
            </a:pPr>
            <a:r>
              <a:t>Prove your skills. Get work. Build your reputation.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