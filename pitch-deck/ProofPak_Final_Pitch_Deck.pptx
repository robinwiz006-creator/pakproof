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helps you prove your skills, get work, and build your reputation. It starts with one Skill Passport connecting your work, evidence, opportunities, and achievements.</a:t>
            </a:r>
          </a:p>
          <a:p/>
          <a:p>
            <a:r>
              <a:t>Actual website MarketingPassport component: explicitly illustrative, no genuine issued award or blockchain proof. Website Arial retained. User palette used exactly; screenshots preserve website colors.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apply for work, your CV is one file, your projects live elsewhere, and certificates sit in email. You collect the same evidence again. Employers still need to understand the source of each claim and the work behind it. The problem is not a lack of work. It is a scattered professional record.</a:t>
            </a:r>
          </a:p>
          <a:p/>
          <a:p>
            <a:r>
              <a:t>Conceptual editable illustration, not customer research or unemployment statistics. Difficult verification means assessing source/status, not a claim that blockchain proves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running Passport with demo data. Show your skills and practical projects. Prove your work with supporting evidence and credentials from authorized organizations. Build your reputation as your record grows. Your own claims remain separate from issued credentials. You control what to publish, then share one place that gives people the full picture.</a:t>
            </a:r>
          </a:p>
          <a:p/>
          <a:p>
            <a:r>
              <a:t>Public demo Passport from the actual running application. No real user, issued credential or completed paid work is claimed. Self-reported profile/project claims and organization-issued credentials remain distinct. User controls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your Passport with skills, projects and experience. Show your work with projects and evidence. Find a challenge or paid project. Complete the agreed work, submit it, and receive reviews. Paid projects can include milestone payments using test USDC on devnet. Then grow your record with completed work and separately issued credentials. An authorized organization issues the credential; payment never creates one automatically.</a:t>
            </a:r>
          </a:p>
          <a:p/>
          <a:p>
            <a:r>
              <a:t>Timing target: 29 seconds. Source: docs/PAYMENTS-MVP.md; CREDENTIALS-WALLETS-DELIVERY.md. Acceptance/publication are separate recipient choices. No escrow or guaranteed payment. All five steps form a left-to-right workflow; stage 5 is dark for visual emphasis.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Solana does two useful jobs. A credential can have a digital fingerprint recorded onchain, letting someone check whether that record changed. This checks integrity, not whether the skill claim is true. For approved project milestones, connected wallets can send test USDC and produce a checkable receipt. Low fees, fast settlement, and public records fit both jobs. The current implementation is devnet only, not real-money mainnet payments.</a:t>
            </a:r>
          </a:p>
          <a:p/>
          <a:p>
            <a:r>
              <a:t>credential-proof.ts; payment-chain.ts; payments.ts. Devnet/test-token implementation; no finalized live broadcast independently verified. Fingerprint detects record changes, not truth of skill or real-world issuer identity. Fast/low-cost are design rationale, not a measured benchmark. No genuine Solana logo was locally available; a neutral editable network icon is used, not an invented logo.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is different because the record carries forward. A CV lists claims, a certificate tool holds awards, and a work platform holds jobs. ProofPak connects skills, evidence, opportunities and completed work. Each new project or credential gives the next person more context, instead of making you start from zero. That is how a professional record can build reputation over time.</a:t>
            </a:r>
          </a:p>
          <a:p/>
          <a:p>
            <a:r>
              <a:t>Positioning comparison, not an exhaustive competitor feature audit or first-of-kind claim. One record connects opportunities to evidence and completed work; reputation is the intended benefit, not a verified score or guaranteed hiring outcome.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more than an idea. The MVP includes Passport publication, evidence, credential issuance and acceptance, opportunity applications, agreed milestones, work reviews, wallet ownership checks, and devnet receipt logic. These are actual product captures, using demo and offline fixture data. The implementation has passed local and automated checks. The next important step is real-user testing, including hosted accounts and real wallet-to-devnet journeys.</a:t>
            </a:r>
          </a:p>
          <a:p/>
          <a:p>
            <a:r>
              <a:t>Captures are genuine running-product UI: existing demo Passport; offline credential presentation; actual paid-project milestone component fixture. No real award, company, payment, token receipt or verified status was created. Current local validation: 60 unit tests; 112 browser tests; local PostgreSQL migration/workflow/privacy checks; lint/typecheck/build passed. No hosted account/wallet-to-devnet E2E verified. Next.js security advisory remains outside this task. Source details in previous Product_Claim_Audit.md.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in Pakistan with a practical first audience: students building a record, freelancers showing completed work, developers and graduates looking for opportunities, and organizations that need clearer evidence. These groups can test both sides of the product in focused local pilots. The aim is to learn whether the Passport is useful again for the next opportunity, before expanding.</a:t>
            </a:r>
          </a:p>
          <a:p/>
          <a:p>
            <a:r>
              <a:t>No statistics, secured pilots or current adoption are claimed. Pakistan outline: Natural Earth 1:110m countries, public-domain cartographic data, retrieved from https://raw.githubusercontent.com/nvkelso/natural-earth-vector/master/geojson/ne_110m_admin_0_countries.geojson . Map is a geographic locator, not a statement on disputed borders. No statistical market-sizing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model starts free for individuals: a basic Skill Passport and sharing. Organizations could pay for useful credential, hiring and opportunity tools. That puts revenue around team needs while keeping it easy for talent to start. Later, project transaction fees may be an option, subject to validation and applicable rules. These are business hypotheses, not current revenue or announced prices.</a:t>
            </a:r>
          </a:p>
          <a:p/>
          <a:p>
            <a:r>
              <a:t>Business-model proposal only. No pricing, billing implementation, existing revenue, paying customer or current transaction fee is asserted. Free basic passport, sharing and discovery are the intended individual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early users through developer and education communities in Pakistan. Run a focused pilot with an interested company or credential issuer. Then measure completed journeys, repeat use, and feedback before expanding. The founder brings experience building developer communities, educational workshops and hackathons in Pakistan. That is an execution advantage, not a claim that those communities are ProofPak customers or partners.</a:t>
            </a:r>
          </a:p>
          <a:p/>
          <a:p>
            <a:r>
              <a:t>Founder experience supplied explicitly by the user in this brief; not independently verified against biographical sources. Communities/institutions are not presented as confirmed customers or partners. Reach, Pilot and Grow are planned actions, not existing traction.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work should build your reputation. Our vision is a Skill Passport that grows with every project, credential and achievement. Next, we will test with real users, then run focused company and issuer pilots. Wider credential and payment support comes later. Mainnet remains a future step requiring separate validation. ProofPak: prove your skills, get work, build your reputation.</a:t>
            </a:r>
          </a:p>
          <a:p/>
          <a:p>
            <a:r>
              <a:t>Closing vision. Mainnet payment support and cross-platform portability remain future work, requiring separate validation and release approval. No guaranteed payment or production launch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pic>
        <p:nvPicPr>
          <p:cNvPr id="2" name="Picture 1" descr="brand-mark-ink.png"/>
          <p:cNvPicPr>
            <a:picLocks noChangeAspect="1"/>
          </p:cNvPicPr>
          <p:nvPr/>
        </p:nvPicPr>
        <p:blipFill>
          <a:blip r:embed="rId2"/>
          <a:stretch>
            <a:fillRect/>
          </a:stretch>
        </p:blipFill>
        <p:spPr>
          <a:xfrm>
            <a:off x="612648" y="475488"/>
            <a:ext cx="402336" cy="402336"/>
          </a:xfrm>
          <a:prstGeom prst="rect">
            <a:avLst/>
          </a:prstGeom>
        </p:spPr>
      </p:pic>
      <p:sp>
        <p:nvSpPr>
          <p:cNvPr id="3" name="TextBox 2"/>
          <p:cNvSpPr txBox="1"/>
          <p:nvPr/>
        </p:nvSpPr>
        <p:spPr>
          <a:xfrm>
            <a:off x="1133856" y="457200"/>
            <a:ext cx="1828800" cy="502920"/>
          </a:xfrm>
          <a:prstGeom prst="rect">
            <a:avLst/>
          </a:prstGeom>
          <a:noFill/>
        </p:spPr>
        <p:txBody>
          <a:bodyPr wrap="square" lIns="0" rIns="0" tIns="0" bIns="0">
            <a:spAutoFit/>
          </a:bodyPr>
          <a:lstStyle/>
          <a:p>
            <a:pPr>
              <a:spcAft>
                <a:spcPts val="600"/>
              </a:spcAft>
              <a:defRPr sz="2400" b="1">
                <a:solidFill>
                  <a:srgbClr val="171717"/>
                </a:solidFill>
                <a:latin typeface="Arial"/>
              </a:defRPr>
            </a:pPr>
            <a:r>
              <a:t>ProofPak</a:t>
            </a:r>
          </a:p>
        </p:txBody>
      </p:sp>
      <p:sp>
        <p:nvSpPr>
          <p:cNvPr id="4" name="TextBox 3"/>
          <p:cNvSpPr txBox="1"/>
          <p:nvPr/>
        </p:nvSpPr>
        <p:spPr>
          <a:xfrm>
            <a:off x="594360" y="1353312"/>
            <a:ext cx="6400800" cy="1234440"/>
          </a:xfrm>
          <a:prstGeom prst="rect">
            <a:avLst/>
          </a:prstGeom>
          <a:noFill/>
        </p:spPr>
        <p:txBody>
          <a:bodyPr wrap="square" lIns="0" rIns="0" tIns="0" bIns="0">
            <a:spAutoFit/>
          </a:bodyPr>
          <a:lstStyle/>
          <a:p>
            <a:pPr>
              <a:spcAft>
                <a:spcPts val="600"/>
              </a:spcAft>
              <a:defRPr sz="7800" b="1">
                <a:solidFill>
                  <a:srgbClr val="171717"/>
                </a:solidFill>
                <a:latin typeface="Arial"/>
              </a:defRPr>
            </a:pPr>
            <a:r>
              <a:t>ProofPak</a:t>
            </a:r>
          </a:p>
        </p:txBody>
      </p:sp>
      <p:sp>
        <p:nvSpPr>
          <p:cNvPr id="5" name="TextBox 4"/>
          <p:cNvSpPr txBox="1"/>
          <p:nvPr/>
        </p:nvSpPr>
        <p:spPr>
          <a:xfrm>
            <a:off x="640080" y="2788920"/>
            <a:ext cx="6080760" cy="2148840"/>
          </a:xfrm>
          <a:prstGeom prst="rect">
            <a:avLst/>
          </a:prstGeom>
          <a:noFill/>
        </p:spPr>
        <p:txBody>
          <a:bodyPr wrap="square" lIns="0" rIns="0" tIns="0" bIns="0">
            <a:spAutoFit/>
          </a:bodyPr>
          <a:lstStyle/>
          <a:p>
            <a:pPr>
              <a:spcAft>
                <a:spcPts val="600"/>
              </a:spcAft>
              <a:defRPr sz="3500" b="1">
                <a:solidFill>
                  <a:srgbClr val="171717"/>
                </a:solidFill>
                <a:latin typeface="Arial"/>
              </a:defRPr>
            </a:pPr>
            <a:r>
              <a:t>Prove your skills.</a:t>
            </a:r>
          </a:p>
          <a:p>
            <a:pPr>
              <a:spcAft>
                <a:spcPts val="600"/>
              </a:spcAft>
              <a:defRPr sz="3500" b="1">
                <a:solidFill>
                  <a:srgbClr val="171717"/>
                </a:solidFill>
                <a:latin typeface="Arial"/>
              </a:defRPr>
            </a:pPr>
            <a:r>
              <a:t>Get work.</a:t>
            </a:r>
          </a:p>
          <a:p>
            <a:pPr>
              <a:spcAft>
                <a:spcPts val="600"/>
              </a:spcAft>
              <a:defRPr sz="3500" b="1">
                <a:solidFill>
                  <a:srgbClr val="171717"/>
                </a:solidFill>
                <a:latin typeface="Arial"/>
              </a:defRPr>
            </a:pPr>
            <a:r>
              <a:t>Build your reputation.</a:t>
            </a:r>
          </a:p>
        </p:txBody>
      </p:sp>
      <p:cxnSp>
        <p:nvCxnSpPr>
          <p:cNvPr id="6" name="Connector 5"/>
          <p:cNvCxnSpPr/>
          <p:nvPr/>
        </p:nvCxnSpPr>
        <p:spPr>
          <a:xfrm>
            <a:off x="640080" y="5257800"/>
            <a:ext cx="868680" cy="0"/>
          </a:xfrm>
          <a:prstGeom prst="line">
            <a:avLst/>
          </a:prstGeom>
          <a:ln w="63500">
            <a:solidFill>
              <a:srgbClr val="C6532C"/>
            </a:solidFill>
          </a:ln>
        </p:spPr>
      </p:cxnSp>
      <p:sp>
        <p:nvSpPr>
          <p:cNvPr id="7" name="TextBox 6"/>
          <p:cNvSpPr txBox="1"/>
          <p:nvPr/>
        </p:nvSpPr>
        <p:spPr>
          <a:xfrm>
            <a:off x="640080" y="5532120"/>
            <a:ext cx="6126480" cy="914400"/>
          </a:xfrm>
          <a:prstGeom prst="rect">
            <a:avLst/>
          </a:prstGeom>
          <a:noFill/>
        </p:spPr>
        <p:txBody>
          <a:bodyPr wrap="square" lIns="0" rIns="0" tIns="0" bIns="0">
            <a:spAutoFit/>
          </a:bodyPr>
          <a:lstStyle/>
          <a:p>
            <a:pPr>
              <a:spcAft>
                <a:spcPts val="600"/>
              </a:spcAft>
              <a:defRPr sz="2200" b="0">
                <a:solidFill>
                  <a:srgbClr val="171717"/>
                </a:solidFill>
                <a:latin typeface="Arial"/>
              </a:defRPr>
            </a:pPr>
            <a:r>
              <a:t>One place to show your skills, prove your work,</a:t>
            </a:r>
          </a:p>
          <a:p>
            <a:pPr>
              <a:spcAft>
                <a:spcPts val="600"/>
              </a:spcAft>
              <a:defRPr sz="2200" b="0">
                <a:solidFill>
                  <a:srgbClr val="171717"/>
                </a:solidFill>
                <a:latin typeface="Arial"/>
              </a:defRPr>
            </a:pPr>
            <a:r>
              <a:t>find opportunities, and get paid.</a:t>
            </a:r>
          </a:p>
        </p:txBody>
      </p:sp>
      <p:sp>
        <p:nvSpPr>
          <p:cNvPr id="8" name="Rectangle 7"/>
          <p:cNvSpPr/>
          <p:nvPr/>
        </p:nvSpPr>
        <p:spPr>
          <a:xfrm>
            <a:off x="6949440" y="0"/>
            <a:ext cx="5242255" cy="6858000"/>
          </a:xfrm>
          <a:prstGeom prst="rect">
            <a:avLst/>
          </a:prstGeom>
          <a:solidFill>
            <a:srgbClr val="E7DECF"/>
          </a:solidFill>
          <a:ln>
            <a:noFill/>
          </a:ln>
        </p:spPr>
        <p:txBody>
          <a:bodyPr rtlCol="0" anchor="ctr"/>
          <a:lstStyle/>
          <a:p>
            <a:pPr algn="ctr"/>
          </a:p>
        </p:txBody>
      </p:sp>
      <p:pic>
        <p:nvPicPr>
          <p:cNvPr id="9" name="Picture 8" descr="passport-preview.png"/>
          <p:cNvPicPr>
            <a:picLocks noChangeAspect="1"/>
          </p:cNvPicPr>
          <p:nvPr/>
        </p:nvPicPr>
        <p:blipFill>
          <a:blip r:embed="rId3"/>
          <a:stretch>
            <a:fillRect/>
          </a:stretch>
        </p:blipFill>
        <p:spPr>
          <a:xfrm>
            <a:off x="7223760" y="743482"/>
            <a:ext cx="4617720" cy="5096714"/>
          </a:xfrm>
          <a:prstGeom prst="rect">
            <a:avLst/>
          </a:prstGeom>
        </p:spPr>
      </p:pic>
      <p:sp>
        <p:nvSpPr>
          <p:cNvPr id="10" name="Rounded Rectangle 9"/>
          <p:cNvSpPr/>
          <p:nvPr/>
        </p:nvSpPr>
        <p:spPr>
          <a:xfrm>
            <a:off x="7232904" y="6263640"/>
            <a:ext cx="4553712" cy="365760"/>
          </a:xfrm>
          <a:prstGeom prst="roundRect">
            <a:avLst>
              <a:gd name="adj" fmla="val 8000"/>
            </a:avLst>
          </a:prstGeom>
          <a:solidFill>
            <a:srgbClr val="E7DECF"/>
          </a:solidFill>
          <a:ln>
            <a:noFill/>
          </a:ln>
        </p:spPr>
        <p:txBody>
          <a:bodyPr rtlCol="0" anchor="ctr"/>
          <a:lstStyle/>
          <a:p>
            <a:pPr algn="ctr"/>
          </a:p>
        </p:txBody>
      </p:sp>
      <p:sp>
        <p:nvSpPr>
          <p:cNvPr id="11" name="TextBox 10"/>
          <p:cNvSpPr txBox="1"/>
          <p:nvPr/>
        </p:nvSpPr>
        <p:spPr>
          <a:xfrm>
            <a:off x="7342631" y="6345936"/>
            <a:ext cx="4334256" cy="219456"/>
          </a:xfrm>
          <a:prstGeom prst="rect">
            <a:avLst/>
          </a:prstGeom>
          <a:noFill/>
        </p:spPr>
        <p:txBody>
          <a:bodyPr wrap="square" lIns="0" rIns="0" tIns="0" bIns="0">
            <a:spAutoFit/>
          </a:bodyPr>
          <a:lstStyle/>
          <a:p>
            <a:pPr>
              <a:spcAft>
                <a:spcPts val="600"/>
              </a:spcAft>
              <a:defRPr sz="1100" b="1">
                <a:solidFill>
                  <a:srgbClr val="171717"/>
                </a:solidFill>
                <a:latin typeface="Arial"/>
              </a:defRPr>
            </a:pPr>
            <a:r>
              <a:t>GENUINE WEBSITE VISUAL · ILLUSTRATIVE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417320"/>
          </a:xfrm>
          <a:prstGeom prst="rect">
            <a:avLst/>
          </a:prstGeom>
          <a:noFill/>
        </p:spPr>
        <p:txBody>
          <a:bodyPr wrap="square" lIns="0" rIns="0" tIns="0" bIns="0">
            <a:spAutoFit/>
          </a:bodyPr>
          <a:lstStyle/>
          <a:p>
            <a:pPr>
              <a:spcAft>
                <a:spcPts val="600"/>
              </a:spcAft>
              <a:defRPr sz="4300" b="1">
                <a:solidFill>
                  <a:srgbClr val="171717"/>
                </a:solidFill>
                <a:latin typeface="Arial"/>
              </a:defRPr>
            </a:pPr>
            <a:r>
              <a:t>Your work is everywhere.</a:t>
            </a:r>
          </a:p>
          <a:p>
            <a:pPr>
              <a:spcAft>
                <a:spcPts val="600"/>
              </a:spcAft>
              <a:defRPr sz="4300" b="1">
                <a:solidFill>
                  <a:srgbClr val="171717"/>
                </a:solidFill>
                <a:latin typeface="Arial"/>
              </a:defRPr>
            </a:pPr>
            <a:r>
              <a:t>Your proof shouldn’t be.</a:t>
            </a:r>
          </a:p>
        </p:txBody>
      </p:sp>
      <p:sp>
        <p:nvSpPr>
          <p:cNvPr id="3" name="Rectangle 2"/>
          <p:cNvSpPr/>
          <p:nvPr/>
        </p:nvSpPr>
        <p:spPr>
          <a:xfrm>
            <a:off x="969264" y="2615184"/>
            <a:ext cx="2834640" cy="2377440"/>
          </a:xfrm>
          <a:prstGeom prst="rect">
            <a:avLst/>
          </a:prstGeom>
          <a:solidFill>
            <a:srgbClr val="E7DECF"/>
          </a:solidFill>
          <a:ln>
            <a:noFill/>
          </a:ln>
        </p:spPr>
        <p:txBody>
          <a:bodyPr rtlCol="0" anchor="ctr"/>
          <a:lstStyle/>
          <a:p>
            <a:pPr algn="ctr"/>
          </a:p>
        </p:txBody>
      </p:sp>
      <p:sp>
        <p:nvSpPr>
          <p:cNvPr id="4" name="Rectangle 3"/>
          <p:cNvSpPr/>
          <p:nvPr/>
        </p:nvSpPr>
        <p:spPr>
          <a:xfrm>
            <a:off x="914400" y="2560320"/>
            <a:ext cx="2834640" cy="2377440"/>
          </a:xfrm>
          <a:prstGeom prst="rect">
            <a:avLst/>
          </a:prstGeom>
          <a:solidFill>
            <a:srgbClr val="FFFFFF"/>
          </a:solidFill>
          <a:ln>
            <a:noFill/>
          </a:ln>
        </p:spPr>
        <p:txBody>
          <a:bodyPr rtlCol="0" anchor="ctr"/>
          <a:lstStyle/>
          <a:p>
            <a:pPr algn="ctr"/>
          </a:p>
        </p:txBody>
      </p:sp>
      <p:cxnSp>
        <p:nvCxnSpPr>
          <p:cNvPr id="5" name="Connector 4"/>
          <p:cNvCxnSpPr/>
          <p:nvPr/>
        </p:nvCxnSpPr>
        <p:spPr>
          <a:xfrm>
            <a:off x="1168054" y="2798155"/>
            <a:ext cx="251643" cy="0"/>
          </a:xfrm>
          <a:prstGeom prst="line">
            <a:avLst/>
          </a:prstGeom>
          <a:ln w="21590">
            <a:solidFill>
              <a:srgbClr val="C6532C"/>
            </a:solidFill>
          </a:ln>
        </p:spPr>
      </p:cxnSp>
      <p:cxnSp>
        <p:nvCxnSpPr>
          <p:cNvPr id="6" name="Connector 5"/>
          <p:cNvCxnSpPr/>
          <p:nvPr/>
        </p:nvCxnSpPr>
        <p:spPr>
          <a:xfrm>
            <a:off x="1419697" y="2798155"/>
            <a:ext cx="0" cy="330281"/>
          </a:xfrm>
          <a:prstGeom prst="line">
            <a:avLst/>
          </a:prstGeom>
          <a:ln w="21590">
            <a:solidFill>
              <a:srgbClr val="C6532C"/>
            </a:solidFill>
          </a:ln>
        </p:spPr>
      </p:cxnSp>
      <p:cxnSp>
        <p:nvCxnSpPr>
          <p:cNvPr id="7" name="Connector 6"/>
          <p:cNvCxnSpPr/>
          <p:nvPr/>
        </p:nvCxnSpPr>
        <p:spPr>
          <a:xfrm flipH="1">
            <a:off x="1168054" y="3128436"/>
            <a:ext cx="251643" cy="0"/>
          </a:xfrm>
          <a:prstGeom prst="line">
            <a:avLst/>
          </a:prstGeom>
          <a:ln w="21590">
            <a:solidFill>
              <a:srgbClr val="C6532C"/>
            </a:solidFill>
          </a:ln>
        </p:spPr>
      </p:cxnSp>
      <p:cxnSp>
        <p:nvCxnSpPr>
          <p:cNvPr id="8" name="Connector 7"/>
          <p:cNvCxnSpPr/>
          <p:nvPr/>
        </p:nvCxnSpPr>
        <p:spPr>
          <a:xfrm flipV="1">
            <a:off x="1168054" y="2798155"/>
            <a:ext cx="0" cy="330281"/>
          </a:xfrm>
          <a:prstGeom prst="line">
            <a:avLst/>
          </a:prstGeom>
          <a:ln w="21590">
            <a:solidFill>
              <a:srgbClr val="C6532C"/>
            </a:solidFill>
          </a:ln>
        </p:spPr>
      </p:cxnSp>
      <p:sp>
        <p:nvSpPr>
          <p:cNvPr id="9" name="Oval 8"/>
          <p:cNvSpPr/>
          <p:nvPr/>
        </p:nvSpPr>
        <p:spPr>
          <a:xfrm>
            <a:off x="1238829" y="2868929"/>
            <a:ext cx="106161" cy="106161"/>
          </a:xfrm>
          <a:prstGeom prst="ellipse">
            <a:avLst/>
          </a:prstGeom>
          <a:solidFill>
            <a:srgbClr val="C6532C"/>
          </a:solidFill>
          <a:ln>
            <a:noFill/>
          </a:ln>
        </p:spPr>
        <p:txBody>
          <a:bodyPr rtlCol="0" anchor="ctr"/>
          <a:lstStyle/>
          <a:p>
            <a:pPr algn="ctr"/>
          </a:p>
        </p:txBody>
      </p:sp>
      <p:cxnSp>
        <p:nvCxnSpPr>
          <p:cNvPr id="10" name="Connector 9"/>
          <p:cNvCxnSpPr/>
          <p:nvPr/>
        </p:nvCxnSpPr>
        <p:spPr>
          <a:xfrm>
            <a:off x="1223101" y="3030138"/>
            <a:ext cx="141549" cy="0"/>
          </a:xfrm>
          <a:prstGeom prst="line">
            <a:avLst/>
          </a:prstGeom>
          <a:ln w="21590">
            <a:solidFill>
              <a:srgbClr val="C6532C"/>
            </a:solidFill>
          </a:ln>
        </p:spPr>
      </p:cxnSp>
      <p:cxnSp>
        <p:nvCxnSpPr>
          <p:cNvPr id="11" name="Connector 10"/>
          <p:cNvCxnSpPr/>
          <p:nvPr/>
        </p:nvCxnSpPr>
        <p:spPr>
          <a:xfrm>
            <a:off x="1223101" y="3073389"/>
            <a:ext cx="141549" cy="0"/>
          </a:xfrm>
          <a:prstGeom prst="line">
            <a:avLst/>
          </a:prstGeom>
          <a:ln w="21590">
            <a:solidFill>
              <a:srgbClr val="C6532C"/>
            </a:solidFill>
          </a:ln>
        </p:spPr>
      </p:cxnSp>
      <p:sp>
        <p:nvSpPr>
          <p:cNvPr id="12" name="TextBox 11"/>
          <p:cNvSpPr txBox="1"/>
          <p:nvPr/>
        </p:nvSpPr>
        <p:spPr>
          <a:xfrm>
            <a:off x="1627632" y="2788920"/>
            <a:ext cx="1984248"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CV</a:t>
            </a:r>
          </a:p>
        </p:txBody>
      </p:sp>
      <p:sp>
        <p:nvSpPr>
          <p:cNvPr id="13" name="TextBox 12"/>
          <p:cNvSpPr txBox="1"/>
          <p:nvPr/>
        </p:nvSpPr>
        <p:spPr>
          <a:xfrm>
            <a:off x="1133856" y="3456432"/>
            <a:ext cx="2450592" cy="1463040"/>
          </a:xfrm>
          <a:prstGeom prst="rect">
            <a:avLst/>
          </a:prstGeom>
          <a:noFill/>
        </p:spPr>
        <p:txBody>
          <a:bodyPr wrap="square" lIns="0" rIns="0" tIns="0" bIns="0">
            <a:spAutoFit/>
          </a:bodyPr>
          <a:lstStyle/>
          <a:p>
            <a:pPr>
              <a:spcAft>
                <a:spcPts val="600"/>
              </a:spcAft>
              <a:defRPr sz="1800" b="0">
                <a:solidFill>
                  <a:srgbClr val="171717"/>
                </a:solidFill>
                <a:latin typeface="Arial"/>
              </a:defRPr>
            </a:pPr>
            <a:r>
              <a:t>Skills</a:t>
            </a:r>
          </a:p>
          <a:p>
            <a:pPr>
              <a:spcAft>
                <a:spcPts val="600"/>
              </a:spcAft>
              <a:defRPr sz="1800" b="0">
                <a:solidFill>
                  <a:srgbClr val="171717"/>
                </a:solidFill>
                <a:latin typeface="Arial"/>
              </a:defRPr>
            </a:pPr>
            <a:r>
              <a:t>Experience</a:t>
            </a:r>
          </a:p>
        </p:txBody>
      </p:sp>
      <p:sp>
        <p:nvSpPr>
          <p:cNvPr id="14" name="Rectangle 13"/>
          <p:cNvSpPr/>
          <p:nvPr/>
        </p:nvSpPr>
        <p:spPr>
          <a:xfrm>
            <a:off x="3803903" y="2295144"/>
            <a:ext cx="2880360" cy="2331720"/>
          </a:xfrm>
          <a:prstGeom prst="rect">
            <a:avLst/>
          </a:prstGeom>
          <a:solidFill>
            <a:srgbClr val="E7DECF"/>
          </a:solidFill>
          <a:ln>
            <a:noFill/>
          </a:ln>
        </p:spPr>
        <p:txBody>
          <a:bodyPr rtlCol="0" anchor="ctr"/>
          <a:lstStyle/>
          <a:p>
            <a:pPr algn="ctr"/>
          </a:p>
        </p:txBody>
      </p:sp>
      <p:sp>
        <p:nvSpPr>
          <p:cNvPr id="15" name="Rectangle 14"/>
          <p:cNvSpPr/>
          <p:nvPr/>
        </p:nvSpPr>
        <p:spPr>
          <a:xfrm>
            <a:off x="3749039" y="2240280"/>
            <a:ext cx="2880360" cy="2331720"/>
          </a:xfrm>
          <a:prstGeom prst="rect">
            <a:avLst/>
          </a:prstGeom>
          <a:solidFill>
            <a:srgbClr val="FFFFFF"/>
          </a:solidFill>
          <a:ln>
            <a:noFill/>
          </a:ln>
        </p:spPr>
        <p:txBody>
          <a:bodyPr rtlCol="0" anchor="ctr"/>
          <a:lstStyle/>
          <a:p>
            <a:pPr algn="ctr"/>
          </a:p>
        </p:txBody>
      </p:sp>
      <p:cxnSp>
        <p:nvCxnSpPr>
          <p:cNvPr id="16" name="Connector 15"/>
          <p:cNvCxnSpPr/>
          <p:nvPr/>
        </p:nvCxnSpPr>
        <p:spPr>
          <a:xfrm flipH="1">
            <a:off x="3971239" y="2544958"/>
            <a:ext cx="86502" cy="102230"/>
          </a:xfrm>
          <a:prstGeom prst="line">
            <a:avLst/>
          </a:prstGeom>
          <a:ln w="21590">
            <a:solidFill>
              <a:srgbClr val="C6532C"/>
            </a:solidFill>
          </a:ln>
        </p:spPr>
      </p:cxnSp>
      <p:cxnSp>
        <p:nvCxnSpPr>
          <p:cNvPr id="17" name="Connector 16"/>
          <p:cNvCxnSpPr/>
          <p:nvPr/>
        </p:nvCxnSpPr>
        <p:spPr>
          <a:xfrm>
            <a:off x="3971239" y="2647188"/>
            <a:ext cx="86502" cy="102229"/>
          </a:xfrm>
          <a:prstGeom prst="line">
            <a:avLst/>
          </a:prstGeom>
          <a:ln w="21590">
            <a:solidFill>
              <a:srgbClr val="C6532C"/>
            </a:solidFill>
          </a:ln>
        </p:spPr>
      </p:cxnSp>
      <p:cxnSp>
        <p:nvCxnSpPr>
          <p:cNvPr id="18" name="Connector 17"/>
          <p:cNvCxnSpPr/>
          <p:nvPr/>
        </p:nvCxnSpPr>
        <p:spPr>
          <a:xfrm>
            <a:off x="4199290" y="2544958"/>
            <a:ext cx="86502" cy="102230"/>
          </a:xfrm>
          <a:prstGeom prst="line">
            <a:avLst/>
          </a:prstGeom>
          <a:ln w="21590">
            <a:solidFill>
              <a:srgbClr val="C6532C"/>
            </a:solidFill>
          </a:ln>
        </p:spPr>
      </p:cxnSp>
      <p:cxnSp>
        <p:nvCxnSpPr>
          <p:cNvPr id="19" name="Connector 18"/>
          <p:cNvCxnSpPr/>
          <p:nvPr/>
        </p:nvCxnSpPr>
        <p:spPr>
          <a:xfrm flipH="1">
            <a:off x="4199290" y="2647188"/>
            <a:ext cx="86502" cy="102229"/>
          </a:xfrm>
          <a:prstGeom prst="line">
            <a:avLst/>
          </a:prstGeom>
          <a:ln w="21590">
            <a:solidFill>
              <a:srgbClr val="C6532C"/>
            </a:solidFill>
          </a:ln>
        </p:spPr>
      </p:cxnSp>
      <p:cxnSp>
        <p:nvCxnSpPr>
          <p:cNvPr id="20" name="Connector 19"/>
          <p:cNvCxnSpPr/>
          <p:nvPr/>
        </p:nvCxnSpPr>
        <p:spPr>
          <a:xfrm flipH="1">
            <a:off x="4097060" y="2509570"/>
            <a:ext cx="62911" cy="275235"/>
          </a:xfrm>
          <a:prstGeom prst="line">
            <a:avLst/>
          </a:prstGeom>
          <a:ln w="21590">
            <a:solidFill>
              <a:srgbClr val="C6532C"/>
            </a:solidFill>
          </a:ln>
        </p:spPr>
      </p:cxnSp>
      <p:sp>
        <p:nvSpPr>
          <p:cNvPr id="21" name="TextBox 20"/>
          <p:cNvSpPr txBox="1"/>
          <p:nvPr/>
        </p:nvSpPr>
        <p:spPr>
          <a:xfrm>
            <a:off x="4462272" y="2468880"/>
            <a:ext cx="2029967"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Projects</a:t>
            </a:r>
          </a:p>
        </p:txBody>
      </p:sp>
      <p:sp>
        <p:nvSpPr>
          <p:cNvPr id="22" name="TextBox 21"/>
          <p:cNvSpPr txBox="1"/>
          <p:nvPr/>
        </p:nvSpPr>
        <p:spPr>
          <a:xfrm>
            <a:off x="3968496" y="3136392"/>
            <a:ext cx="2496312" cy="1417319"/>
          </a:xfrm>
          <a:prstGeom prst="rect">
            <a:avLst/>
          </a:prstGeom>
          <a:noFill/>
        </p:spPr>
        <p:txBody>
          <a:bodyPr wrap="square" lIns="0" rIns="0" tIns="0" bIns="0">
            <a:spAutoFit/>
          </a:bodyPr>
          <a:lstStyle/>
          <a:p>
            <a:pPr>
              <a:spcAft>
                <a:spcPts val="600"/>
              </a:spcAft>
              <a:defRPr sz="1800" b="0">
                <a:solidFill>
                  <a:srgbClr val="171717"/>
                </a:solidFill>
                <a:latin typeface="Arial"/>
              </a:defRPr>
            </a:pPr>
            <a:r>
              <a:t>Code + demos</a:t>
            </a:r>
          </a:p>
        </p:txBody>
      </p:sp>
      <p:sp>
        <p:nvSpPr>
          <p:cNvPr id="23" name="Rectangle 22"/>
          <p:cNvSpPr/>
          <p:nvPr/>
        </p:nvSpPr>
        <p:spPr>
          <a:xfrm>
            <a:off x="1837943" y="4306824"/>
            <a:ext cx="2834640" cy="1847088"/>
          </a:xfrm>
          <a:prstGeom prst="rect">
            <a:avLst/>
          </a:prstGeom>
          <a:solidFill>
            <a:srgbClr val="E7DECF"/>
          </a:solidFill>
          <a:ln>
            <a:noFill/>
          </a:ln>
        </p:spPr>
        <p:txBody>
          <a:bodyPr rtlCol="0" anchor="ctr"/>
          <a:lstStyle/>
          <a:p>
            <a:pPr algn="ctr"/>
          </a:p>
        </p:txBody>
      </p:sp>
      <p:sp>
        <p:nvSpPr>
          <p:cNvPr id="24" name="Rectangle 23"/>
          <p:cNvSpPr/>
          <p:nvPr/>
        </p:nvSpPr>
        <p:spPr>
          <a:xfrm>
            <a:off x="1783080" y="4251960"/>
            <a:ext cx="2834640" cy="1847088"/>
          </a:xfrm>
          <a:prstGeom prst="rect">
            <a:avLst/>
          </a:prstGeom>
          <a:solidFill>
            <a:srgbClr val="FFFFFF"/>
          </a:solidFill>
          <a:ln>
            <a:noFill/>
          </a:ln>
        </p:spPr>
        <p:txBody>
          <a:bodyPr rtlCol="0" anchor="ctr"/>
          <a:lstStyle/>
          <a:p>
            <a:pPr algn="ctr"/>
          </a:p>
        </p:txBody>
      </p:sp>
      <p:cxnSp>
        <p:nvCxnSpPr>
          <p:cNvPr id="25" name="Connector 24"/>
          <p:cNvCxnSpPr/>
          <p:nvPr/>
        </p:nvCxnSpPr>
        <p:spPr>
          <a:xfrm>
            <a:off x="2036734" y="4489795"/>
            <a:ext cx="251643" cy="0"/>
          </a:xfrm>
          <a:prstGeom prst="line">
            <a:avLst/>
          </a:prstGeom>
          <a:ln w="21590">
            <a:solidFill>
              <a:srgbClr val="C6532C"/>
            </a:solidFill>
          </a:ln>
        </p:spPr>
      </p:cxnSp>
      <p:cxnSp>
        <p:nvCxnSpPr>
          <p:cNvPr id="26" name="Connector 25"/>
          <p:cNvCxnSpPr/>
          <p:nvPr/>
        </p:nvCxnSpPr>
        <p:spPr>
          <a:xfrm>
            <a:off x="2288377" y="4489795"/>
            <a:ext cx="0" cy="330281"/>
          </a:xfrm>
          <a:prstGeom prst="line">
            <a:avLst/>
          </a:prstGeom>
          <a:ln w="21590">
            <a:solidFill>
              <a:srgbClr val="C6532C"/>
            </a:solidFill>
          </a:ln>
        </p:spPr>
      </p:cxnSp>
      <p:cxnSp>
        <p:nvCxnSpPr>
          <p:cNvPr id="27" name="Connector 26"/>
          <p:cNvCxnSpPr/>
          <p:nvPr/>
        </p:nvCxnSpPr>
        <p:spPr>
          <a:xfrm flipH="1">
            <a:off x="2036734" y="4820076"/>
            <a:ext cx="251643" cy="0"/>
          </a:xfrm>
          <a:prstGeom prst="line">
            <a:avLst/>
          </a:prstGeom>
          <a:ln w="21590">
            <a:solidFill>
              <a:srgbClr val="C6532C"/>
            </a:solidFill>
          </a:ln>
        </p:spPr>
      </p:cxnSp>
      <p:cxnSp>
        <p:nvCxnSpPr>
          <p:cNvPr id="28" name="Connector 27"/>
          <p:cNvCxnSpPr/>
          <p:nvPr/>
        </p:nvCxnSpPr>
        <p:spPr>
          <a:xfrm flipV="1">
            <a:off x="2036734" y="4489795"/>
            <a:ext cx="0" cy="330281"/>
          </a:xfrm>
          <a:prstGeom prst="line">
            <a:avLst/>
          </a:prstGeom>
          <a:ln w="21590">
            <a:solidFill>
              <a:srgbClr val="C6532C"/>
            </a:solidFill>
          </a:ln>
        </p:spPr>
      </p:cxnSp>
      <p:sp>
        <p:nvSpPr>
          <p:cNvPr id="29" name="Oval 28"/>
          <p:cNvSpPr/>
          <p:nvPr/>
        </p:nvSpPr>
        <p:spPr>
          <a:xfrm>
            <a:off x="2099645" y="4564501"/>
            <a:ext cx="125821" cy="125821"/>
          </a:xfrm>
          <a:prstGeom prst="ellipse">
            <a:avLst/>
          </a:prstGeom>
          <a:solidFill>
            <a:srgbClr val="C6532C"/>
          </a:solidFill>
          <a:ln>
            <a:noFill/>
          </a:ln>
        </p:spPr>
        <p:txBody>
          <a:bodyPr rtlCol="0" anchor="ctr"/>
          <a:lstStyle/>
          <a:p>
            <a:pPr algn="ctr"/>
          </a:p>
        </p:txBody>
      </p:sp>
      <p:cxnSp>
        <p:nvCxnSpPr>
          <p:cNvPr id="30" name="Connector 29"/>
          <p:cNvCxnSpPr/>
          <p:nvPr/>
        </p:nvCxnSpPr>
        <p:spPr>
          <a:xfrm flipH="1">
            <a:off x="2099645" y="4690323"/>
            <a:ext cx="23591" cy="78638"/>
          </a:xfrm>
          <a:prstGeom prst="line">
            <a:avLst/>
          </a:prstGeom>
          <a:ln w="21590">
            <a:solidFill>
              <a:srgbClr val="C6532C"/>
            </a:solidFill>
          </a:ln>
        </p:spPr>
      </p:cxnSp>
      <p:cxnSp>
        <p:nvCxnSpPr>
          <p:cNvPr id="31" name="Connector 30"/>
          <p:cNvCxnSpPr/>
          <p:nvPr/>
        </p:nvCxnSpPr>
        <p:spPr>
          <a:xfrm>
            <a:off x="2194011" y="4690323"/>
            <a:ext cx="23591" cy="78638"/>
          </a:xfrm>
          <a:prstGeom prst="line">
            <a:avLst/>
          </a:prstGeom>
          <a:ln w="21590">
            <a:solidFill>
              <a:srgbClr val="C6532C"/>
            </a:solidFill>
          </a:ln>
        </p:spPr>
      </p:cxnSp>
      <p:sp>
        <p:nvSpPr>
          <p:cNvPr id="32" name="TextBox 31"/>
          <p:cNvSpPr txBox="1"/>
          <p:nvPr/>
        </p:nvSpPr>
        <p:spPr>
          <a:xfrm>
            <a:off x="2496312" y="4480560"/>
            <a:ext cx="1984248"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Certificates</a:t>
            </a:r>
          </a:p>
        </p:txBody>
      </p:sp>
      <p:sp>
        <p:nvSpPr>
          <p:cNvPr id="33" name="TextBox 32"/>
          <p:cNvSpPr txBox="1"/>
          <p:nvPr/>
        </p:nvSpPr>
        <p:spPr>
          <a:xfrm>
            <a:off x="2002536" y="5148072"/>
            <a:ext cx="2450592" cy="932688"/>
          </a:xfrm>
          <a:prstGeom prst="rect">
            <a:avLst/>
          </a:prstGeom>
          <a:noFill/>
        </p:spPr>
        <p:txBody>
          <a:bodyPr wrap="square" lIns="0" rIns="0" tIns="0" bIns="0">
            <a:spAutoFit/>
          </a:bodyPr>
          <a:lstStyle/>
          <a:p>
            <a:pPr>
              <a:spcAft>
                <a:spcPts val="600"/>
              </a:spcAft>
              <a:defRPr sz="1800" b="0">
                <a:solidFill>
                  <a:srgbClr val="171717"/>
                </a:solidFill>
                <a:latin typeface="Arial"/>
              </a:defRPr>
            </a:pPr>
            <a:r>
              <a:t>Different issuers</a:t>
            </a:r>
          </a:p>
        </p:txBody>
      </p:sp>
      <p:sp>
        <p:nvSpPr>
          <p:cNvPr id="34" name="Rectangle 33"/>
          <p:cNvSpPr/>
          <p:nvPr/>
        </p:nvSpPr>
        <p:spPr>
          <a:xfrm>
            <a:off x="4809744" y="4443983"/>
            <a:ext cx="2560320" cy="1508760"/>
          </a:xfrm>
          <a:prstGeom prst="rect">
            <a:avLst/>
          </a:prstGeom>
          <a:solidFill>
            <a:srgbClr val="E7DECF"/>
          </a:solidFill>
          <a:ln>
            <a:noFill/>
          </a:ln>
        </p:spPr>
        <p:txBody>
          <a:bodyPr rtlCol="0" anchor="ctr"/>
          <a:lstStyle/>
          <a:p>
            <a:pPr algn="ctr"/>
          </a:p>
        </p:txBody>
      </p:sp>
      <p:sp>
        <p:nvSpPr>
          <p:cNvPr id="35" name="Rectangle 34"/>
          <p:cNvSpPr/>
          <p:nvPr/>
        </p:nvSpPr>
        <p:spPr>
          <a:xfrm>
            <a:off x="4754880" y="4389120"/>
            <a:ext cx="2560320" cy="1508760"/>
          </a:xfrm>
          <a:prstGeom prst="rect">
            <a:avLst/>
          </a:prstGeom>
          <a:solidFill>
            <a:srgbClr val="FFFFFF"/>
          </a:solidFill>
          <a:ln>
            <a:noFill/>
          </a:ln>
        </p:spPr>
        <p:txBody>
          <a:bodyPr rtlCol="0" anchor="ctr"/>
          <a:lstStyle/>
          <a:p>
            <a:pPr algn="ctr"/>
          </a:p>
        </p:txBody>
      </p:sp>
      <p:cxnSp>
        <p:nvCxnSpPr>
          <p:cNvPr id="36" name="Connector 35"/>
          <p:cNvCxnSpPr/>
          <p:nvPr/>
        </p:nvCxnSpPr>
        <p:spPr>
          <a:xfrm>
            <a:off x="5008534" y="4626955"/>
            <a:ext cx="251643" cy="0"/>
          </a:xfrm>
          <a:prstGeom prst="line">
            <a:avLst/>
          </a:prstGeom>
          <a:ln w="21590">
            <a:solidFill>
              <a:srgbClr val="C6532C"/>
            </a:solidFill>
          </a:ln>
        </p:spPr>
      </p:cxnSp>
      <p:cxnSp>
        <p:nvCxnSpPr>
          <p:cNvPr id="37" name="Connector 36"/>
          <p:cNvCxnSpPr/>
          <p:nvPr/>
        </p:nvCxnSpPr>
        <p:spPr>
          <a:xfrm>
            <a:off x="5260177" y="4626955"/>
            <a:ext cx="0" cy="330281"/>
          </a:xfrm>
          <a:prstGeom prst="line">
            <a:avLst/>
          </a:prstGeom>
          <a:ln w="21590">
            <a:solidFill>
              <a:srgbClr val="C6532C"/>
            </a:solidFill>
          </a:ln>
        </p:spPr>
      </p:cxnSp>
      <p:cxnSp>
        <p:nvCxnSpPr>
          <p:cNvPr id="38" name="Connector 37"/>
          <p:cNvCxnSpPr/>
          <p:nvPr/>
        </p:nvCxnSpPr>
        <p:spPr>
          <a:xfrm flipH="1">
            <a:off x="5008534" y="4957236"/>
            <a:ext cx="251643" cy="0"/>
          </a:xfrm>
          <a:prstGeom prst="line">
            <a:avLst/>
          </a:prstGeom>
          <a:ln w="21590">
            <a:solidFill>
              <a:srgbClr val="C6532C"/>
            </a:solidFill>
          </a:ln>
        </p:spPr>
      </p:cxnSp>
      <p:cxnSp>
        <p:nvCxnSpPr>
          <p:cNvPr id="39" name="Connector 38"/>
          <p:cNvCxnSpPr/>
          <p:nvPr/>
        </p:nvCxnSpPr>
        <p:spPr>
          <a:xfrm flipV="1">
            <a:off x="5008534" y="4626955"/>
            <a:ext cx="0" cy="330281"/>
          </a:xfrm>
          <a:prstGeom prst="line">
            <a:avLst/>
          </a:prstGeom>
          <a:ln w="21590">
            <a:solidFill>
              <a:srgbClr val="C6532C"/>
            </a:solidFill>
          </a:ln>
        </p:spPr>
      </p:cxnSp>
      <p:cxnSp>
        <p:nvCxnSpPr>
          <p:cNvPr id="40" name="Connector 39"/>
          <p:cNvCxnSpPr/>
          <p:nvPr/>
        </p:nvCxnSpPr>
        <p:spPr>
          <a:xfrm>
            <a:off x="5059649" y="4729185"/>
            <a:ext cx="149413" cy="0"/>
          </a:xfrm>
          <a:prstGeom prst="line">
            <a:avLst/>
          </a:prstGeom>
          <a:ln w="21590">
            <a:solidFill>
              <a:srgbClr val="C6532C"/>
            </a:solidFill>
          </a:ln>
        </p:spPr>
      </p:cxnSp>
      <p:cxnSp>
        <p:nvCxnSpPr>
          <p:cNvPr id="41" name="Connector 40"/>
          <p:cNvCxnSpPr/>
          <p:nvPr/>
        </p:nvCxnSpPr>
        <p:spPr>
          <a:xfrm>
            <a:off x="5059649" y="4792096"/>
            <a:ext cx="149413" cy="0"/>
          </a:xfrm>
          <a:prstGeom prst="line">
            <a:avLst/>
          </a:prstGeom>
          <a:ln w="21590">
            <a:solidFill>
              <a:srgbClr val="C6532C"/>
            </a:solidFill>
          </a:ln>
        </p:spPr>
      </p:cxnSp>
      <p:cxnSp>
        <p:nvCxnSpPr>
          <p:cNvPr id="42" name="Connector 41"/>
          <p:cNvCxnSpPr/>
          <p:nvPr/>
        </p:nvCxnSpPr>
        <p:spPr>
          <a:xfrm>
            <a:off x="5059649" y="4855006"/>
            <a:ext cx="149413" cy="0"/>
          </a:xfrm>
          <a:prstGeom prst="line">
            <a:avLst/>
          </a:prstGeom>
          <a:ln w="21590">
            <a:solidFill>
              <a:srgbClr val="C6532C"/>
            </a:solidFill>
          </a:ln>
        </p:spPr>
      </p:cxnSp>
      <p:sp>
        <p:nvSpPr>
          <p:cNvPr id="43" name="TextBox 42"/>
          <p:cNvSpPr txBox="1"/>
          <p:nvPr/>
        </p:nvSpPr>
        <p:spPr>
          <a:xfrm>
            <a:off x="5468112" y="4617720"/>
            <a:ext cx="1709927" cy="438912"/>
          </a:xfrm>
          <a:prstGeom prst="rect">
            <a:avLst/>
          </a:prstGeom>
          <a:noFill/>
        </p:spPr>
        <p:txBody>
          <a:bodyPr wrap="square" lIns="0" rIns="0" tIns="0" bIns="0">
            <a:spAutoFit/>
          </a:bodyPr>
          <a:lstStyle/>
          <a:p>
            <a:pPr>
              <a:spcAft>
                <a:spcPts val="600"/>
              </a:spcAft>
              <a:defRPr sz="2200" b="1">
                <a:solidFill>
                  <a:srgbClr val="171717"/>
                </a:solidFill>
                <a:latin typeface="Arial"/>
              </a:defRPr>
            </a:pPr>
            <a:r>
              <a:t>Evidence</a:t>
            </a:r>
          </a:p>
        </p:txBody>
      </p:sp>
      <p:sp>
        <p:nvSpPr>
          <p:cNvPr id="44" name="TextBox 43"/>
          <p:cNvSpPr txBox="1"/>
          <p:nvPr/>
        </p:nvSpPr>
        <p:spPr>
          <a:xfrm>
            <a:off x="4974336" y="5285231"/>
            <a:ext cx="2176272" cy="594359"/>
          </a:xfrm>
          <a:prstGeom prst="rect">
            <a:avLst/>
          </a:prstGeom>
          <a:noFill/>
        </p:spPr>
        <p:txBody>
          <a:bodyPr wrap="square" lIns="0" rIns="0" tIns="0" bIns="0">
            <a:spAutoFit/>
          </a:bodyPr>
          <a:lstStyle/>
          <a:p>
            <a:pPr>
              <a:spcAft>
                <a:spcPts val="600"/>
              </a:spcAft>
              <a:defRPr sz="1800" b="0">
                <a:solidFill>
                  <a:srgbClr val="171717"/>
                </a:solidFill>
                <a:latin typeface="Arial"/>
              </a:defRPr>
            </a:pPr>
            <a:r>
              <a:t>Links + emails</a:t>
            </a:r>
          </a:p>
        </p:txBody>
      </p:sp>
      <p:cxnSp>
        <p:nvCxnSpPr>
          <p:cNvPr id="45" name="Connector 44"/>
          <p:cNvCxnSpPr/>
          <p:nvPr/>
        </p:nvCxnSpPr>
        <p:spPr>
          <a:xfrm>
            <a:off x="7942844" y="2618475"/>
            <a:ext cx="280903" cy="0"/>
          </a:xfrm>
          <a:prstGeom prst="line">
            <a:avLst/>
          </a:prstGeom>
          <a:ln w="21590">
            <a:solidFill>
              <a:srgbClr val="C6532C"/>
            </a:solidFill>
          </a:ln>
        </p:spPr>
      </p:cxnSp>
      <p:cxnSp>
        <p:nvCxnSpPr>
          <p:cNvPr id="46" name="Connector 45"/>
          <p:cNvCxnSpPr/>
          <p:nvPr/>
        </p:nvCxnSpPr>
        <p:spPr>
          <a:xfrm>
            <a:off x="8223747" y="2618475"/>
            <a:ext cx="0" cy="368686"/>
          </a:xfrm>
          <a:prstGeom prst="line">
            <a:avLst/>
          </a:prstGeom>
          <a:ln w="21590">
            <a:solidFill>
              <a:srgbClr val="C6532C"/>
            </a:solidFill>
          </a:ln>
        </p:spPr>
      </p:cxnSp>
      <p:cxnSp>
        <p:nvCxnSpPr>
          <p:cNvPr id="47" name="Connector 46"/>
          <p:cNvCxnSpPr/>
          <p:nvPr/>
        </p:nvCxnSpPr>
        <p:spPr>
          <a:xfrm flipH="1">
            <a:off x="7942844" y="2987161"/>
            <a:ext cx="280903" cy="0"/>
          </a:xfrm>
          <a:prstGeom prst="line">
            <a:avLst/>
          </a:prstGeom>
          <a:ln w="21590">
            <a:solidFill>
              <a:srgbClr val="C6532C"/>
            </a:solidFill>
          </a:ln>
        </p:spPr>
      </p:cxnSp>
      <p:cxnSp>
        <p:nvCxnSpPr>
          <p:cNvPr id="48" name="Connector 47"/>
          <p:cNvCxnSpPr/>
          <p:nvPr/>
        </p:nvCxnSpPr>
        <p:spPr>
          <a:xfrm flipV="1">
            <a:off x="7942844" y="2618475"/>
            <a:ext cx="0" cy="368686"/>
          </a:xfrm>
          <a:prstGeom prst="line">
            <a:avLst/>
          </a:prstGeom>
          <a:ln w="21590">
            <a:solidFill>
              <a:srgbClr val="C6532C"/>
            </a:solidFill>
          </a:ln>
        </p:spPr>
      </p:cxnSp>
      <p:cxnSp>
        <p:nvCxnSpPr>
          <p:cNvPr id="49" name="Connector 48"/>
          <p:cNvCxnSpPr/>
          <p:nvPr/>
        </p:nvCxnSpPr>
        <p:spPr>
          <a:xfrm>
            <a:off x="7999902" y="2732592"/>
            <a:ext cx="166787" cy="0"/>
          </a:xfrm>
          <a:prstGeom prst="line">
            <a:avLst/>
          </a:prstGeom>
          <a:ln w="21590">
            <a:solidFill>
              <a:srgbClr val="C6532C"/>
            </a:solidFill>
          </a:ln>
        </p:spPr>
      </p:cxnSp>
      <p:cxnSp>
        <p:nvCxnSpPr>
          <p:cNvPr id="50" name="Connector 49"/>
          <p:cNvCxnSpPr/>
          <p:nvPr/>
        </p:nvCxnSpPr>
        <p:spPr>
          <a:xfrm>
            <a:off x="7999902" y="2802818"/>
            <a:ext cx="166787" cy="0"/>
          </a:xfrm>
          <a:prstGeom prst="line">
            <a:avLst/>
          </a:prstGeom>
          <a:ln w="21590">
            <a:solidFill>
              <a:srgbClr val="C6532C"/>
            </a:solidFill>
          </a:ln>
        </p:spPr>
      </p:cxnSp>
      <p:cxnSp>
        <p:nvCxnSpPr>
          <p:cNvPr id="51" name="Connector 50"/>
          <p:cNvCxnSpPr/>
          <p:nvPr/>
        </p:nvCxnSpPr>
        <p:spPr>
          <a:xfrm>
            <a:off x="7999902" y="2873044"/>
            <a:ext cx="166787" cy="0"/>
          </a:xfrm>
          <a:prstGeom prst="line">
            <a:avLst/>
          </a:prstGeom>
          <a:ln w="21590">
            <a:solidFill>
              <a:srgbClr val="C6532C"/>
            </a:solidFill>
          </a:ln>
        </p:spPr>
      </p:cxnSp>
      <p:sp>
        <p:nvSpPr>
          <p:cNvPr id="52" name="TextBox 51"/>
          <p:cNvSpPr txBox="1"/>
          <p:nvPr/>
        </p:nvSpPr>
        <p:spPr>
          <a:xfrm>
            <a:off x="8503920" y="256032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Scattered evidence</a:t>
            </a:r>
          </a:p>
        </p:txBody>
      </p:sp>
      <p:sp>
        <p:nvSpPr>
          <p:cNvPr id="53" name="TextBox 52"/>
          <p:cNvSpPr txBox="1"/>
          <p:nvPr/>
        </p:nvSpPr>
        <p:spPr>
          <a:xfrm>
            <a:off x="8503920" y="322783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Across files and websites.</a:t>
            </a:r>
          </a:p>
        </p:txBody>
      </p:sp>
      <p:cxnSp>
        <p:nvCxnSpPr>
          <p:cNvPr id="54" name="Connector 53"/>
          <p:cNvCxnSpPr/>
          <p:nvPr/>
        </p:nvCxnSpPr>
        <p:spPr>
          <a:xfrm>
            <a:off x="7942844" y="3898635"/>
            <a:ext cx="280903" cy="0"/>
          </a:xfrm>
          <a:prstGeom prst="line">
            <a:avLst/>
          </a:prstGeom>
          <a:ln w="21590">
            <a:solidFill>
              <a:srgbClr val="C6532C"/>
            </a:solidFill>
          </a:ln>
        </p:spPr>
      </p:cxnSp>
      <p:cxnSp>
        <p:nvCxnSpPr>
          <p:cNvPr id="55" name="Connector 54"/>
          <p:cNvCxnSpPr/>
          <p:nvPr/>
        </p:nvCxnSpPr>
        <p:spPr>
          <a:xfrm>
            <a:off x="8223747" y="3898635"/>
            <a:ext cx="0" cy="368686"/>
          </a:xfrm>
          <a:prstGeom prst="line">
            <a:avLst/>
          </a:prstGeom>
          <a:ln w="21590">
            <a:solidFill>
              <a:srgbClr val="C6532C"/>
            </a:solidFill>
          </a:ln>
        </p:spPr>
      </p:cxnSp>
      <p:cxnSp>
        <p:nvCxnSpPr>
          <p:cNvPr id="56" name="Connector 55"/>
          <p:cNvCxnSpPr/>
          <p:nvPr/>
        </p:nvCxnSpPr>
        <p:spPr>
          <a:xfrm flipH="1">
            <a:off x="7942844" y="4267321"/>
            <a:ext cx="280903" cy="0"/>
          </a:xfrm>
          <a:prstGeom prst="line">
            <a:avLst/>
          </a:prstGeom>
          <a:ln w="21590">
            <a:solidFill>
              <a:srgbClr val="C6532C"/>
            </a:solidFill>
          </a:ln>
        </p:spPr>
      </p:cxnSp>
      <p:cxnSp>
        <p:nvCxnSpPr>
          <p:cNvPr id="57" name="Connector 56"/>
          <p:cNvCxnSpPr/>
          <p:nvPr/>
        </p:nvCxnSpPr>
        <p:spPr>
          <a:xfrm flipV="1">
            <a:off x="7942844" y="3898635"/>
            <a:ext cx="0" cy="368686"/>
          </a:xfrm>
          <a:prstGeom prst="line">
            <a:avLst/>
          </a:prstGeom>
          <a:ln w="21590">
            <a:solidFill>
              <a:srgbClr val="C6532C"/>
            </a:solidFill>
          </a:ln>
        </p:spPr>
      </p:cxnSp>
      <p:cxnSp>
        <p:nvCxnSpPr>
          <p:cNvPr id="58" name="Connector 57"/>
          <p:cNvCxnSpPr/>
          <p:nvPr/>
        </p:nvCxnSpPr>
        <p:spPr>
          <a:xfrm>
            <a:off x="7999902" y="4012752"/>
            <a:ext cx="166787" cy="0"/>
          </a:xfrm>
          <a:prstGeom prst="line">
            <a:avLst/>
          </a:prstGeom>
          <a:ln w="21590">
            <a:solidFill>
              <a:srgbClr val="C6532C"/>
            </a:solidFill>
          </a:ln>
        </p:spPr>
      </p:cxnSp>
      <p:cxnSp>
        <p:nvCxnSpPr>
          <p:cNvPr id="59" name="Connector 58"/>
          <p:cNvCxnSpPr/>
          <p:nvPr/>
        </p:nvCxnSpPr>
        <p:spPr>
          <a:xfrm>
            <a:off x="7999902" y="4082978"/>
            <a:ext cx="166787" cy="0"/>
          </a:xfrm>
          <a:prstGeom prst="line">
            <a:avLst/>
          </a:prstGeom>
          <a:ln w="21590">
            <a:solidFill>
              <a:srgbClr val="C6532C"/>
            </a:solidFill>
          </a:ln>
        </p:spPr>
      </p:cxnSp>
      <p:cxnSp>
        <p:nvCxnSpPr>
          <p:cNvPr id="60" name="Connector 59"/>
          <p:cNvCxnSpPr/>
          <p:nvPr/>
        </p:nvCxnSpPr>
        <p:spPr>
          <a:xfrm>
            <a:off x="7999902" y="4153204"/>
            <a:ext cx="166787" cy="0"/>
          </a:xfrm>
          <a:prstGeom prst="line">
            <a:avLst/>
          </a:prstGeom>
          <a:ln w="21590">
            <a:solidFill>
              <a:srgbClr val="C6532C"/>
            </a:solidFill>
          </a:ln>
        </p:spPr>
      </p:cxnSp>
      <p:sp>
        <p:nvSpPr>
          <p:cNvPr id="61" name="TextBox 60"/>
          <p:cNvSpPr txBox="1"/>
          <p:nvPr/>
        </p:nvSpPr>
        <p:spPr>
          <a:xfrm>
            <a:off x="8503920" y="384048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Repeated effort</a:t>
            </a:r>
          </a:p>
        </p:txBody>
      </p:sp>
      <p:sp>
        <p:nvSpPr>
          <p:cNvPr id="62" name="TextBox 61"/>
          <p:cNvSpPr txBox="1"/>
          <p:nvPr/>
        </p:nvSpPr>
        <p:spPr>
          <a:xfrm>
            <a:off x="8503920" y="450799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Send the same proof again.</a:t>
            </a:r>
          </a:p>
        </p:txBody>
      </p:sp>
      <p:cxnSp>
        <p:nvCxnSpPr>
          <p:cNvPr id="63" name="Connector 62"/>
          <p:cNvCxnSpPr/>
          <p:nvPr/>
        </p:nvCxnSpPr>
        <p:spPr>
          <a:xfrm flipH="1">
            <a:off x="7973567" y="5191963"/>
            <a:ext cx="65837" cy="351129"/>
          </a:xfrm>
          <a:prstGeom prst="line">
            <a:avLst/>
          </a:prstGeom>
          <a:ln w="21590">
            <a:solidFill>
              <a:srgbClr val="C6532C"/>
            </a:solidFill>
          </a:ln>
        </p:spPr>
      </p:cxnSp>
      <p:cxnSp>
        <p:nvCxnSpPr>
          <p:cNvPr id="64" name="Connector 63"/>
          <p:cNvCxnSpPr/>
          <p:nvPr/>
        </p:nvCxnSpPr>
        <p:spPr>
          <a:xfrm flipH="1">
            <a:off x="8127187" y="5191963"/>
            <a:ext cx="65836" cy="351129"/>
          </a:xfrm>
          <a:prstGeom prst="line">
            <a:avLst/>
          </a:prstGeom>
          <a:ln w="21590">
            <a:solidFill>
              <a:srgbClr val="C6532C"/>
            </a:solidFill>
          </a:ln>
        </p:spPr>
      </p:cxnSp>
      <p:cxnSp>
        <p:nvCxnSpPr>
          <p:cNvPr id="65" name="Connector 64"/>
          <p:cNvCxnSpPr/>
          <p:nvPr/>
        </p:nvCxnSpPr>
        <p:spPr>
          <a:xfrm>
            <a:off x="7907731" y="5310469"/>
            <a:ext cx="359908" cy="0"/>
          </a:xfrm>
          <a:prstGeom prst="line">
            <a:avLst/>
          </a:prstGeom>
          <a:ln w="21590">
            <a:solidFill>
              <a:srgbClr val="C6532C"/>
            </a:solidFill>
          </a:ln>
        </p:spPr>
      </p:cxnSp>
      <p:cxnSp>
        <p:nvCxnSpPr>
          <p:cNvPr id="66" name="Connector 65"/>
          <p:cNvCxnSpPr/>
          <p:nvPr/>
        </p:nvCxnSpPr>
        <p:spPr>
          <a:xfrm>
            <a:off x="7885785" y="5433364"/>
            <a:ext cx="359908" cy="0"/>
          </a:xfrm>
          <a:prstGeom prst="line">
            <a:avLst/>
          </a:prstGeom>
          <a:ln w="21590">
            <a:solidFill>
              <a:srgbClr val="C6532C"/>
            </a:solidFill>
          </a:ln>
        </p:spPr>
      </p:cxnSp>
      <p:sp>
        <p:nvSpPr>
          <p:cNvPr id="67" name="TextBox 66"/>
          <p:cNvSpPr txBox="1"/>
          <p:nvPr/>
        </p:nvSpPr>
        <p:spPr>
          <a:xfrm>
            <a:off x="8503920" y="5120640"/>
            <a:ext cx="3108960" cy="566928"/>
          </a:xfrm>
          <a:prstGeom prst="rect">
            <a:avLst/>
          </a:prstGeom>
          <a:noFill/>
        </p:spPr>
        <p:txBody>
          <a:bodyPr wrap="square" lIns="0" rIns="0" tIns="0" bIns="0">
            <a:spAutoFit/>
          </a:bodyPr>
          <a:lstStyle/>
          <a:p>
            <a:pPr>
              <a:spcAft>
                <a:spcPts val="600"/>
              </a:spcAft>
              <a:defRPr sz="2500" b="1">
                <a:solidFill>
                  <a:srgbClr val="171717"/>
                </a:solidFill>
                <a:latin typeface="Arial"/>
              </a:defRPr>
            </a:pPr>
            <a:r>
              <a:t>Difficult verification</a:t>
            </a:r>
          </a:p>
        </p:txBody>
      </p:sp>
      <p:sp>
        <p:nvSpPr>
          <p:cNvPr id="68" name="TextBox 67"/>
          <p:cNvSpPr txBox="1"/>
          <p:nvPr/>
        </p:nvSpPr>
        <p:spPr>
          <a:xfrm>
            <a:off x="8503920" y="5788152"/>
            <a:ext cx="3108960" cy="713232"/>
          </a:xfrm>
          <a:prstGeom prst="rect">
            <a:avLst/>
          </a:prstGeom>
          <a:noFill/>
        </p:spPr>
        <p:txBody>
          <a:bodyPr wrap="square" lIns="0" rIns="0" tIns="0" bIns="0">
            <a:spAutoFit/>
          </a:bodyPr>
          <a:lstStyle/>
          <a:p>
            <a:pPr>
              <a:spcAft>
                <a:spcPts val="600"/>
              </a:spcAft>
              <a:defRPr sz="1800" b="0">
                <a:solidFill>
                  <a:srgbClr val="171717"/>
                </a:solidFill>
                <a:latin typeface="Arial"/>
              </a:defRPr>
            </a:pPr>
            <a:r>
              <a:t>Check the source and status.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3900" b="1">
                <a:solidFill>
                  <a:srgbClr val="171717"/>
                </a:solidFill>
                <a:latin typeface="Arial"/>
              </a:defRPr>
            </a:pPr>
            <a:r>
              <a:t>One Skill Passport.</a:t>
            </a:r>
          </a:p>
          <a:p>
            <a:pPr>
              <a:spcAft>
                <a:spcPts val="600"/>
              </a:spcAft>
              <a:defRPr sz="3900" b="1">
                <a:solidFill>
                  <a:srgbClr val="171717"/>
                </a:solidFill>
                <a:latin typeface="Arial"/>
              </a:defRPr>
            </a:pPr>
            <a:r>
              <a:t>A complete picture of your work.</a:t>
            </a:r>
          </a:p>
        </p:txBody>
      </p:sp>
      <p:cxnSp>
        <p:nvCxnSpPr>
          <p:cNvPr id="3" name="Connector 2"/>
          <p:cNvCxnSpPr/>
          <p:nvPr/>
        </p:nvCxnSpPr>
        <p:spPr>
          <a:xfrm>
            <a:off x="771387" y="2483876"/>
            <a:ext cx="304313" cy="0"/>
          </a:xfrm>
          <a:prstGeom prst="line">
            <a:avLst/>
          </a:prstGeom>
          <a:ln w="21590">
            <a:solidFill>
              <a:srgbClr val="C6532C"/>
            </a:solidFill>
          </a:ln>
        </p:spPr>
      </p:cxnSp>
      <p:cxnSp>
        <p:nvCxnSpPr>
          <p:cNvPr id="4" name="Connector 3"/>
          <p:cNvCxnSpPr/>
          <p:nvPr/>
        </p:nvCxnSpPr>
        <p:spPr>
          <a:xfrm>
            <a:off x="1075700" y="2483876"/>
            <a:ext cx="0" cy="399410"/>
          </a:xfrm>
          <a:prstGeom prst="line">
            <a:avLst/>
          </a:prstGeom>
          <a:ln w="21590">
            <a:solidFill>
              <a:srgbClr val="C6532C"/>
            </a:solidFill>
          </a:ln>
        </p:spPr>
      </p:cxnSp>
      <p:cxnSp>
        <p:nvCxnSpPr>
          <p:cNvPr id="5" name="Connector 4"/>
          <p:cNvCxnSpPr/>
          <p:nvPr/>
        </p:nvCxnSpPr>
        <p:spPr>
          <a:xfrm flipH="1">
            <a:off x="771387" y="2883286"/>
            <a:ext cx="304313" cy="0"/>
          </a:xfrm>
          <a:prstGeom prst="line">
            <a:avLst/>
          </a:prstGeom>
          <a:ln w="21590">
            <a:solidFill>
              <a:srgbClr val="C6532C"/>
            </a:solidFill>
          </a:ln>
        </p:spPr>
      </p:cxnSp>
      <p:cxnSp>
        <p:nvCxnSpPr>
          <p:cNvPr id="6" name="Connector 5"/>
          <p:cNvCxnSpPr/>
          <p:nvPr/>
        </p:nvCxnSpPr>
        <p:spPr>
          <a:xfrm flipV="1">
            <a:off x="771387" y="2483876"/>
            <a:ext cx="0" cy="399410"/>
          </a:xfrm>
          <a:prstGeom prst="line">
            <a:avLst/>
          </a:prstGeom>
          <a:ln w="21590">
            <a:solidFill>
              <a:srgbClr val="C6532C"/>
            </a:solidFill>
          </a:ln>
        </p:spPr>
      </p:cxnSp>
      <p:sp>
        <p:nvSpPr>
          <p:cNvPr id="7" name="Oval 6"/>
          <p:cNvSpPr/>
          <p:nvPr/>
        </p:nvSpPr>
        <p:spPr>
          <a:xfrm>
            <a:off x="856975" y="2569464"/>
            <a:ext cx="128381" cy="128381"/>
          </a:xfrm>
          <a:prstGeom prst="ellipse">
            <a:avLst/>
          </a:prstGeom>
          <a:solidFill>
            <a:srgbClr val="C6532C"/>
          </a:solidFill>
          <a:ln>
            <a:noFill/>
          </a:ln>
        </p:spPr>
        <p:txBody>
          <a:bodyPr rtlCol="0" anchor="ctr"/>
          <a:lstStyle/>
          <a:p>
            <a:pPr algn="ctr"/>
          </a:p>
        </p:txBody>
      </p:sp>
      <p:cxnSp>
        <p:nvCxnSpPr>
          <p:cNvPr id="8" name="Connector 7"/>
          <p:cNvCxnSpPr/>
          <p:nvPr/>
        </p:nvCxnSpPr>
        <p:spPr>
          <a:xfrm>
            <a:off x="837956" y="2764414"/>
            <a:ext cx="171175" cy="0"/>
          </a:xfrm>
          <a:prstGeom prst="line">
            <a:avLst/>
          </a:prstGeom>
          <a:ln w="21590">
            <a:solidFill>
              <a:srgbClr val="C6532C"/>
            </a:solidFill>
          </a:ln>
        </p:spPr>
      </p:cxnSp>
      <p:cxnSp>
        <p:nvCxnSpPr>
          <p:cNvPr id="9" name="Connector 8"/>
          <p:cNvCxnSpPr/>
          <p:nvPr/>
        </p:nvCxnSpPr>
        <p:spPr>
          <a:xfrm>
            <a:off x="837956" y="2816717"/>
            <a:ext cx="171175" cy="0"/>
          </a:xfrm>
          <a:prstGeom prst="line">
            <a:avLst/>
          </a:prstGeom>
          <a:ln w="21590">
            <a:solidFill>
              <a:srgbClr val="C6532C"/>
            </a:solidFill>
          </a:ln>
        </p:spPr>
      </p:cxnSp>
      <p:sp>
        <p:nvSpPr>
          <p:cNvPr id="10" name="TextBox 9"/>
          <p:cNvSpPr txBox="1"/>
          <p:nvPr/>
        </p:nvSpPr>
        <p:spPr>
          <a:xfrm>
            <a:off x="1371600" y="2450592"/>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Show your</a:t>
            </a:r>
          </a:p>
        </p:txBody>
      </p:sp>
      <p:sp>
        <p:nvSpPr>
          <p:cNvPr id="11" name="TextBox 10"/>
          <p:cNvSpPr txBox="1"/>
          <p:nvPr/>
        </p:nvSpPr>
        <p:spPr>
          <a:xfrm>
            <a:off x="1371600" y="2962656"/>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skills.</a:t>
            </a:r>
          </a:p>
        </p:txBody>
      </p:sp>
      <p:cxnSp>
        <p:nvCxnSpPr>
          <p:cNvPr id="12" name="Connector 11"/>
          <p:cNvCxnSpPr/>
          <p:nvPr/>
        </p:nvCxnSpPr>
        <p:spPr>
          <a:xfrm>
            <a:off x="771387" y="3736604"/>
            <a:ext cx="304313" cy="0"/>
          </a:xfrm>
          <a:prstGeom prst="line">
            <a:avLst/>
          </a:prstGeom>
          <a:ln w="21590">
            <a:solidFill>
              <a:srgbClr val="C6532C"/>
            </a:solidFill>
          </a:ln>
        </p:spPr>
      </p:cxnSp>
      <p:cxnSp>
        <p:nvCxnSpPr>
          <p:cNvPr id="13" name="Connector 12"/>
          <p:cNvCxnSpPr/>
          <p:nvPr/>
        </p:nvCxnSpPr>
        <p:spPr>
          <a:xfrm>
            <a:off x="1075700" y="3736604"/>
            <a:ext cx="0" cy="399410"/>
          </a:xfrm>
          <a:prstGeom prst="line">
            <a:avLst/>
          </a:prstGeom>
          <a:ln w="21590">
            <a:solidFill>
              <a:srgbClr val="C6532C"/>
            </a:solidFill>
          </a:ln>
        </p:spPr>
      </p:cxnSp>
      <p:cxnSp>
        <p:nvCxnSpPr>
          <p:cNvPr id="14" name="Connector 13"/>
          <p:cNvCxnSpPr/>
          <p:nvPr/>
        </p:nvCxnSpPr>
        <p:spPr>
          <a:xfrm flipH="1">
            <a:off x="771387" y="4136014"/>
            <a:ext cx="304313" cy="0"/>
          </a:xfrm>
          <a:prstGeom prst="line">
            <a:avLst/>
          </a:prstGeom>
          <a:ln w="21590">
            <a:solidFill>
              <a:srgbClr val="C6532C"/>
            </a:solidFill>
          </a:ln>
        </p:spPr>
      </p:cxnSp>
      <p:cxnSp>
        <p:nvCxnSpPr>
          <p:cNvPr id="15" name="Connector 14"/>
          <p:cNvCxnSpPr/>
          <p:nvPr/>
        </p:nvCxnSpPr>
        <p:spPr>
          <a:xfrm flipV="1">
            <a:off x="771387" y="3736604"/>
            <a:ext cx="0" cy="399410"/>
          </a:xfrm>
          <a:prstGeom prst="line">
            <a:avLst/>
          </a:prstGeom>
          <a:ln w="21590">
            <a:solidFill>
              <a:srgbClr val="C6532C"/>
            </a:solidFill>
          </a:ln>
        </p:spPr>
      </p:cxnSp>
      <p:cxnSp>
        <p:nvCxnSpPr>
          <p:cNvPr id="16" name="Connector 15"/>
          <p:cNvCxnSpPr/>
          <p:nvPr/>
        </p:nvCxnSpPr>
        <p:spPr>
          <a:xfrm>
            <a:off x="833201" y="3860231"/>
            <a:ext cx="180685" cy="0"/>
          </a:xfrm>
          <a:prstGeom prst="line">
            <a:avLst/>
          </a:prstGeom>
          <a:ln w="21590">
            <a:solidFill>
              <a:srgbClr val="C6532C"/>
            </a:solidFill>
          </a:ln>
        </p:spPr>
      </p:cxnSp>
      <p:cxnSp>
        <p:nvCxnSpPr>
          <p:cNvPr id="17" name="Connector 16"/>
          <p:cNvCxnSpPr/>
          <p:nvPr/>
        </p:nvCxnSpPr>
        <p:spPr>
          <a:xfrm>
            <a:off x="833201" y="3936309"/>
            <a:ext cx="180685" cy="0"/>
          </a:xfrm>
          <a:prstGeom prst="line">
            <a:avLst/>
          </a:prstGeom>
          <a:ln w="21590">
            <a:solidFill>
              <a:srgbClr val="C6532C"/>
            </a:solidFill>
          </a:ln>
        </p:spPr>
      </p:cxnSp>
      <p:cxnSp>
        <p:nvCxnSpPr>
          <p:cNvPr id="18" name="Connector 17"/>
          <p:cNvCxnSpPr/>
          <p:nvPr/>
        </p:nvCxnSpPr>
        <p:spPr>
          <a:xfrm>
            <a:off x="833201" y="4012387"/>
            <a:ext cx="180685" cy="0"/>
          </a:xfrm>
          <a:prstGeom prst="line">
            <a:avLst/>
          </a:prstGeom>
          <a:ln w="21590">
            <a:solidFill>
              <a:srgbClr val="C6532C"/>
            </a:solidFill>
          </a:ln>
        </p:spPr>
      </p:cxnSp>
      <p:sp>
        <p:nvSpPr>
          <p:cNvPr id="19" name="TextBox 18"/>
          <p:cNvSpPr txBox="1"/>
          <p:nvPr/>
        </p:nvSpPr>
        <p:spPr>
          <a:xfrm>
            <a:off x="1371600" y="3703320"/>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Prove your</a:t>
            </a:r>
          </a:p>
        </p:txBody>
      </p:sp>
      <p:sp>
        <p:nvSpPr>
          <p:cNvPr id="20" name="TextBox 19"/>
          <p:cNvSpPr txBox="1"/>
          <p:nvPr/>
        </p:nvSpPr>
        <p:spPr>
          <a:xfrm>
            <a:off x="1371600" y="4215383"/>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work.</a:t>
            </a:r>
          </a:p>
        </p:txBody>
      </p:sp>
      <p:cxnSp>
        <p:nvCxnSpPr>
          <p:cNvPr id="21" name="Connector 20"/>
          <p:cNvCxnSpPr/>
          <p:nvPr/>
        </p:nvCxnSpPr>
        <p:spPr>
          <a:xfrm>
            <a:off x="771387" y="4989332"/>
            <a:ext cx="304313" cy="0"/>
          </a:xfrm>
          <a:prstGeom prst="line">
            <a:avLst/>
          </a:prstGeom>
          <a:ln w="21590">
            <a:solidFill>
              <a:srgbClr val="C6532C"/>
            </a:solidFill>
          </a:ln>
        </p:spPr>
      </p:cxnSp>
      <p:cxnSp>
        <p:nvCxnSpPr>
          <p:cNvPr id="22" name="Connector 21"/>
          <p:cNvCxnSpPr/>
          <p:nvPr/>
        </p:nvCxnSpPr>
        <p:spPr>
          <a:xfrm>
            <a:off x="1075700" y="4989332"/>
            <a:ext cx="0" cy="399410"/>
          </a:xfrm>
          <a:prstGeom prst="line">
            <a:avLst/>
          </a:prstGeom>
          <a:ln w="21590">
            <a:solidFill>
              <a:srgbClr val="C6532C"/>
            </a:solidFill>
          </a:ln>
        </p:spPr>
      </p:cxnSp>
      <p:cxnSp>
        <p:nvCxnSpPr>
          <p:cNvPr id="23" name="Connector 22"/>
          <p:cNvCxnSpPr/>
          <p:nvPr/>
        </p:nvCxnSpPr>
        <p:spPr>
          <a:xfrm flipH="1">
            <a:off x="771387" y="5388742"/>
            <a:ext cx="304313" cy="0"/>
          </a:xfrm>
          <a:prstGeom prst="line">
            <a:avLst/>
          </a:prstGeom>
          <a:ln w="21590">
            <a:solidFill>
              <a:srgbClr val="C6532C"/>
            </a:solidFill>
          </a:ln>
        </p:spPr>
      </p:cxnSp>
      <p:cxnSp>
        <p:nvCxnSpPr>
          <p:cNvPr id="24" name="Connector 23"/>
          <p:cNvCxnSpPr/>
          <p:nvPr/>
        </p:nvCxnSpPr>
        <p:spPr>
          <a:xfrm flipV="1">
            <a:off x="771387" y="4989332"/>
            <a:ext cx="0" cy="399410"/>
          </a:xfrm>
          <a:prstGeom prst="line">
            <a:avLst/>
          </a:prstGeom>
          <a:ln w="21590">
            <a:solidFill>
              <a:srgbClr val="C6532C"/>
            </a:solidFill>
          </a:ln>
        </p:spPr>
      </p:cxnSp>
      <p:sp>
        <p:nvSpPr>
          <p:cNvPr id="25" name="Oval 24"/>
          <p:cNvSpPr/>
          <p:nvPr/>
        </p:nvSpPr>
        <p:spPr>
          <a:xfrm>
            <a:off x="847465" y="5079674"/>
            <a:ext cx="152156" cy="152156"/>
          </a:xfrm>
          <a:prstGeom prst="ellipse">
            <a:avLst/>
          </a:prstGeom>
          <a:solidFill>
            <a:srgbClr val="C6532C"/>
          </a:solidFill>
          <a:ln>
            <a:noFill/>
          </a:ln>
        </p:spPr>
        <p:txBody>
          <a:bodyPr rtlCol="0" anchor="ctr"/>
          <a:lstStyle/>
          <a:p>
            <a:pPr algn="ctr"/>
          </a:p>
        </p:txBody>
      </p:sp>
      <p:cxnSp>
        <p:nvCxnSpPr>
          <p:cNvPr id="26" name="Connector 25"/>
          <p:cNvCxnSpPr/>
          <p:nvPr/>
        </p:nvCxnSpPr>
        <p:spPr>
          <a:xfrm flipH="1">
            <a:off x="847465" y="5231831"/>
            <a:ext cx="28530" cy="95097"/>
          </a:xfrm>
          <a:prstGeom prst="line">
            <a:avLst/>
          </a:prstGeom>
          <a:ln w="21590">
            <a:solidFill>
              <a:srgbClr val="C6532C"/>
            </a:solidFill>
          </a:ln>
        </p:spPr>
      </p:cxnSp>
      <p:cxnSp>
        <p:nvCxnSpPr>
          <p:cNvPr id="27" name="Connector 26"/>
          <p:cNvCxnSpPr/>
          <p:nvPr/>
        </p:nvCxnSpPr>
        <p:spPr>
          <a:xfrm>
            <a:off x="961583" y="5231831"/>
            <a:ext cx="28529" cy="95097"/>
          </a:xfrm>
          <a:prstGeom prst="line">
            <a:avLst/>
          </a:prstGeom>
          <a:ln w="21590">
            <a:solidFill>
              <a:srgbClr val="C6532C"/>
            </a:solidFill>
          </a:ln>
        </p:spPr>
      </p:cxnSp>
      <p:sp>
        <p:nvSpPr>
          <p:cNvPr id="28" name="TextBox 27"/>
          <p:cNvSpPr txBox="1"/>
          <p:nvPr/>
        </p:nvSpPr>
        <p:spPr>
          <a:xfrm>
            <a:off x="1371600" y="4956048"/>
            <a:ext cx="2194560" cy="475488"/>
          </a:xfrm>
          <a:prstGeom prst="rect">
            <a:avLst/>
          </a:prstGeom>
          <a:noFill/>
        </p:spPr>
        <p:txBody>
          <a:bodyPr wrap="square" lIns="0" rIns="0" tIns="0" bIns="0">
            <a:spAutoFit/>
          </a:bodyPr>
          <a:lstStyle/>
          <a:p>
            <a:pPr>
              <a:spcAft>
                <a:spcPts val="600"/>
              </a:spcAft>
              <a:defRPr sz="2500" b="1">
                <a:solidFill>
                  <a:srgbClr val="171717"/>
                </a:solidFill>
                <a:latin typeface="Arial"/>
              </a:defRPr>
            </a:pPr>
            <a:r>
              <a:t>Build your</a:t>
            </a:r>
          </a:p>
        </p:txBody>
      </p:sp>
      <p:sp>
        <p:nvSpPr>
          <p:cNvPr id="29" name="TextBox 28"/>
          <p:cNvSpPr txBox="1"/>
          <p:nvPr/>
        </p:nvSpPr>
        <p:spPr>
          <a:xfrm>
            <a:off x="1371600" y="5468112"/>
            <a:ext cx="2194560" cy="502920"/>
          </a:xfrm>
          <a:prstGeom prst="rect">
            <a:avLst/>
          </a:prstGeom>
          <a:noFill/>
        </p:spPr>
        <p:txBody>
          <a:bodyPr wrap="square" lIns="0" rIns="0" tIns="0" bIns="0">
            <a:spAutoFit/>
          </a:bodyPr>
          <a:lstStyle/>
          <a:p>
            <a:pPr>
              <a:spcAft>
                <a:spcPts val="600"/>
              </a:spcAft>
              <a:defRPr sz="2500" b="1">
                <a:solidFill>
                  <a:srgbClr val="171717"/>
                </a:solidFill>
                <a:latin typeface="Arial"/>
              </a:defRPr>
            </a:pPr>
            <a:r>
              <a:t>reputation.</a:t>
            </a:r>
          </a:p>
        </p:txBody>
      </p:sp>
      <p:sp>
        <p:nvSpPr>
          <p:cNvPr id="30" name="Rounded Rectangle 29"/>
          <p:cNvSpPr/>
          <p:nvPr/>
        </p:nvSpPr>
        <p:spPr>
          <a:xfrm>
            <a:off x="3849624" y="1956816"/>
            <a:ext cx="7708392" cy="4517136"/>
          </a:xfrm>
          <a:prstGeom prst="roundRect">
            <a:avLst>
              <a:gd name="adj" fmla="val 8000"/>
            </a:avLst>
          </a:prstGeom>
          <a:solidFill>
            <a:srgbClr val="FFFFFF"/>
          </a:solidFill>
          <a:ln>
            <a:noFill/>
          </a:ln>
        </p:spPr>
        <p:txBody>
          <a:bodyPr rtlCol="0" anchor="ctr"/>
          <a:lstStyle/>
          <a:p>
            <a:pPr algn="ctr"/>
          </a:p>
        </p:txBody>
      </p:sp>
      <p:pic>
        <p:nvPicPr>
          <p:cNvPr id="31" name="Picture 30" descr="improved-passport.png"/>
          <p:cNvPicPr>
            <a:picLocks noChangeAspect="1"/>
          </p:cNvPicPr>
          <p:nvPr/>
        </p:nvPicPr>
        <p:blipFill>
          <a:blip r:embed="rId2"/>
          <a:stretch>
            <a:fillRect/>
          </a:stretch>
        </p:blipFill>
        <p:spPr>
          <a:xfrm>
            <a:off x="3886200" y="1997400"/>
            <a:ext cx="7635240" cy="4435966"/>
          </a:xfrm>
          <a:prstGeom prst="rect">
            <a:avLst/>
          </a:prstGeom>
        </p:spPr>
      </p:pic>
      <p:sp>
        <p:nvSpPr>
          <p:cNvPr id="32" name="Rounded Rectangle 31"/>
          <p:cNvSpPr/>
          <p:nvPr/>
        </p:nvSpPr>
        <p:spPr>
          <a:xfrm>
            <a:off x="8375904" y="6473952"/>
            <a:ext cx="3145536" cy="365760"/>
          </a:xfrm>
          <a:prstGeom prst="roundRect">
            <a:avLst>
              <a:gd name="adj" fmla="val 8000"/>
            </a:avLst>
          </a:prstGeom>
          <a:solidFill>
            <a:srgbClr val="E7DECF"/>
          </a:solidFill>
          <a:ln>
            <a:noFill/>
          </a:ln>
        </p:spPr>
        <p:txBody>
          <a:bodyPr rtlCol="0" anchor="ctr"/>
          <a:lstStyle/>
          <a:p>
            <a:pPr algn="ctr"/>
          </a:p>
        </p:txBody>
      </p:sp>
      <p:sp>
        <p:nvSpPr>
          <p:cNvPr id="33" name="TextBox 32"/>
          <p:cNvSpPr txBox="1"/>
          <p:nvPr/>
        </p:nvSpPr>
        <p:spPr>
          <a:xfrm>
            <a:off x="8485632" y="6556248"/>
            <a:ext cx="2926080" cy="219456"/>
          </a:xfrm>
          <a:prstGeom prst="rect">
            <a:avLst/>
          </a:prstGeom>
          <a:noFill/>
        </p:spPr>
        <p:txBody>
          <a:bodyPr wrap="square" lIns="0" rIns="0" tIns="0" bIns="0">
            <a:spAutoFit/>
          </a:bodyPr>
          <a:lstStyle/>
          <a:p>
            <a:pPr>
              <a:spcAft>
                <a:spcPts val="600"/>
              </a:spcAft>
              <a:defRPr sz="1100" b="1">
                <a:solidFill>
                  <a:srgbClr val="171717"/>
                </a:solidFill>
                <a:latin typeface="Arial"/>
              </a:defRPr>
            </a:pPr>
            <a:r>
              <a:t>RUNNING APP · DEMO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From your first project</a:t>
            </a:r>
          </a:p>
          <a:p>
            <a:pPr>
              <a:spcAft>
                <a:spcPts val="600"/>
              </a:spcAft>
              <a:defRPr sz="4200" b="1">
                <a:solidFill>
                  <a:srgbClr val="171717"/>
                </a:solidFill>
                <a:latin typeface="Arial"/>
              </a:defRPr>
            </a:pPr>
            <a:r>
              <a:t>to a growing reputation.</a:t>
            </a:r>
          </a:p>
        </p:txBody>
      </p:sp>
      <p:sp>
        <p:nvSpPr>
          <p:cNvPr id="3" name="Rounded Rectangle 2"/>
          <p:cNvSpPr/>
          <p:nvPr/>
        </p:nvSpPr>
        <p:spPr>
          <a:xfrm>
            <a:off x="521207"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4" name="TextBox 3"/>
          <p:cNvSpPr txBox="1"/>
          <p:nvPr/>
        </p:nvSpPr>
        <p:spPr>
          <a:xfrm>
            <a:off x="704088"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01</a:t>
            </a:r>
          </a:p>
        </p:txBody>
      </p:sp>
      <p:cxnSp>
        <p:nvCxnSpPr>
          <p:cNvPr id="5" name="Connector 4"/>
          <p:cNvCxnSpPr/>
          <p:nvPr/>
        </p:nvCxnSpPr>
        <p:spPr>
          <a:xfrm>
            <a:off x="1329720" y="2897093"/>
            <a:ext cx="403799" cy="0"/>
          </a:xfrm>
          <a:prstGeom prst="line">
            <a:avLst/>
          </a:prstGeom>
          <a:ln w="21590">
            <a:solidFill>
              <a:srgbClr val="C6532C"/>
            </a:solidFill>
          </a:ln>
        </p:spPr>
      </p:cxnSp>
      <p:cxnSp>
        <p:nvCxnSpPr>
          <p:cNvPr id="6" name="Connector 5"/>
          <p:cNvCxnSpPr/>
          <p:nvPr/>
        </p:nvCxnSpPr>
        <p:spPr>
          <a:xfrm>
            <a:off x="1733519" y="2897093"/>
            <a:ext cx="0" cy="529986"/>
          </a:xfrm>
          <a:prstGeom prst="line">
            <a:avLst/>
          </a:prstGeom>
          <a:ln w="21590">
            <a:solidFill>
              <a:srgbClr val="C6532C"/>
            </a:solidFill>
          </a:ln>
        </p:spPr>
      </p:cxnSp>
      <p:cxnSp>
        <p:nvCxnSpPr>
          <p:cNvPr id="7" name="Connector 6"/>
          <p:cNvCxnSpPr/>
          <p:nvPr/>
        </p:nvCxnSpPr>
        <p:spPr>
          <a:xfrm flipH="1">
            <a:off x="1329720" y="3427079"/>
            <a:ext cx="403799" cy="0"/>
          </a:xfrm>
          <a:prstGeom prst="line">
            <a:avLst/>
          </a:prstGeom>
          <a:ln w="21590">
            <a:solidFill>
              <a:srgbClr val="C6532C"/>
            </a:solidFill>
          </a:ln>
        </p:spPr>
      </p:cxnSp>
      <p:cxnSp>
        <p:nvCxnSpPr>
          <p:cNvPr id="8" name="Connector 7"/>
          <p:cNvCxnSpPr/>
          <p:nvPr/>
        </p:nvCxnSpPr>
        <p:spPr>
          <a:xfrm flipV="1">
            <a:off x="1329720" y="2897093"/>
            <a:ext cx="0" cy="529986"/>
          </a:xfrm>
          <a:prstGeom prst="line">
            <a:avLst/>
          </a:prstGeom>
          <a:ln w="21590">
            <a:solidFill>
              <a:srgbClr val="C6532C"/>
            </a:solidFill>
          </a:ln>
        </p:spPr>
      </p:cxnSp>
      <p:sp>
        <p:nvSpPr>
          <p:cNvPr id="9" name="Oval 8"/>
          <p:cNvSpPr/>
          <p:nvPr/>
        </p:nvSpPr>
        <p:spPr>
          <a:xfrm>
            <a:off x="1443288" y="3010662"/>
            <a:ext cx="170352" cy="170352"/>
          </a:xfrm>
          <a:prstGeom prst="ellipse">
            <a:avLst/>
          </a:prstGeom>
          <a:solidFill>
            <a:srgbClr val="C6532C"/>
          </a:solidFill>
          <a:ln>
            <a:noFill/>
          </a:ln>
        </p:spPr>
        <p:txBody>
          <a:bodyPr rtlCol="0" anchor="ctr"/>
          <a:lstStyle/>
          <a:p>
            <a:pPr algn="ctr"/>
          </a:p>
        </p:txBody>
      </p:sp>
      <p:cxnSp>
        <p:nvCxnSpPr>
          <p:cNvPr id="10" name="Connector 9"/>
          <p:cNvCxnSpPr/>
          <p:nvPr/>
        </p:nvCxnSpPr>
        <p:spPr>
          <a:xfrm>
            <a:off x="1418051" y="3269345"/>
            <a:ext cx="227137" cy="0"/>
          </a:xfrm>
          <a:prstGeom prst="line">
            <a:avLst/>
          </a:prstGeom>
          <a:ln w="21590">
            <a:solidFill>
              <a:srgbClr val="C6532C"/>
            </a:solidFill>
          </a:ln>
        </p:spPr>
      </p:cxnSp>
      <p:cxnSp>
        <p:nvCxnSpPr>
          <p:cNvPr id="11" name="Connector 10"/>
          <p:cNvCxnSpPr/>
          <p:nvPr/>
        </p:nvCxnSpPr>
        <p:spPr>
          <a:xfrm>
            <a:off x="1418051" y="3338748"/>
            <a:ext cx="227137" cy="0"/>
          </a:xfrm>
          <a:prstGeom prst="line">
            <a:avLst/>
          </a:prstGeom>
          <a:ln w="21590">
            <a:solidFill>
              <a:srgbClr val="C6532C"/>
            </a:solidFill>
          </a:ln>
        </p:spPr>
      </p:cxnSp>
      <p:sp>
        <p:nvSpPr>
          <p:cNvPr id="12" name="TextBox 11"/>
          <p:cNvSpPr txBox="1"/>
          <p:nvPr/>
        </p:nvSpPr>
        <p:spPr>
          <a:xfrm>
            <a:off x="685800"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Create your</a:t>
            </a:r>
          </a:p>
          <a:p>
            <a:pPr>
              <a:spcAft>
                <a:spcPts val="600"/>
              </a:spcAft>
              <a:defRPr sz="2000" b="1">
                <a:solidFill>
                  <a:srgbClr val="171717"/>
                </a:solidFill>
                <a:latin typeface="Arial"/>
              </a:defRPr>
            </a:pPr>
            <a:r>
              <a:t>Passport</a:t>
            </a:r>
          </a:p>
        </p:txBody>
      </p:sp>
      <p:sp>
        <p:nvSpPr>
          <p:cNvPr id="13" name="TextBox 12"/>
          <p:cNvSpPr txBox="1"/>
          <p:nvPr/>
        </p:nvSpPr>
        <p:spPr>
          <a:xfrm>
            <a:off x="685800"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Skills, projects</a:t>
            </a:r>
          </a:p>
          <a:p>
            <a:pPr>
              <a:spcAft>
                <a:spcPts val="600"/>
              </a:spcAft>
              <a:defRPr sz="1600" b="0">
                <a:solidFill>
                  <a:srgbClr val="171717"/>
                </a:solidFill>
                <a:latin typeface="Arial"/>
              </a:defRPr>
            </a:pPr>
            <a:r>
              <a:t>and experience.</a:t>
            </a:r>
          </a:p>
        </p:txBody>
      </p:sp>
      <p:cxnSp>
        <p:nvCxnSpPr>
          <p:cNvPr id="14" name="Connector 13"/>
          <p:cNvCxnSpPr/>
          <p:nvPr/>
        </p:nvCxnSpPr>
        <p:spPr>
          <a:xfrm>
            <a:off x="2615184" y="3703320"/>
            <a:ext cx="128016" cy="0"/>
          </a:xfrm>
          <a:prstGeom prst="line">
            <a:avLst/>
          </a:prstGeom>
          <a:ln w="20320">
            <a:solidFill>
              <a:srgbClr val="C6532C"/>
            </a:solidFill>
            <a:tailEnd type="triangle" w="sm" len="sm"/>
          </a:ln>
        </p:spPr>
      </p:cxnSp>
      <p:sp>
        <p:nvSpPr>
          <p:cNvPr id="15" name="Rounded Rectangle 14"/>
          <p:cNvSpPr/>
          <p:nvPr/>
        </p:nvSpPr>
        <p:spPr>
          <a:xfrm>
            <a:off x="2788920"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16" name="TextBox 15"/>
          <p:cNvSpPr txBox="1"/>
          <p:nvPr/>
        </p:nvSpPr>
        <p:spPr>
          <a:xfrm>
            <a:off x="2971800"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02</a:t>
            </a:r>
          </a:p>
        </p:txBody>
      </p:sp>
      <p:cxnSp>
        <p:nvCxnSpPr>
          <p:cNvPr id="17" name="Connector 16"/>
          <p:cNvCxnSpPr/>
          <p:nvPr/>
        </p:nvCxnSpPr>
        <p:spPr>
          <a:xfrm>
            <a:off x="3597432" y="2897093"/>
            <a:ext cx="403799" cy="0"/>
          </a:xfrm>
          <a:prstGeom prst="line">
            <a:avLst/>
          </a:prstGeom>
          <a:ln w="21590">
            <a:solidFill>
              <a:srgbClr val="C6532C"/>
            </a:solidFill>
          </a:ln>
        </p:spPr>
      </p:cxnSp>
      <p:cxnSp>
        <p:nvCxnSpPr>
          <p:cNvPr id="18" name="Connector 17"/>
          <p:cNvCxnSpPr/>
          <p:nvPr/>
        </p:nvCxnSpPr>
        <p:spPr>
          <a:xfrm>
            <a:off x="4001231" y="2897093"/>
            <a:ext cx="0" cy="529986"/>
          </a:xfrm>
          <a:prstGeom prst="line">
            <a:avLst/>
          </a:prstGeom>
          <a:ln w="21590">
            <a:solidFill>
              <a:srgbClr val="C6532C"/>
            </a:solidFill>
          </a:ln>
        </p:spPr>
      </p:cxnSp>
      <p:cxnSp>
        <p:nvCxnSpPr>
          <p:cNvPr id="19" name="Connector 18"/>
          <p:cNvCxnSpPr/>
          <p:nvPr/>
        </p:nvCxnSpPr>
        <p:spPr>
          <a:xfrm flipH="1">
            <a:off x="3597432" y="3427079"/>
            <a:ext cx="403799" cy="0"/>
          </a:xfrm>
          <a:prstGeom prst="line">
            <a:avLst/>
          </a:prstGeom>
          <a:ln w="21590">
            <a:solidFill>
              <a:srgbClr val="C6532C"/>
            </a:solidFill>
          </a:ln>
        </p:spPr>
      </p:cxnSp>
      <p:cxnSp>
        <p:nvCxnSpPr>
          <p:cNvPr id="20" name="Connector 19"/>
          <p:cNvCxnSpPr/>
          <p:nvPr/>
        </p:nvCxnSpPr>
        <p:spPr>
          <a:xfrm flipV="1">
            <a:off x="3597432" y="2897093"/>
            <a:ext cx="0" cy="529986"/>
          </a:xfrm>
          <a:prstGeom prst="line">
            <a:avLst/>
          </a:prstGeom>
          <a:ln w="21590">
            <a:solidFill>
              <a:srgbClr val="C6532C"/>
            </a:solidFill>
          </a:ln>
        </p:spPr>
      </p:cxnSp>
      <p:cxnSp>
        <p:nvCxnSpPr>
          <p:cNvPr id="21" name="Connector 20"/>
          <p:cNvCxnSpPr/>
          <p:nvPr/>
        </p:nvCxnSpPr>
        <p:spPr>
          <a:xfrm>
            <a:off x="3679454" y="3061136"/>
            <a:ext cx="239755" cy="0"/>
          </a:xfrm>
          <a:prstGeom prst="line">
            <a:avLst/>
          </a:prstGeom>
          <a:ln w="21590">
            <a:solidFill>
              <a:srgbClr val="C6532C"/>
            </a:solidFill>
          </a:ln>
        </p:spPr>
      </p:cxnSp>
      <p:cxnSp>
        <p:nvCxnSpPr>
          <p:cNvPr id="22" name="Connector 21"/>
          <p:cNvCxnSpPr/>
          <p:nvPr/>
        </p:nvCxnSpPr>
        <p:spPr>
          <a:xfrm>
            <a:off x="3679454" y="3162086"/>
            <a:ext cx="239755" cy="0"/>
          </a:xfrm>
          <a:prstGeom prst="line">
            <a:avLst/>
          </a:prstGeom>
          <a:ln w="21590">
            <a:solidFill>
              <a:srgbClr val="C6532C"/>
            </a:solidFill>
          </a:ln>
        </p:spPr>
      </p:cxnSp>
      <p:cxnSp>
        <p:nvCxnSpPr>
          <p:cNvPr id="23" name="Connector 22"/>
          <p:cNvCxnSpPr/>
          <p:nvPr/>
        </p:nvCxnSpPr>
        <p:spPr>
          <a:xfrm>
            <a:off x="3679454" y="3263036"/>
            <a:ext cx="239755" cy="0"/>
          </a:xfrm>
          <a:prstGeom prst="line">
            <a:avLst/>
          </a:prstGeom>
          <a:ln w="21590">
            <a:solidFill>
              <a:srgbClr val="C6532C"/>
            </a:solidFill>
          </a:ln>
        </p:spPr>
      </p:cxnSp>
      <p:sp>
        <p:nvSpPr>
          <p:cNvPr id="24" name="TextBox 23"/>
          <p:cNvSpPr txBox="1"/>
          <p:nvPr/>
        </p:nvSpPr>
        <p:spPr>
          <a:xfrm>
            <a:off x="2953512"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Show your</a:t>
            </a:r>
          </a:p>
          <a:p>
            <a:pPr>
              <a:spcAft>
                <a:spcPts val="600"/>
              </a:spcAft>
              <a:defRPr sz="2000" b="1">
                <a:solidFill>
                  <a:srgbClr val="171717"/>
                </a:solidFill>
                <a:latin typeface="Arial"/>
              </a:defRPr>
            </a:pPr>
            <a:r>
              <a:t>work</a:t>
            </a:r>
          </a:p>
        </p:txBody>
      </p:sp>
      <p:sp>
        <p:nvSpPr>
          <p:cNvPr id="25" name="TextBox 24"/>
          <p:cNvSpPr txBox="1"/>
          <p:nvPr/>
        </p:nvSpPr>
        <p:spPr>
          <a:xfrm>
            <a:off x="2953512"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Projects, evidence,</a:t>
            </a:r>
          </a:p>
          <a:p>
            <a:pPr>
              <a:spcAft>
                <a:spcPts val="600"/>
              </a:spcAft>
              <a:defRPr sz="1600" b="0">
                <a:solidFill>
                  <a:srgbClr val="171717"/>
                </a:solidFill>
                <a:latin typeface="Arial"/>
              </a:defRPr>
            </a:pPr>
            <a:r>
              <a:t>achievements.</a:t>
            </a:r>
          </a:p>
        </p:txBody>
      </p:sp>
      <p:cxnSp>
        <p:nvCxnSpPr>
          <p:cNvPr id="26" name="Connector 25"/>
          <p:cNvCxnSpPr/>
          <p:nvPr/>
        </p:nvCxnSpPr>
        <p:spPr>
          <a:xfrm>
            <a:off x="4882896" y="3703320"/>
            <a:ext cx="128016" cy="0"/>
          </a:xfrm>
          <a:prstGeom prst="line">
            <a:avLst/>
          </a:prstGeom>
          <a:ln w="20320">
            <a:solidFill>
              <a:srgbClr val="C6532C"/>
            </a:solidFill>
            <a:tailEnd type="triangle" w="sm" len="sm"/>
          </a:ln>
        </p:spPr>
      </p:cxnSp>
      <p:sp>
        <p:nvSpPr>
          <p:cNvPr id="27" name="Rounded Rectangle 26"/>
          <p:cNvSpPr/>
          <p:nvPr/>
        </p:nvSpPr>
        <p:spPr>
          <a:xfrm>
            <a:off x="5056632"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28" name="TextBox 27"/>
          <p:cNvSpPr txBox="1"/>
          <p:nvPr/>
        </p:nvSpPr>
        <p:spPr>
          <a:xfrm>
            <a:off x="5239512"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03</a:t>
            </a:r>
          </a:p>
        </p:txBody>
      </p:sp>
      <p:cxnSp>
        <p:nvCxnSpPr>
          <p:cNvPr id="29" name="Connector 28"/>
          <p:cNvCxnSpPr/>
          <p:nvPr/>
        </p:nvCxnSpPr>
        <p:spPr>
          <a:xfrm>
            <a:off x="5802050" y="3042208"/>
            <a:ext cx="529987" cy="0"/>
          </a:xfrm>
          <a:prstGeom prst="line">
            <a:avLst/>
          </a:prstGeom>
          <a:ln w="21590">
            <a:solidFill>
              <a:srgbClr val="C6532C"/>
            </a:solidFill>
          </a:ln>
        </p:spPr>
      </p:cxnSp>
      <p:cxnSp>
        <p:nvCxnSpPr>
          <p:cNvPr id="30" name="Connector 29"/>
          <p:cNvCxnSpPr/>
          <p:nvPr/>
        </p:nvCxnSpPr>
        <p:spPr>
          <a:xfrm>
            <a:off x="6332037" y="3042208"/>
            <a:ext cx="0" cy="365943"/>
          </a:xfrm>
          <a:prstGeom prst="line">
            <a:avLst/>
          </a:prstGeom>
          <a:ln w="21590">
            <a:solidFill>
              <a:srgbClr val="C6532C"/>
            </a:solidFill>
          </a:ln>
        </p:spPr>
      </p:cxnSp>
      <p:cxnSp>
        <p:nvCxnSpPr>
          <p:cNvPr id="31" name="Connector 30"/>
          <p:cNvCxnSpPr/>
          <p:nvPr/>
        </p:nvCxnSpPr>
        <p:spPr>
          <a:xfrm flipH="1">
            <a:off x="5802050" y="3408151"/>
            <a:ext cx="529987" cy="0"/>
          </a:xfrm>
          <a:prstGeom prst="line">
            <a:avLst/>
          </a:prstGeom>
          <a:ln w="21590">
            <a:solidFill>
              <a:srgbClr val="C6532C"/>
            </a:solidFill>
          </a:ln>
        </p:spPr>
      </p:cxnSp>
      <p:cxnSp>
        <p:nvCxnSpPr>
          <p:cNvPr id="32" name="Connector 31"/>
          <p:cNvCxnSpPr/>
          <p:nvPr/>
        </p:nvCxnSpPr>
        <p:spPr>
          <a:xfrm flipV="1">
            <a:off x="5802050" y="3042208"/>
            <a:ext cx="0" cy="365943"/>
          </a:xfrm>
          <a:prstGeom prst="line">
            <a:avLst/>
          </a:prstGeom>
          <a:ln w="21590">
            <a:solidFill>
              <a:srgbClr val="C6532C"/>
            </a:solidFill>
          </a:ln>
        </p:spPr>
      </p:cxnSp>
      <p:cxnSp>
        <p:nvCxnSpPr>
          <p:cNvPr id="33" name="Connector 32"/>
          <p:cNvCxnSpPr/>
          <p:nvPr/>
        </p:nvCxnSpPr>
        <p:spPr>
          <a:xfrm flipV="1">
            <a:off x="5953475" y="2934949"/>
            <a:ext cx="0" cy="107259"/>
          </a:xfrm>
          <a:prstGeom prst="line">
            <a:avLst/>
          </a:prstGeom>
          <a:ln w="21590">
            <a:solidFill>
              <a:srgbClr val="C6532C"/>
            </a:solidFill>
          </a:ln>
        </p:spPr>
      </p:cxnSp>
      <p:cxnSp>
        <p:nvCxnSpPr>
          <p:cNvPr id="34" name="Connector 33"/>
          <p:cNvCxnSpPr/>
          <p:nvPr/>
        </p:nvCxnSpPr>
        <p:spPr>
          <a:xfrm>
            <a:off x="5953475" y="2934949"/>
            <a:ext cx="227137" cy="0"/>
          </a:xfrm>
          <a:prstGeom prst="line">
            <a:avLst/>
          </a:prstGeom>
          <a:ln w="21590">
            <a:solidFill>
              <a:srgbClr val="C6532C"/>
            </a:solidFill>
          </a:ln>
        </p:spPr>
      </p:cxnSp>
      <p:cxnSp>
        <p:nvCxnSpPr>
          <p:cNvPr id="35" name="Connector 34"/>
          <p:cNvCxnSpPr/>
          <p:nvPr/>
        </p:nvCxnSpPr>
        <p:spPr>
          <a:xfrm>
            <a:off x="6180612" y="2934949"/>
            <a:ext cx="0" cy="107259"/>
          </a:xfrm>
          <a:prstGeom prst="line">
            <a:avLst/>
          </a:prstGeom>
          <a:ln w="21590">
            <a:solidFill>
              <a:srgbClr val="C6532C"/>
            </a:solidFill>
          </a:ln>
        </p:spPr>
      </p:cxnSp>
      <p:cxnSp>
        <p:nvCxnSpPr>
          <p:cNvPr id="36" name="Connector 35"/>
          <p:cNvCxnSpPr/>
          <p:nvPr/>
        </p:nvCxnSpPr>
        <p:spPr>
          <a:xfrm>
            <a:off x="5802050" y="3181014"/>
            <a:ext cx="529987" cy="0"/>
          </a:xfrm>
          <a:prstGeom prst="line">
            <a:avLst/>
          </a:prstGeom>
          <a:ln w="21590">
            <a:solidFill>
              <a:srgbClr val="C6532C"/>
            </a:solidFill>
          </a:ln>
        </p:spPr>
      </p:cxnSp>
      <p:sp>
        <p:nvSpPr>
          <p:cNvPr id="37" name="TextBox 36"/>
          <p:cNvSpPr txBox="1"/>
          <p:nvPr/>
        </p:nvSpPr>
        <p:spPr>
          <a:xfrm>
            <a:off x="5221224"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Find</a:t>
            </a:r>
          </a:p>
          <a:p>
            <a:pPr>
              <a:spcAft>
                <a:spcPts val="600"/>
              </a:spcAft>
              <a:defRPr sz="2000" b="1">
                <a:solidFill>
                  <a:srgbClr val="171717"/>
                </a:solidFill>
                <a:latin typeface="Arial"/>
              </a:defRPr>
            </a:pPr>
            <a:r>
              <a:t>opportunities</a:t>
            </a:r>
          </a:p>
        </p:txBody>
      </p:sp>
      <p:sp>
        <p:nvSpPr>
          <p:cNvPr id="38" name="TextBox 37"/>
          <p:cNvSpPr txBox="1"/>
          <p:nvPr/>
        </p:nvSpPr>
        <p:spPr>
          <a:xfrm>
            <a:off x="5221224"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Challenges +</a:t>
            </a:r>
          </a:p>
          <a:p>
            <a:pPr>
              <a:spcAft>
                <a:spcPts val="600"/>
              </a:spcAft>
              <a:defRPr sz="1600" b="0">
                <a:solidFill>
                  <a:srgbClr val="171717"/>
                </a:solidFill>
                <a:latin typeface="Arial"/>
              </a:defRPr>
            </a:pPr>
            <a:r>
              <a:t>paid projects.</a:t>
            </a:r>
          </a:p>
        </p:txBody>
      </p:sp>
      <p:cxnSp>
        <p:nvCxnSpPr>
          <p:cNvPr id="39" name="Connector 38"/>
          <p:cNvCxnSpPr/>
          <p:nvPr/>
        </p:nvCxnSpPr>
        <p:spPr>
          <a:xfrm>
            <a:off x="7150608" y="3703320"/>
            <a:ext cx="128016" cy="0"/>
          </a:xfrm>
          <a:prstGeom prst="line">
            <a:avLst/>
          </a:prstGeom>
          <a:ln w="20320">
            <a:solidFill>
              <a:srgbClr val="C6532C"/>
            </a:solidFill>
            <a:tailEnd type="triangle" w="sm" len="sm"/>
          </a:ln>
        </p:spPr>
      </p:cxnSp>
      <p:sp>
        <p:nvSpPr>
          <p:cNvPr id="40" name="Rounded Rectangle 39"/>
          <p:cNvSpPr/>
          <p:nvPr/>
        </p:nvSpPr>
        <p:spPr>
          <a:xfrm>
            <a:off x="7324344" y="2148840"/>
            <a:ext cx="2057400" cy="3520440"/>
          </a:xfrm>
          <a:prstGeom prst="roundRect">
            <a:avLst>
              <a:gd name="adj" fmla="val 8000"/>
            </a:avLst>
          </a:prstGeom>
          <a:solidFill>
            <a:srgbClr val="FFFFFF"/>
          </a:solidFill>
          <a:ln>
            <a:solidFill>
              <a:srgbClr val="E7DECF"/>
            </a:solidFill>
          </a:ln>
        </p:spPr>
        <p:txBody>
          <a:bodyPr rtlCol="0" anchor="ctr"/>
          <a:lstStyle/>
          <a:p>
            <a:pPr algn="ctr"/>
          </a:p>
        </p:txBody>
      </p:sp>
      <p:sp>
        <p:nvSpPr>
          <p:cNvPr id="41" name="TextBox 40"/>
          <p:cNvSpPr txBox="1"/>
          <p:nvPr/>
        </p:nvSpPr>
        <p:spPr>
          <a:xfrm>
            <a:off x="7507223"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04</a:t>
            </a:r>
          </a:p>
        </p:txBody>
      </p:sp>
      <p:cxnSp>
        <p:nvCxnSpPr>
          <p:cNvPr id="42" name="Connector 41"/>
          <p:cNvCxnSpPr/>
          <p:nvPr/>
        </p:nvCxnSpPr>
        <p:spPr>
          <a:xfrm>
            <a:off x="8113928" y="3168396"/>
            <a:ext cx="157734" cy="157734"/>
          </a:xfrm>
          <a:prstGeom prst="line">
            <a:avLst/>
          </a:prstGeom>
          <a:ln w="21590">
            <a:solidFill>
              <a:srgbClr val="C6532C"/>
            </a:solidFill>
          </a:ln>
        </p:spPr>
      </p:cxnSp>
      <p:cxnSp>
        <p:nvCxnSpPr>
          <p:cNvPr id="43" name="Connector 42"/>
          <p:cNvCxnSpPr/>
          <p:nvPr/>
        </p:nvCxnSpPr>
        <p:spPr>
          <a:xfrm flipV="1">
            <a:off x="8271662" y="2979115"/>
            <a:ext cx="302849" cy="347015"/>
          </a:xfrm>
          <a:prstGeom prst="line">
            <a:avLst/>
          </a:prstGeom>
          <a:ln w="21590">
            <a:solidFill>
              <a:srgbClr val="C6532C"/>
            </a:solidFill>
          </a:ln>
        </p:spPr>
      </p:cxnSp>
      <p:sp>
        <p:nvSpPr>
          <p:cNvPr id="44" name="TextBox 43"/>
          <p:cNvSpPr txBox="1"/>
          <p:nvPr/>
        </p:nvSpPr>
        <p:spPr>
          <a:xfrm>
            <a:off x="7488936" y="3675887"/>
            <a:ext cx="1819656" cy="877824"/>
          </a:xfrm>
          <a:prstGeom prst="rect">
            <a:avLst/>
          </a:prstGeom>
          <a:noFill/>
        </p:spPr>
        <p:txBody>
          <a:bodyPr wrap="square" lIns="0" rIns="0" tIns="0" bIns="0">
            <a:spAutoFit/>
          </a:bodyPr>
          <a:lstStyle/>
          <a:p>
            <a:pPr>
              <a:spcAft>
                <a:spcPts val="600"/>
              </a:spcAft>
              <a:defRPr sz="2000" b="1">
                <a:solidFill>
                  <a:srgbClr val="171717"/>
                </a:solidFill>
                <a:latin typeface="Arial"/>
              </a:defRPr>
            </a:pPr>
            <a:r>
              <a:t>Complete</a:t>
            </a:r>
          </a:p>
          <a:p>
            <a:pPr>
              <a:spcAft>
                <a:spcPts val="600"/>
              </a:spcAft>
              <a:defRPr sz="2000" b="1">
                <a:solidFill>
                  <a:srgbClr val="171717"/>
                </a:solidFill>
                <a:latin typeface="Arial"/>
              </a:defRPr>
            </a:pPr>
            <a:r>
              <a:t>the work</a:t>
            </a:r>
          </a:p>
        </p:txBody>
      </p:sp>
      <p:sp>
        <p:nvSpPr>
          <p:cNvPr id="45" name="TextBox 44"/>
          <p:cNvSpPr txBox="1"/>
          <p:nvPr/>
        </p:nvSpPr>
        <p:spPr>
          <a:xfrm>
            <a:off x="7488936" y="4663440"/>
            <a:ext cx="1819656" cy="914400"/>
          </a:xfrm>
          <a:prstGeom prst="rect">
            <a:avLst/>
          </a:prstGeom>
          <a:noFill/>
        </p:spPr>
        <p:txBody>
          <a:bodyPr wrap="square" lIns="0" rIns="0" tIns="0" bIns="0">
            <a:spAutoFit/>
          </a:bodyPr>
          <a:lstStyle/>
          <a:p>
            <a:pPr>
              <a:spcAft>
                <a:spcPts val="600"/>
              </a:spcAft>
              <a:defRPr sz="1600" b="0">
                <a:solidFill>
                  <a:srgbClr val="171717"/>
                </a:solidFill>
                <a:latin typeface="Arial"/>
              </a:defRPr>
            </a:pPr>
            <a:r>
              <a:t>Submit work, review,</a:t>
            </a:r>
          </a:p>
          <a:p>
            <a:pPr>
              <a:spcAft>
                <a:spcPts val="600"/>
              </a:spcAft>
              <a:defRPr sz="1600" b="0">
                <a:solidFill>
                  <a:srgbClr val="171717"/>
                </a:solidFill>
                <a:latin typeface="Arial"/>
              </a:defRPr>
            </a:pPr>
            <a:r>
              <a:t>finish milestones.</a:t>
            </a:r>
          </a:p>
        </p:txBody>
      </p:sp>
      <p:cxnSp>
        <p:nvCxnSpPr>
          <p:cNvPr id="46" name="Connector 45"/>
          <p:cNvCxnSpPr/>
          <p:nvPr/>
        </p:nvCxnSpPr>
        <p:spPr>
          <a:xfrm>
            <a:off x="9418320" y="3703320"/>
            <a:ext cx="128016" cy="0"/>
          </a:xfrm>
          <a:prstGeom prst="line">
            <a:avLst/>
          </a:prstGeom>
          <a:ln w="20320">
            <a:solidFill>
              <a:srgbClr val="C6532C"/>
            </a:solidFill>
            <a:tailEnd type="triangle" w="sm" len="sm"/>
          </a:ln>
        </p:spPr>
      </p:cxnSp>
      <p:sp>
        <p:nvSpPr>
          <p:cNvPr id="47" name="Rounded Rectangle 46"/>
          <p:cNvSpPr/>
          <p:nvPr/>
        </p:nvSpPr>
        <p:spPr>
          <a:xfrm>
            <a:off x="9592056" y="2148840"/>
            <a:ext cx="2057400" cy="3520440"/>
          </a:xfrm>
          <a:prstGeom prst="roundRect">
            <a:avLst>
              <a:gd name="adj" fmla="val 8000"/>
            </a:avLst>
          </a:prstGeom>
          <a:solidFill>
            <a:srgbClr val="171717"/>
          </a:solidFill>
          <a:ln>
            <a:solidFill>
              <a:srgbClr val="171717"/>
            </a:solidFill>
          </a:ln>
        </p:spPr>
        <p:txBody>
          <a:bodyPr rtlCol="0" anchor="ctr"/>
          <a:lstStyle/>
          <a:p>
            <a:pPr algn="ctr"/>
          </a:p>
        </p:txBody>
      </p:sp>
      <p:sp>
        <p:nvSpPr>
          <p:cNvPr id="48" name="TextBox 47"/>
          <p:cNvSpPr txBox="1"/>
          <p:nvPr/>
        </p:nvSpPr>
        <p:spPr>
          <a:xfrm>
            <a:off x="9774936" y="2340864"/>
            <a:ext cx="914400" cy="274320"/>
          </a:xfrm>
          <a:prstGeom prst="rect">
            <a:avLst/>
          </a:prstGeom>
          <a:noFill/>
        </p:spPr>
        <p:txBody>
          <a:bodyPr wrap="square" lIns="0" rIns="0" tIns="0" bIns="0">
            <a:spAutoFit/>
          </a:bodyPr>
          <a:lstStyle/>
          <a:p>
            <a:pPr>
              <a:spcAft>
                <a:spcPts val="600"/>
              </a:spcAft>
              <a:defRPr sz="1500" b="1">
                <a:solidFill>
                  <a:srgbClr val="C6532C"/>
                </a:solidFill>
                <a:latin typeface="Arial"/>
              </a:defRPr>
            </a:pPr>
            <a:r>
              <a:t>05</a:t>
            </a:r>
          </a:p>
        </p:txBody>
      </p:sp>
      <p:cxnSp>
        <p:nvCxnSpPr>
          <p:cNvPr id="49" name="Connector 48"/>
          <p:cNvCxnSpPr/>
          <p:nvPr/>
        </p:nvCxnSpPr>
        <p:spPr>
          <a:xfrm>
            <a:off x="10400568" y="2897093"/>
            <a:ext cx="403799" cy="0"/>
          </a:xfrm>
          <a:prstGeom prst="line">
            <a:avLst/>
          </a:prstGeom>
          <a:ln w="21590">
            <a:solidFill>
              <a:srgbClr val="FFFFFF"/>
            </a:solidFill>
          </a:ln>
        </p:spPr>
      </p:cxnSp>
      <p:cxnSp>
        <p:nvCxnSpPr>
          <p:cNvPr id="50" name="Connector 49"/>
          <p:cNvCxnSpPr/>
          <p:nvPr/>
        </p:nvCxnSpPr>
        <p:spPr>
          <a:xfrm>
            <a:off x="10804367" y="2897093"/>
            <a:ext cx="0" cy="529986"/>
          </a:xfrm>
          <a:prstGeom prst="line">
            <a:avLst/>
          </a:prstGeom>
          <a:ln w="21590">
            <a:solidFill>
              <a:srgbClr val="FFFFFF"/>
            </a:solidFill>
          </a:ln>
        </p:spPr>
      </p:cxnSp>
      <p:cxnSp>
        <p:nvCxnSpPr>
          <p:cNvPr id="51" name="Connector 50"/>
          <p:cNvCxnSpPr/>
          <p:nvPr/>
        </p:nvCxnSpPr>
        <p:spPr>
          <a:xfrm flipH="1">
            <a:off x="10400568" y="3427079"/>
            <a:ext cx="403799" cy="0"/>
          </a:xfrm>
          <a:prstGeom prst="line">
            <a:avLst/>
          </a:prstGeom>
          <a:ln w="21590">
            <a:solidFill>
              <a:srgbClr val="FFFFFF"/>
            </a:solidFill>
          </a:ln>
        </p:spPr>
      </p:cxnSp>
      <p:cxnSp>
        <p:nvCxnSpPr>
          <p:cNvPr id="52" name="Connector 51"/>
          <p:cNvCxnSpPr/>
          <p:nvPr/>
        </p:nvCxnSpPr>
        <p:spPr>
          <a:xfrm flipV="1">
            <a:off x="10400568" y="2897093"/>
            <a:ext cx="0" cy="529986"/>
          </a:xfrm>
          <a:prstGeom prst="line">
            <a:avLst/>
          </a:prstGeom>
          <a:ln w="21590">
            <a:solidFill>
              <a:srgbClr val="FFFFFF"/>
            </a:solidFill>
          </a:ln>
        </p:spPr>
      </p:cxnSp>
      <p:sp>
        <p:nvSpPr>
          <p:cNvPr id="53" name="Oval 52"/>
          <p:cNvSpPr/>
          <p:nvPr/>
        </p:nvSpPr>
        <p:spPr>
          <a:xfrm>
            <a:off x="10501518" y="3016971"/>
            <a:ext cx="201899" cy="201899"/>
          </a:xfrm>
          <a:prstGeom prst="ellipse">
            <a:avLst/>
          </a:prstGeom>
          <a:solidFill>
            <a:srgbClr val="FFFFFF"/>
          </a:solidFill>
          <a:ln>
            <a:noFill/>
          </a:ln>
        </p:spPr>
        <p:txBody>
          <a:bodyPr rtlCol="0" anchor="ctr"/>
          <a:lstStyle/>
          <a:p>
            <a:pPr algn="ctr"/>
          </a:p>
        </p:txBody>
      </p:sp>
      <p:cxnSp>
        <p:nvCxnSpPr>
          <p:cNvPr id="54" name="Connector 53"/>
          <p:cNvCxnSpPr/>
          <p:nvPr/>
        </p:nvCxnSpPr>
        <p:spPr>
          <a:xfrm flipH="1">
            <a:off x="10501518" y="3218870"/>
            <a:ext cx="37856" cy="126188"/>
          </a:xfrm>
          <a:prstGeom prst="line">
            <a:avLst/>
          </a:prstGeom>
          <a:ln w="21590">
            <a:solidFill>
              <a:srgbClr val="FFFFFF"/>
            </a:solidFill>
          </a:ln>
        </p:spPr>
      </p:cxnSp>
      <p:cxnSp>
        <p:nvCxnSpPr>
          <p:cNvPr id="55" name="Connector 54"/>
          <p:cNvCxnSpPr/>
          <p:nvPr/>
        </p:nvCxnSpPr>
        <p:spPr>
          <a:xfrm>
            <a:off x="10652942" y="3218870"/>
            <a:ext cx="37857" cy="126188"/>
          </a:xfrm>
          <a:prstGeom prst="line">
            <a:avLst/>
          </a:prstGeom>
          <a:ln w="21590">
            <a:solidFill>
              <a:srgbClr val="FFFFFF"/>
            </a:solidFill>
          </a:ln>
        </p:spPr>
      </p:cxnSp>
      <p:sp>
        <p:nvSpPr>
          <p:cNvPr id="56" name="TextBox 55"/>
          <p:cNvSpPr txBox="1"/>
          <p:nvPr/>
        </p:nvSpPr>
        <p:spPr>
          <a:xfrm>
            <a:off x="9756648" y="3675887"/>
            <a:ext cx="1819656" cy="877824"/>
          </a:xfrm>
          <a:prstGeom prst="rect">
            <a:avLst/>
          </a:prstGeom>
          <a:noFill/>
        </p:spPr>
        <p:txBody>
          <a:bodyPr wrap="square" lIns="0" rIns="0" tIns="0" bIns="0">
            <a:spAutoFit/>
          </a:bodyPr>
          <a:lstStyle/>
          <a:p>
            <a:pPr>
              <a:spcAft>
                <a:spcPts val="600"/>
              </a:spcAft>
              <a:defRPr sz="2000" b="1">
                <a:solidFill>
                  <a:srgbClr val="FFFFFF"/>
                </a:solidFill>
                <a:latin typeface="Arial"/>
              </a:defRPr>
            </a:pPr>
            <a:r>
              <a:t>Grow your</a:t>
            </a:r>
          </a:p>
          <a:p>
            <a:pPr>
              <a:spcAft>
                <a:spcPts val="600"/>
              </a:spcAft>
              <a:defRPr sz="2000" b="1">
                <a:solidFill>
                  <a:srgbClr val="FFFFFF"/>
                </a:solidFill>
                <a:latin typeface="Arial"/>
              </a:defRPr>
            </a:pPr>
            <a:r>
              <a:t>reputation</a:t>
            </a:r>
          </a:p>
        </p:txBody>
      </p:sp>
      <p:sp>
        <p:nvSpPr>
          <p:cNvPr id="57" name="TextBox 56"/>
          <p:cNvSpPr txBox="1"/>
          <p:nvPr/>
        </p:nvSpPr>
        <p:spPr>
          <a:xfrm>
            <a:off x="9756648" y="4663440"/>
            <a:ext cx="1819656" cy="914400"/>
          </a:xfrm>
          <a:prstGeom prst="rect">
            <a:avLst/>
          </a:prstGeom>
          <a:noFill/>
        </p:spPr>
        <p:txBody>
          <a:bodyPr wrap="square" lIns="0" rIns="0" tIns="0" bIns="0">
            <a:spAutoFit/>
          </a:bodyPr>
          <a:lstStyle/>
          <a:p>
            <a:pPr>
              <a:spcAft>
                <a:spcPts val="600"/>
              </a:spcAft>
              <a:defRPr sz="1600" b="0">
                <a:solidFill>
                  <a:srgbClr val="FFFFFF"/>
                </a:solidFill>
                <a:latin typeface="Arial"/>
              </a:defRPr>
            </a:pPr>
            <a:r>
              <a:t>Completed work +</a:t>
            </a:r>
          </a:p>
          <a:p>
            <a:pPr>
              <a:spcAft>
                <a:spcPts val="600"/>
              </a:spcAft>
              <a:defRPr sz="1600" b="0">
                <a:solidFill>
                  <a:srgbClr val="FFFFFF"/>
                </a:solidFill>
                <a:latin typeface="Arial"/>
              </a:defRPr>
            </a:pPr>
            <a:r>
              <a:t>separately issued</a:t>
            </a:r>
          </a:p>
          <a:p>
            <a:pPr>
              <a:spcAft>
                <a:spcPts val="600"/>
              </a:spcAft>
              <a:defRPr sz="1600" b="0">
                <a:solidFill>
                  <a:srgbClr val="FFFFFF"/>
                </a:solidFill>
                <a:latin typeface="Arial"/>
              </a:defRPr>
            </a:pPr>
            <a:r>
              <a:t>credentials.</a:t>
            </a:r>
          </a:p>
        </p:txBody>
      </p:sp>
      <p:sp>
        <p:nvSpPr>
          <p:cNvPr id="58" name="Rounded Rectangle 57"/>
          <p:cNvSpPr/>
          <p:nvPr/>
        </p:nvSpPr>
        <p:spPr>
          <a:xfrm>
            <a:off x="521207" y="5943600"/>
            <a:ext cx="11128248" cy="640080"/>
          </a:xfrm>
          <a:prstGeom prst="roundRect">
            <a:avLst>
              <a:gd name="adj" fmla="val 8000"/>
            </a:avLst>
          </a:prstGeom>
          <a:solidFill>
            <a:srgbClr val="E7DECF"/>
          </a:solidFill>
          <a:ln>
            <a:noFill/>
          </a:ln>
        </p:spPr>
        <p:txBody>
          <a:bodyPr rtlCol="0" anchor="ctr"/>
          <a:lstStyle/>
          <a:p>
            <a:pPr algn="ctr"/>
          </a:p>
        </p:txBody>
      </p:sp>
      <p:sp>
        <p:nvSpPr>
          <p:cNvPr id="59" name="TextBox 58"/>
          <p:cNvSpPr txBox="1"/>
          <p:nvPr/>
        </p:nvSpPr>
        <p:spPr>
          <a:xfrm>
            <a:off x="713232" y="6099048"/>
            <a:ext cx="5303520" cy="365760"/>
          </a:xfrm>
          <a:prstGeom prst="rect">
            <a:avLst/>
          </a:prstGeom>
          <a:noFill/>
        </p:spPr>
        <p:txBody>
          <a:bodyPr wrap="square" lIns="0" rIns="0" tIns="0" bIns="0">
            <a:spAutoFit/>
          </a:bodyPr>
          <a:lstStyle/>
          <a:p>
            <a:pPr>
              <a:spcAft>
                <a:spcPts val="600"/>
              </a:spcAft>
              <a:defRPr sz="1600" b="0">
                <a:solidFill>
                  <a:srgbClr val="171717"/>
                </a:solidFill>
                <a:latin typeface="Arial"/>
              </a:defRPr>
            </a:pPr>
            <a:r>
              <a:t>Milestone reviews + devnet test-USDC payments.</a:t>
            </a:r>
          </a:p>
        </p:txBody>
      </p:sp>
      <p:cxnSp>
        <p:nvCxnSpPr>
          <p:cNvPr id="60" name="Connector 59"/>
          <p:cNvCxnSpPr/>
          <p:nvPr/>
        </p:nvCxnSpPr>
        <p:spPr>
          <a:xfrm>
            <a:off x="6080760" y="6071616"/>
            <a:ext cx="0" cy="384048"/>
          </a:xfrm>
          <a:prstGeom prst="line">
            <a:avLst/>
          </a:prstGeom>
          <a:ln w="19050">
            <a:solidFill>
              <a:srgbClr val="C6532C"/>
            </a:solidFill>
          </a:ln>
        </p:spPr>
      </p:cxnSp>
      <p:sp>
        <p:nvSpPr>
          <p:cNvPr id="61" name="TextBox 60"/>
          <p:cNvSpPr txBox="1"/>
          <p:nvPr/>
        </p:nvSpPr>
        <p:spPr>
          <a:xfrm>
            <a:off x="6327648" y="6099048"/>
            <a:ext cx="5074920" cy="365760"/>
          </a:xfrm>
          <a:prstGeom prst="rect">
            <a:avLst/>
          </a:prstGeom>
          <a:noFill/>
        </p:spPr>
        <p:txBody>
          <a:bodyPr wrap="square" lIns="0" rIns="0" tIns="0" bIns="0">
            <a:spAutoFit/>
          </a:bodyPr>
          <a:lstStyle/>
          <a:p>
            <a:pPr>
              <a:spcAft>
                <a:spcPts val="600"/>
              </a:spcAft>
              <a:defRPr sz="1600" b="0">
                <a:solidFill>
                  <a:srgbClr val="171717"/>
                </a:solidFill>
                <a:latin typeface="Arial"/>
              </a:defRPr>
            </a:pPr>
            <a:r>
              <a:t>Credentials issued separately by authorized organizations.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594360" y="457200"/>
            <a:ext cx="11018520" cy="914400"/>
          </a:xfrm>
          <a:prstGeom prst="rect">
            <a:avLst/>
          </a:prstGeom>
          <a:noFill/>
        </p:spPr>
        <p:txBody>
          <a:bodyPr wrap="square" lIns="0" rIns="0" tIns="0" bIns="0">
            <a:spAutoFit/>
          </a:bodyPr>
          <a:lstStyle/>
          <a:p>
            <a:pPr>
              <a:spcAft>
                <a:spcPts val="600"/>
              </a:spcAft>
              <a:defRPr sz="4300" b="1">
                <a:solidFill>
                  <a:srgbClr val="FFFFFF"/>
                </a:solidFill>
                <a:latin typeface="Arial"/>
              </a:defRPr>
            </a:pPr>
            <a:r>
              <a:t>Two important jobs for Solana.</a:t>
            </a:r>
          </a:p>
        </p:txBody>
      </p:sp>
      <p:sp>
        <p:nvSpPr>
          <p:cNvPr id="3" name="Rounded Rectangle 2"/>
          <p:cNvSpPr/>
          <p:nvPr/>
        </p:nvSpPr>
        <p:spPr>
          <a:xfrm>
            <a:off x="594360" y="1874519"/>
            <a:ext cx="5312664" cy="3593592"/>
          </a:xfrm>
          <a:prstGeom prst="roundRect">
            <a:avLst>
              <a:gd name="adj" fmla="val 8000"/>
            </a:avLst>
          </a:prstGeom>
          <a:solidFill>
            <a:srgbClr val="FFFFFF"/>
          </a:solidFill>
          <a:ln>
            <a:noFill/>
          </a:ln>
        </p:spPr>
        <p:txBody>
          <a:bodyPr rtlCol="0" anchor="ctr"/>
          <a:lstStyle/>
          <a:p>
            <a:pPr algn="ctr"/>
          </a:p>
        </p:txBody>
      </p:sp>
      <p:sp>
        <p:nvSpPr>
          <p:cNvPr id="4" name="TextBox 3"/>
          <p:cNvSpPr txBox="1"/>
          <p:nvPr/>
        </p:nvSpPr>
        <p:spPr>
          <a:xfrm>
            <a:off x="850392" y="2176272"/>
            <a:ext cx="4800600" cy="530352"/>
          </a:xfrm>
          <a:prstGeom prst="rect">
            <a:avLst/>
          </a:prstGeom>
          <a:noFill/>
        </p:spPr>
        <p:txBody>
          <a:bodyPr wrap="square" lIns="0" rIns="0" tIns="0" bIns="0">
            <a:spAutoFit/>
          </a:bodyPr>
          <a:lstStyle/>
          <a:p>
            <a:pPr>
              <a:spcAft>
                <a:spcPts val="600"/>
              </a:spcAft>
              <a:defRPr sz="2900" b="1">
                <a:solidFill>
                  <a:srgbClr val="171717"/>
                </a:solidFill>
                <a:latin typeface="Arial"/>
              </a:defRPr>
            </a:pPr>
            <a:r>
              <a:t>Credential integrity</a:t>
            </a:r>
          </a:p>
        </p:txBody>
      </p:sp>
      <p:sp>
        <p:nvSpPr>
          <p:cNvPr id="5" name="TextBox 4"/>
          <p:cNvSpPr txBox="1"/>
          <p:nvPr/>
        </p:nvSpPr>
        <p:spPr>
          <a:xfrm>
            <a:off x="850392" y="2862072"/>
            <a:ext cx="4800600" cy="685800"/>
          </a:xfrm>
          <a:prstGeom prst="rect">
            <a:avLst/>
          </a:prstGeom>
          <a:noFill/>
        </p:spPr>
        <p:txBody>
          <a:bodyPr wrap="square" lIns="0" rIns="0" tIns="0" bIns="0">
            <a:spAutoFit/>
          </a:bodyPr>
          <a:lstStyle/>
          <a:p>
            <a:pPr>
              <a:spcAft>
                <a:spcPts val="600"/>
              </a:spcAft>
              <a:defRPr sz="2100" b="0">
                <a:solidFill>
                  <a:srgbClr val="171717"/>
                </a:solidFill>
                <a:latin typeface="Arial"/>
              </a:defRPr>
            </a:pPr>
            <a:r>
              <a:t>Check whether recorded data changed.</a:t>
            </a:r>
          </a:p>
        </p:txBody>
      </p:sp>
      <p:cxnSp>
        <p:nvCxnSpPr>
          <p:cNvPr id="6" name="Connector 5"/>
          <p:cNvCxnSpPr/>
          <p:nvPr/>
        </p:nvCxnSpPr>
        <p:spPr>
          <a:xfrm>
            <a:off x="1350568" y="3772357"/>
            <a:ext cx="380391" cy="0"/>
          </a:xfrm>
          <a:prstGeom prst="line">
            <a:avLst/>
          </a:prstGeom>
          <a:ln w="21590">
            <a:solidFill>
              <a:srgbClr val="C6532C"/>
            </a:solidFill>
          </a:ln>
        </p:spPr>
      </p:cxnSp>
      <p:cxnSp>
        <p:nvCxnSpPr>
          <p:cNvPr id="7" name="Connector 6"/>
          <p:cNvCxnSpPr/>
          <p:nvPr/>
        </p:nvCxnSpPr>
        <p:spPr>
          <a:xfrm>
            <a:off x="1730959" y="3772357"/>
            <a:ext cx="0" cy="499262"/>
          </a:xfrm>
          <a:prstGeom prst="line">
            <a:avLst/>
          </a:prstGeom>
          <a:ln w="21590">
            <a:solidFill>
              <a:srgbClr val="C6532C"/>
            </a:solidFill>
          </a:ln>
        </p:spPr>
      </p:cxnSp>
      <p:cxnSp>
        <p:nvCxnSpPr>
          <p:cNvPr id="8" name="Connector 7"/>
          <p:cNvCxnSpPr/>
          <p:nvPr/>
        </p:nvCxnSpPr>
        <p:spPr>
          <a:xfrm flipH="1">
            <a:off x="1350568" y="4271619"/>
            <a:ext cx="380391" cy="0"/>
          </a:xfrm>
          <a:prstGeom prst="line">
            <a:avLst/>
          </a:prstGeom>
          <a:ln w="21590">
            <a:solidFill>
              <a:srgbClr val="C6532C"/>
            </a:solidFill>
          </a:ln>
        </p:spPr>
      </p:cxnSp>
      <p:cxnSp>
        <p:nvCxnSpPr>
          <p:cNvPr id="9" name="Connector 8"/>
          <p:cNvCxnSpPr/>
          <p:nvPr/>
        </p:nvCxnSpPr>
        <p:spPr>
          <a:xfrm flipV="1">
            <a:off x="1350568" y="3772357"/>
            <a:ext cx="0" cy="499262"/>
          </a:xfrm>
          <a:prstGeom prst="line">
            <a:avLst/>
          </a:prstGeom>
          <a:ln w="21590">
            <a:solidFill>
              <a:srgbClr val="C6532C"/>
            </a:solidFill>
          </a:ln>
        </p:spPr>
      </p:cxnSp>
      <p:sp>
        <p:nvSpPr>
          <p:cNvPr id="10" name="Oval 9"/>
          <p:cNvSpPr/>
          <p:nvPr/>
        </p:nvSpPr>
        <p:spPr>
          <a:xfrm>
            <a:off x="1445666" y="3885285"/>
            <a:ext cx="190195" cy="190195"/>
          </a:xfrm>
          <a:prstGeom prst="ellipse">
            <a:avLst/>
          </a:prstGeom>
          <a:solidFill>
            <a:srgbClr val="C6532C"/>
          </a:solidFill>
          <a:ln>
            <a:noFill/>
          </a:ln>
        </p:spPr>
        <p:txBody>
          <a:bodyPr rtlCol="0" anchor="ctr"/>
          <a:lstStyle/>
          <a:p>
            <a:pPr algn="ctr"/>
          </a:p>
        </p:txBody>
      </p:sp>
      <p:cxnSp>
        <p:nvCxnSpPr>
          <p:cNvPr id="11" name="Connector 10"/>
          <p:cNvCxnSpPr/>
          <p:nvPr/>
        </p:nvCxnSpPr>
        <p:spPr>
          <a:xfrm flipH="1">
            <a:off x="1445666" y="4075480"/>
            <a:ext cx="35662" cy="118872"/>
          </a:xfrm>
          <a:prstGeom prst="line">
            <a:avLst/>
          </a:prstGeom>
          <a:ln w="21590">
            <a:solidFill>
              <a:srgbClr val="C6532C"/>
            </a:solidFill>
          </a:ln>
        </p:spPr>
      </p:cxnSp>
      <p:cxnSp>
        <p:nvCxnSpPr>
          <p:cNvPr id="12" name="Connector 11"/>
          <p:cNvCxnSpPr/>
          <p:nvPr/>
        </p:nvCxnSpPr>
        <p:spPr>
          <a:xfrm>
            <a:off x="1588312" y="4075480"/>
            <a:ext cx="35662" cy="118872"/>
          </a:xfrm>
          <a:prstGeom prst="line">
            <a:avLst/>
          </a:prstGeom>
          <a:ln w="21590">
            <a:solidFill>
              <a:srgbClr val="C6532C"/>
            </a:solidFill>
          </a:ln>
        </p:spPr>
      </p:cxnSp>
      <p:sp>
        <p:nvSpPr>
          <p:cNvPr id="13" name="TextBox 12"/>
          <p:cNvSpPr txBox="1"/>
          <p:nvPr/>
        </p:nvSpPr>
        <p:spPr>
          <a:xfrm>
            <a:off x="841248"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Credential</a:t>
            </a:r>
          </a:p>
        </p:txBody>
      </p:sp>
      <p:sp>
        <p:nvSpPr>
          <p:cNvPr id="14" name="TextBox 13"/>
          <p:cNvSpPr txBox="1"/>
          <p:nvPr/>
        </p:nvSpPr>
        <p:spPr>
          <a:xfrm>
            <a:off x="2121408"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15" name="Connector 14"/>
          <p:cNvCxnSpPr/>
          <p:nvPr/>
        </p:nvCxnSpPr>
        <p:spPr>
          <a:xfrm flipH="1">
            <a:off x="3102102" y="3790188"/>
            <a:ext cx="89154" cy="475488"/>
          </a:xfrm>
          <a:prstGeom prst="line">
            <a:avLst/>
          </a:prstGeom>
          <a:ln w="21590">
            <a:solidFill>
              <a:srgbClr val="C6532C"/>
            </a:solidFill>
          </a:ln>
        </p:spPr>
      </p:cxnSp>
      <p:cxnSp>
        <p:nvCxnSpPr>
          <p:cNvPr id="16" name="Connector 15"/>
          <p:cNvCxnSpPr/>
          <p:nvPr/>
        </p:nvCxnSpPr>
        <p:spPr>
          <a:xfrm flipH="1">
            <a:off x="3310128" y="3790188"/>
            <a:ext cx="89154" cy="475488"/>
          </a:xfrm>
          <a:prstGeom prst="line">
            <a:avLst/>
          </a:prstGeom>
          <a:ln w="21590">
            <a:solidFill>
              <a:srgbClr val="C6532C"/>
            </a:solidFill>
          </a:ln>
        </p:spPr>
      </p:cxnSp>
      <p:cxnSp>
        <p:nvCxnSpPr>
          <p:cNvPr id="17" name="Connector 16"/>
          <p:cNvCxnSpPr/>
          <p:nvPr/>
        </p:nvCxnSpPr>
        <p:spPr>
          <a:xfrm>
            <a:off x="3012948" y="3950665"/>
            <a:ext cx="487375" cy="0"/>
          </a:xfrm>
          <a:prstGeom prst="line">
            <a:avLst/>
          </a:prstGeom>
          <a:ln w="21590">
            <a:solidFill>
              <a:srgbClr val="C6532C"/>
            </a:solidFill>
          </a:ln>
        </p:spPr>
      </p:cxnSp>
      <p:cxnSp>
        <p:nvCxnSpPr>
          <p:cNvPr id="18" name="Connector 17"/>
          <p:cNvCxnSpPr/>
          <p:nvPr/>
        </p:nvCxnSpPr>
        <p:spPr>
          <a:xfrm>
            <a:off x="2983230" y="4117086"/>
            <a:ext cx="487375" cy="0"/>
          </a:xfrm>
          <a:prstGeom prst="line">
            <a:avLst/>
          </a:prstGeom>
          <a:ln w="21590">
            <a:solidFill>
              <a:srgbClr val="C6532C"/>
            </a:solidFill>
          </a:ln>
        </p:spPr>
      </p:cxnSp>
      <p:sp>
        <p:nvSpPr>
          <p:cNvPr id="19" name="TextBox 18"/>
          <p:cNvSpPr txBox="1"/>
          <p:nvPr/>
        </p:nvSpPr>
        <p:spPr>
          <a:xfrm>
            <a:off x="2551176"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Digital</a:t>
            </a:r>
          </a:p>
          <a:p>
            <a:pPr>
              <a:spcAft>
                <a:spcPts val="600"/>
              </a:spcAft>
              <a:defRPr sz="1700" b="1">
                <a:solidFill>
                  <a:srgbClr val="171717"/>
                </a:solidFill>
                <a:latin typeface="Arial"/>
              </a:defRPr>
            </a:pPr>
            <a:r>
              <a:t>fingerprint</a:t>
            </a:r>
          </a:p>
        </p:txBody>
      </p:sp>
      <p:sp>
        <p:nvSpPr>
          <p:cNvPr id="20" name="TextBox 19"/>
          <p:cNvSpPr txBox="1"/>
          <p:nvPr/>
        </p:nvSpPr>
        <p:spPr>
          <a:xfrm>
            <a:off x="3831335"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sp>
        <p:nvSpPr>
          <p:cNvPr id="21" name="Oval 20"/>
          <p:cNvSpPr/>
          <p:nvPr/>
        </p:nvSpPr>
        <p:spPr>
          <a:xfrm>
            <a:off x="4722876" y="3790188"/>
            <a:ext cx="118872" cy="118872"/>
          </a:xfrm>
          <a:prstGeom prst="ellipse">
            <a:avLst/>
          </a:prstGeom>
          <a:solidFill>
            <a:srgbClr val="C6532C"/>
          </a:solidFill>
          <a:ln>
            <a:noFill/>
          </a:ln>
        </p:spPr>
        <p:txBody>
          <a:bodyPr rtlCol="0" anchor="ctr"/>
          <a:lstStyle/>
          <a:p>
            <a:pPr algn="ctr"/>
          </a:p>
        </p:txBody>
      </p:sp>
      <p:sp>
        <p:nvSpPr>
          <p:cNvPr id="22" name="Oval 21"/>
          <p:cNvSpPr/>
          <p:nvPr/>
        </p:nvSpPr>
        <p:spPr>
          <a:xfrm>
            <a:off x="5079492" y="3790188"/>
            <a:ext cx="118872" cy="118872"/>
          </a:xfrm>
          <a:prstGeom prst="ellipse">
            <a:avLst/>
          </a:prstGeom>
          <a:solidFill>
            <a:srgbClr val="C6532C"/>
          </a:solidFill>
          <a:ln>
            <a:noFill/>
          </a:ln>
        </p:spPr>
        <p:txBody>
          <a:bodyPr rtlCol="0" anchor="ctr"/>
          <a:lstStyle/>
          <a:p>
            <a:pPr algn="ctr"/>
          </a:p>
        </p:txBody>
      </p:sp>
      <p:sp>
        <p:nvSpPr>
          <p:cNvPr id="23" name="Oval 22"/>
          <p:cNvSpPr/>
          <p:nvPr/>
        </p:nvSpPr>
        <p:spPr>
          <a:xfrm>
            <a:off x="4901184" y="4146804"/>
            <a:ext cx="118872" cy="118872"/>
          </a:xfrm>
          <a:prstGeom prst="ellipse">
            <a:avLst/>
          </a:prstGeom>
          <a:solidFill>
            <a:srgbClr val="C6532C"/>
          </a:solidFill>
          <a:ln>
            <a:noFill/>
          </a:ln>
        </p:spPr>
        <p:txBody>
          <a:bodyPr rtlCol="0" anchor="ctr"/>
          <a:lstStyle/>
          <a:p>
            <a:pPr algn="ctr"/>
          </a:p>
        </p:txBody>
      </p:sp>
      <p:cxnSp>
        <p:nvCxnSpPr>
          <p:cNvPr id="24" name="Connector 23"/>
          <p:cNvCxnSpPr/>
          <p:nvPr/>
        </p:nvCxnSpPr>
        <p:spPr>
          <a:xfrm>
            <a:off x="4841748" y="3849624"/>
            <a:ext cx="237744" cy="0"/>
          </a:xfrm>
          <a:prstGeom prst="line">
            <a:avLst/>
          </a:prstGeom>
          <a:ln w="21590">
            <a:solidFill>
              <a:srgbClr val="C6532C"/>
            </a:solidFill>
          </a:ln>
        </p:spPr>
      </p:cxnSp>
      <p:cxnSp>
        <p:nvCxnSpPr>
          <p:cNvPr id="25" name="Connector 24"/>
          <p:cNvCxnSpPr/>
          <p:nvPr/>
        </p:nvCxnSpPr>
        <p:spPr>
          <a:xfrm>
            <a:off x="4782312" y="3909060"/>
            <a:ext cx="166420" cy="237744"/>
          </a:xfrm>
          <a:prstGeom prst="line">
            <a:avLst/>
          </a:prstGeom>
          <a:ln w="21590">
            <a:solidFill>
              <a:srgbClr val="C6532C"/>
            </a:solidFill>
          </a:ln>
        </p:spPr>
      </p:cxnSp>
      <p:cxnSp>
        <p:nvCxnSpPr>
          <p:cNvPr id="26" name="Connector 25"/>
          <p:cNvCxnSpPr/>
          <p:nvPr/>
        </p:nvCxnSpPr>
        <p:spPr>
          <a:xfrm flipH="1">
            <a:off x="5008168" y="3909060"/>
            <a:ext cx="130760" cy="237744"/>
          </a:xfrm>
          <a:prstGeom prst="line">
            <a:avLst/>
          </a:prstGeom>
          <a:ln w="21590">
            <a:solidFill>
              <a:srgbClr val="C6532C"/>
            </a:solidFill>
          </a:ln>
        </p:spPr>
      </p:cxnSp>
      <p:sp>
        <p:nvSpPr>
          <p:cNvPr id="27" name="TextBox 26"/>
          <p:cNvSpPr txBox="1"/>
          <p:nvPr/>
        </p:nvSpPr>
        <p:spPr>
          <a:xfrm>
            <a:off x="4261104"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Solana record</a:t>
            </a:r>
          </a:p>
        </p:txBody>
      </p:sp>
      <p:sp>
        <p:nvSpPr>
          <p:cNvPr id="28" name="Rounded Rectangle 27"/>
          <p:cNvSpPr/>
          <p:nvPr/>
        </p:nvSpPr>
        <p:spPr>
          <a:xfrm>
            <a:off x="6281928" y="1874519"/>
            <a:ext cx="5312664" cy="3593592"/>
          </a:xfrm>
          <a:prstGeom prst="roundRect">
            <a:avLst>
              <a:gd name="adj" fmla="val 8000"/>
            </a:avLst>
          </a:prstGeom>
          <a:solidFill>
            <a:srgbClr val="FFFFFF"/>
          </a:solidFill>
          <a:ln>
            <a:noFill/>
          </a:ln>
        </p:spPr>
        <p:txBody>
          <a:bodyPr rtlCol="0" anchor="ctr"/>
          <a:lstStyle/>
          <a:p>
            <a:pPr algn="ctr"/>
          </a:p>
        </p:txBody>
      </p:sp>
      <p:sp>
        <p:nvSpPr>
          <p:cNvPr id="29" name="TextBox 28"/>
          <p:cNvSpPr txBox="1"/>
          <p:nvPr/>
        </p:nvSpPr>
        <p:spPr>
          <a:xfrm>
            <a:off x="6537960" y="2176272"/>
            <a:ext cx="4800600" cy="530352"/>
          </a:xfrm>
          <a:prstGeom prst="rect">
            <a:avLst/>
          </a:prstGeom>
          <a:noFill/>
        </p:spPr>
        <p:txBody>
          <a:bodyPr wrap="square" lIns="0" rIns="0" tIns="0" bIns="0">
            <a:spAutoFit/>
          </a:bodyPr>
          <a:lstStyle/>
          <a:p>
            <a:pPr>
              <a:spcAft>
                <a:spcPts val="600"/>
              </a:spcAft>
              <a:defRPr sz="2900" b="1">
                <a:solidFill>
                  <a:srgbClr val="171717"/>
                </a:solidFill>
                <a:latin typeface="Arial"/>
              </a:defRPr>
            </a:pPr>
            <a:r>
              <a:t>Milestone payments</a:t>
            </a:r>
          </a:p>
        </p:txBody>
      </p:sp>
      <p:sp>
        <p:nvSpPr>
          <p:cNvPr id="30" name="TextBox 29"/>
          <p:cNvSpPr txBox="1"/>
          <p:nvPr/>
        </p:nvSpPr>
        <p:spPr>
          <a:xfrm>
            <a:off x="6537960" y="2862072"/>
            <a:ext cx="4800600" cy="685800"/>
          </a:xfrm>
          <a:prstGeom prst="rect">
            <a:avLst/>
          </a:prstGeom>
          <a:noFill/>
        </p:spPr>
        <p:txBody>
          <a:bodyPr wrap="square" lIns="0" rIns="0" tIns="0" bIns="0">
            <a:spAutoFit/>
          </a:bodyPr>
          <a:lstStyle/>
          <a:p>
            <a:pPr>
              <a:spcAft>
                <a:spcPts val="600"/>
              </a:spcAft>
              <a:defRPr sz="2100" b="0">
                <a:solidFill>
                  <a:srgbClr val="171717"/>
                </a:solidFill>
                <a:latin typeface="Arial"/>
              </a:defRPr>
            </a:pPr>
            <a:r>
              <a:t>Send test USDC for approved work.</a:t>
            </a:r>
          </a:p>
        </p:txBody>
      </p:sp>
      <p:cxnSp>
        <p:nvCxnSpPr>
          <p:cNvPr id="31" name="Connector 30"/>
          <p:cNvCxnSpPr/>
          <p:nvPr/>
        </p:nvCxnSpPr>
        <p:spPr>
          <a:xfrm>
            <a:off x="6978700" y="3909060"/>
            <a:ext cx="499263" cy="0"/>
          </a:xfrm>
          <a:prstGeom prst="line">
            <a:avLst/>
          </a:prstGeom>
          <a:ln w="21590">
            <a:solidFill>
              <a:srgbClr val="C6532C"/>
            </a:solidFill>
          </a:ln>
        </p:spPr>
      </p:cxnSp>
      <p:cxnSp>
        <p:nvCxnSpPr>
          <p:cNvPr id="32" name="Connector 31"/>
          <p:cNvCxnSpPr/>
          <p:nvPr/>
        </p:nvCxnSpPr>
        <p:spPr>
          <a:xfrm>
            <a:off x="7477963" y="3909060"/>
            <a:ext cx="0" cy="344728"/>
          </a:xfrm>
          <a:prstGeom prst="line">
            <a:avLst/>
          </a:prstGeom>
          <a:ln w="21590">
            <a:solidFill>
              <a:srgbClr val="C6532C"/>
            </a:solidFill>
          </a:ln>
        </p:spPr>
      </p:cxnSp>
      <p:cxnSp>
        <p:nvCxnSpPr>
          <p:cNvPr id="33" name="Connector 32"/>
          <p:cNvCxnSpPr/>
          <p:nvPr/>
        </p:nvCxnSpPr>
        <p:spPr>
          <a:xfrm flipH="1">
            <a:off x="6978700" y="4253788"/>
            <a:ext cx="499263" cy="0"/>
          </a:xfrm>
          <a:prstGeom prst="line">
            <a:avLst/>
          </a:prstGeom>
          <a:ln w="21590">
            <a:solidFill>
              <a:srgbClr val="C6532C"/>
            </a:solidFill>
          </a:ln>
        </p:spPr>
      </p:cxnSp>
      <p:cxnSp>
        <p:nvCxnSpPr>
          <p:cNvPr id="34" name="Connector 33"/>
          <p:cNvCxnSpPr/>
          <p:nvPr/>
        </p:nvCxnSpPr>
        <p:spPr>
          <a:xfrm flipV="1">
            <a:off x="6978700" y="3909060"/>
            <a:ext cx="0" cy="344728"/>
          </a:xfrm>
          <a:prstGeom prst="line">
            <a:avLst/>
          </a:prstGeom>
          <a:ln w="21590">
            <a:solidFill>
              <a:srgbClr val="C6532C"/>
            </a:solidFill>
          </a:ln>
        </p:spPr>
      </p:cxnSp>
      <p:cxnSp>
        <p:nvCxnSpPr>
          <p:cNvPr id="35" name="Connector 34"/>
          <p:cNvCxnSpPr/>
          <p:nvPr/>
        </p:nvCxnSpPr>
        <p:spPr>
          <a:xfrm flipV="1">
            <a:off x="7121347" y="3808018"/>
            <a:ext cx="0" cy="101042"/>
          </a:xfrm>
          <a:prstGeom prst="line">
            <a:avLst/>
          </a:prstGeom>
          <a:ln w="21590">
            <a:solidFill>
              <a:srgbClr val="C6532C"/>
            </a:solidFill>
          </a:ln>
        </p:spPr>
      </p:cxnSp>
      <p:cxnSp>
        <p:nvCxnSpPr>
          <p:cNvPr id="36" name="Connector 35"/>
          <p:cNvCxnSpPr/>
          <p:nvPr/>
        </p:nvCxnSpPr>
        <p:spPr>
          <a:xfrm>
            <a:off x="7121347" y="3808018"/>
            <a:ext cx="213969" cy="0"/>
          </a:xfrm>
          <a:prstGeom prst="line">
            <a:avLst/>
          </a:prstGeom>
          <a:ln w="21590">
            <a:solidFill>
              <a:srgbClr val="C6532C"/>
            </a:solidFill>
          </a:ln>
        </p:spPr>
      </p:cxnSp>
      <p:cxnSp>
        <p:nvCxnSpPr>
          <p:cNvPr id="37" name="Connector 36"/>
          <p:cNvCxnSpPr/>
          <p:nvPr/>
        </p:nvCxnSpPr>
        <p:spPr>
          <a:xfrm>
            <a:off x="7335316" y="3808018"/>
            <a:ext cx="0" cy="101042"/>
          </a:xfrm>
          <a:prstGeom prst="line">
            <a:avLst/>
          </a:prstGeom>
          <a:ln w="21590">
            <a:solidFill>
              <a:srgbClr val="C6532C"/>
            </a:solidFill>
          </a:ln>
        </p:spPr>
      </p:cxnSp>
      <p:cxnSp>
        <p:nvCxnSpPr>
          <p:cNvPr id="38" name="Connector 37"/>
          <p:cNvCxnSpPr/>
          <p:nvPr/>
        </p:nvCxnSpPr>
        <p:spPr>
          <a:xfrm>
            <a:off x="6978700" y="4039819"/>
            <a:ext cx="499263" cy="0"/>
          </a:xfrm>
          <a:prstGeom prst="line">
            <a:avLst/>
          </a:prstGeom>
          <a:ln w="21590">
            <a:solidFill>
              <a:srgbClr val="C6532C"/>
            </a:solidFill>
          </a:ln>
        </p:spPr>
      </p:cxnSp>
      <p:sp>
        <p:nvSpPr>
          <p:cNvPr id="39" name="TextBox 38"/>
          <p:cNvSpPr txBox="1"/>
          <p:nvPr/>
        </p:nvSpPr>
        <p:spPr>
          <a:xfrm>
            <a:off x="6528816"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Approved</a:t>
            </a:r>
          </a:p>
          <a:p>
            <a:pPr>
              <a:spcAft>
                <a:spcPts val="600"/>
              </a:spcAft>
              <a:defRPr sz="1700" b="1">
                <a:solidFill>
                  <a:srgbClr val="171717"/>
                </a:solidFill>
                <a:latin typeface="Arial"/>
              </a:defRPr>
            </a:pPr>
            <a:r>
              <a:t>milestone</a:t>
            </a:r>
          </a:p>
        </p:txBody>
      </p:sp>
      <p:sp>
        <p:nvSpPr>
          <p:cNvPr id="40" name="TextBox 39"/>
          <p:cNvSpPr txBox="1"/>
          <p:nvPr/>
        </p:nvSpPr>
        <p:spPr>
          <a:xfrm>
            <a:off x="7808976"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41" name="Connector 40"/>
          <p:cNvCxnSpPr/>
          <p:nvPr/>
        </p:nvCxnSpPr>
        <p:spPr>
          <a:xfrm>
            <a:off x="8700516" y="3849624"/>
            <a:ext cx="445770" cy="0"/>
          </a:xfrm>
          <a:prstGeom prst="line">
            <a:avLst/>
          </a:prstGeom>
          <a:ln w="21590">
            <a:solidFill>
              <a:srgbClr val="C6532C"/>
            </a:solidFill>
          </a:ln>
        </p:spPr>
      </p:cxnSp>
      <p:cxnSp>
        <p:nvCxnSpPr>
          <p:cNvPr id="42" name="Connector 41"/>
          <p:cNvCxnSpPr/>
          <p:nvPr/>
        </p:nvCxnSpPr>
        <p:spPr>
          <a:xfrm>
            <a:off x="8700516" y="3849624"/>
            <a:ext cx="0" cy="374446"/>
          </a:xfrm>
          <a:prstGeom prst="line">
            <a:avLst/>
          </a:prstGeom>
          <a:ln w="21590">
            <a:solidFill>
              <a:srgbClr val="C6532C"/>
            </a:solidFill>
          </a:ln>
        </p:spPr>
      </p:cxnSp>
      <p:cxnSp>
        <p:nvCxnSpPr>
          <p:cNvPr id="43" name="Connector 42"/>
          <p:cNvCxnSpPr/>
          <p:nvPr/>
        </p:nvCxnSpPr>
        <p:spPr>
          <a:xfrm>
            <a:off x="8700516" y="4224070"/>
            <a:ext cx="445770" cy="0"/>
          </a:xfrm>
          <a:prstGeom prst="line">
            <a:avLst/>
          </a:prstGeom>
          <a:ln w="21590">
            <a:solidFill>
              <a:srgbClr val="C6532C"/>
            </a:solidFill>
          </a:ln>
        </p:spPr>
      </p:cxnSp>
      <p:cxnSp>
        <p:nvCxnSpPr>
          <p:cNvPr id="44" name="Connector 43"/>
          <p:cNvCxnSpPr/>
          <p:nvPr/>
        </p:nvCxnSpPr>
        <p:spPr>
          <a:xfrm flipV="1">
            <a:off x="9146286" y="3849624"/>
            <a:ext cx="0" cy="374446"/>
          </a:xfrm>
          <a:prstGeom prst="line">
            <a:avLst/>
          </a:prstGeom>
          <a:ln w="21590">
            <a:solidFill>
              <a:srgbClr val="C6532C"/>
            </a:solidFill>
          </a:ln>
        </p:spPr>
      </p:cxnSp>
      <p:cxnSp>
        <p:nvCxnSpPr>
          <p:cNvPr id="45" name="Connector 44"/>
          <p:cNvCxnSpPr/>
          <p:nvPr/>
        </p:nvCxnSpPr>
        <p:spPr>
          <a:xfrm>
            <a:off x="9027414" y="3980383"/>
            <a:ext cx="178308" cy="0"/>
          </a:xfrm>
          <a:prstGeom prst="line">
            <a:avLst/>
          </a:prstGeom>
          <a:ln w="21590">
            <a:solidFill>
              <a:srgbClr val="C6532C"/>
            </a:solidFill>
          </a:ln>
        </p:spPr>
      </p:cxnSp>
      <p:cxnSp>
        <p:nvCxnSpPr>
          <p:cNvPr id="46" name="Connector 45"/>
          <p:cNvCxnSpPr/>
          <p:nvPr/>
        </p:nvCxnSpPr>
        <p:spPr>
          <a:xfrm>
            <a:off x="9205722" y="3980383"/>
            <a:ext cx="0" cy="130759"/>
          </a:xfrm>
          <a:prstGeom prst="line">
            <a:avLst/>
          </a:prstGeom>
          <a:ln w="21590">
            <a:solidFill>
              <a:srgbClr val="C6532C"/>
            </a:solidFill>
          </a:ln>
        </p:spPr>
      </p:cxnSp>
      <p:cxnSp>
        <p:nvCxnSpPr>
          <p:cNvPr id="47" name="Connector 46"/>
          <p:cNvCxnSpPr/>
          <p:nvPr/>
        </p:nvCxnSpPr>
        <p:spPr>
          <a:xfrm flipH="1">
            <a:off x="9027414" y="4111142"/>
            <a:ext cx="178308" cy="0"/>
          </a:xfrm>
          <a:prstGeom prst="line">
            <a:avLst/>
          </a:prstGeom>
          <a:ln w="21590">
            <a:solidFill>
              <a:srgbClr val="C6532C"/>
            </a:solidFill>
          </a:ln>
        </p:spPr>
      </p:cxnSp>
      <p:cxnSp>
        <p:nvCxnSpPr>
          <p:cNvPr id="48" name="Connector 47"/>
          <p:cNvCxnSpPr/>
          <p:nvPr/>
        </p:nvCxnSpPr>
        <p:spPr>
          <a:xfrm flipV="1">
            <a:off x="9027414" y="3980383"/>
            <a:ext cx="0" cy="130759"/>
          </a:xfrm>
          <a:prstGeom prst="line">
            <a:avLst/>
          </a:prstGeom>
          <a:ln w="21590">
            <a:solidFill>
              <a:srgbClr val="C6532C"/>
            </a:solidFill>
          </a:ln>
        </p:spPr>
      </p:cxnSp>
      <p:sp>
        <p:nvSpPr>
          <p:cNvPr id="49" name="TextBox 48"/>
          <p:cNvSpPr txBox="1"/>
          <p:nvPr/>
        </p:nvSpPr>
        <p:spPr>
          <a:xfrm>
            <a:off x="8238744"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Wallet</a:t>
            </a:r>
          </a:p>
          <a:p>
            <a:pPr>
              <a:spcAft>
                <a:spcPts val="600"/>
              </a:spcAft>
              <a:defRPr sz="1700" b="1">
                <a:solidFill>
                  <a:srgbClr val="171717"/>
                </a:solidFill>
                <a:latin typeface="Arial"/>
              </a:defRPr>
            </a:pPr>
            <a:r>
              <a:t>payment</a:t>
            </a:r>
          </a:p>
        </p:txBody>
      </p:sp>
      <p:sp>
        <p:nvSpPr>
          <p:cNvPr id="50" name="TextBox 49"/>
          <p:cNvSpPr txBox="1"/>
          <p:nvPr/>
        </p:nvSpPr>
        <p:spPr>
          <a:xfrm>
            <a:off x="9518904" y="3886200"/>
            <a:ext cx="457200" cy="365760"/>
          </a:xfrm>
          <a:prstGeom prst="rect">
            <a:avLst/>
          </a:prstGeom>
          <a:noFill/>
        </p:spPr>
        <p:txBody>
          <a:bodyPr wrap="square" lIns="0" rIns="0" tIns="0" bIns="0">
            <a:spAutoFit/>
          </a:bodyPr>
          <a:lstStyle/>
          <a:p>
            <a:pPr>
              <a:spcAft>
                <a:spcPts val="600"/>
              </a:spcAft>
              <a:defRPr sz="2200" b="1">
                <a:solidFill>
                  <a:srgbClr val="C6532C"/>
                </a:solidFill>
                <a:latin typeface="Arial"/>
              </a:defRPr>
            </a:pPr>
            <a:r>
              <a:t>→</a:t>
            </a:r>
          </a:p>
        </p:txBody>
      </p:sp>
      <p:cxnSp>
        <p:nvCxnSpPr>
          <p:cNvPr id="51" name="Connector 50"/>
          <p:cNvCxnSpPr/>
          <p:nvPr/>
        </p:nvCxnSpPr>
        <p:spPr>
          <a:xfrm>
            <a:off x="10457992" y="3772357"/>
            <a:ext cx="380391" cy="0"/>
          </a:xfrm>
          <a:prstGeom prst="line">
            <a:avLst/>
          </a:prstGeom>
          <a:ln w="21590">
            <a:solidFill>
              <a:srgbClr val="C6532C"/>
            </a:solidFill>
          </a:ln>
        </p:spPr>
      </p:cxnSp>
      <p:cxnSp>
        <p:nvCxnSpPr>
          <p:cNvPr id="52" name="Connector 51"/>
          <p:cNvCxnSpPr/>
          <p:nvPr/>
        </p:nvCxnSpPr>
        <p:spPr>
          <a:xfrm>
            <a:off x="10838383" y="3772357"/>
            <a:ext cx="0" cy="499262"/>
          </a:xfrm>
          <a:prstGeom prst="line">
            <a:avLst/>
          </a:prstGeom>
          <a:ln w="21590">
            <a:solidFill>
              <a:srgbClr val="C6532C"/>
            </a:solidFill>
          </a:ln>
        </p:spPr>
      </p:cxnSp>
      <p:cxnSp>
        <p:nvCxnSpPr>
          <p:cNvPr id="53" name="Connector 52"/>
          <p:cNvCxnSpPr/>
          <p:nvPr/>
        </p:nvCxnSpPr>
        <p:spPr>
          <a:xfrm flipH="1">
            <a:off x="10457992" y="4271619"/>
            <a:ext cx="380391" cy="0"/>
          </a:xfrm>
          <a:prstGeom prst="line">
            <a:avLst/>
          </a:prstGeom>
          <a:ln w="21590">
            <a:solidFill>
              <a:srgbClr val="C6532C"/>
            </a:solidFill>
          </a:ln>
        </p:spPr>
      </p:cxnSp>
      <p:cxnSp>
        <p:nvCxnSpPr>
          <p:cNvPr id="54" name="Connector 53"/>
          <p:cNvCxnSpPr/>
          <p:nvPr/>
        </p:nvCxnSpPr>
        <p:spPr>
          <a:xfrm flipV="1">
            <a:off x="10457992" y="3772357"/>
            <a:ext cx="0" cy="499262"/>
          </a:xfrm>
          <a:prstGeom prst="line">
            <a:avLst/>
          </a:prstGeom>
          <a:ln w="21590">
            <a:solidFill>
              <a:srgbClr val="C6532C"/>
            </a:solidFill>
          </a:ln>
        </p:spPr>
      </p:cxnSp>
      <p:cxnSp>
        <p:nvCxnSpPr>
          <p:cNvPr id="55" name="Connector 54"/>
          <p:cNvCxnSpPr/>
          <p:nvPr/>
        </p:nvCxnSpPr>
        <p:spPr>
          <a:xfrm>
            <a:off x="10535259" y="3926890"/>
            <a:ext cx="225857" cy="0"/>
          </a:xfrm>
          <a:prstGeom prst="line">
            <a:avLst/>
          </a:prstGeom>
          <a:ln w="21590">
            <a:solidFill>
              <a:srgbClr val="C6532C"/>
            </a:solidFill>
          </a:ln>
        </p:spPr>
      </p:cxnSp>
      <p:cxnSp>
        <p:nvCxnSpPr>
          <p:cNvPr id="56" name="Connector 55"/>
          <p:cNvCxnSpPr/>
          <p:nvPr/>
        </p:nvCxnSpPr>
        <p:spPr>
          <a:xfrm>
            <a:off x="10535259" y="4021988"/>
            <a:ext cx="225857" cy="0"/>
          </a:xfrm>
          <a:prstGeom prst="line">
            <a:avLst/>
          </a:prstGeom>
          <a:ln w="21590">
            <a:solidFill>
              <a:srgbClr val="C6532C"/>
            </a:solidFill>
          </a:ln>
        </p:spPr>
      </p:cxnSp>
      <p:cxnSp>
        <p:nvCxnSpPr>
          <p:cNvPr id="57" name="Connector 56"/>
          <p:cNvCxnSpPr/>
          <p:nvPr/>
        </p:nvCxnSpPr>
        <p:spPr>
          <a:xfrm>
            <a:off x="10535259" y="4117086"/>
            <a:ext cx="225857" cy="0"/>
          </a:xfrm>
          <a:prstGeom prst="line">
            <a:avLst/>
          </a:prstGeom>
          <a:ln w="21590">
            <a:solidFill>
              <a:srgbClr val="C6532C"/>
            </a:solidFill>
          </a:ln>
        </p:spPr>
      </p:cxnSp>
      <p:sp>
        <p:nvSpPr>
          <p:cNvPr id="58" name="TextBox 57"/>
          <p:cNvSpPr txBox="1"/>
          <p:nvPr/>
        </p:nvSpPr>
        <p:spPr>
          <a:xfrm>
            <a:off x="9948672" y="4590288"/>
            <a:ext cx="1581912" cy="658368"/>
          </a:xfrm>
          <a:prstGeom prst="rect">
            <a:avLst/>
          </a:prstGeom>
          <a:noFill/>
        </p:spPr>
        <p:txBody>
          <a:bodyPr wrap="square" lIns="0" rIns="0" tIns="0" bIns="0">
            <a:spAutoFit/>
          </a:bodyPr>
          <a:lstStyle/>
          <a:p>
            <a:pPr>
              <a:spcAft>
                <a:spcPts val="600"/>
              </a:spcAft>
              <a:defRPr sz="1700" b="1">
                <a:solidFill>
                  <a:srgbClr val="171717"/>
                </a:solidFill>
                <a:latin typeface="Arial"/>
              </a:defRPr>
            </a:pPr>
            <a:r>
              <a:t>Transaction</a:t>
            </a:r>
          </a:p>
          <a:p>
            <a:pPr>
              <a:spcAft>
                <a:spcPts val="600"/>
              </a:spcAft>
              <a:defRPr sz="1700" b="1">
                <a:solidFill>
                  <a:srgbClr val="171717"/>
                </a:solidFill>
                <a:latin typeface="Arial"/>
              </a:defRPr>
            </a:pPr>
            <a:r>
              <a:t>receipt</a:t>
            </a:r>
          </a:p>
        </p:txBody>
      </p:sp>
      <p:sp>
        <p:nvSpPr>
          <p:cNvPr id="59" name="TextBox 58"/>
          <p:cNvSpPr txBox="1"/>
          <p:nvPr/>
        </p:nvSpPr>
        <p:spPr>
          <a:xfrm>
            <a:off x="640080" y="5897880"/>
            <a:ext cx="10972800" cy="548640"/>
          </a:xfrm>
          <a:prstGeom prst="rect">
            <a:avLst/>
          </a:prstGeom>
          <a:noFill/>
        </p:spPr>
        <p:txBody>
          <a:bodyPr wrap="square" lIns="0" rIns="0" tIns="0" bIns="0">
            <a:spAutoFit/>
          </a:bodyPr>
          <a:lstStyle/>
          <a:p>
            <a:pPr>
              <a:spcAft>
                <a:spcPts val="600"/>
              </a:spcAft>
              <a:defRPr sz="2600" b="1">
                <a:solidFill>
                  <a:srgbClr val="FFFFFF"/>
                </a:solidFill>
                <a:latin typeface="Arial"/>
              </a:defRPr>
            </a:pPr>
            <a:r>
              <a:t>Low fees. Fast settlement. Publicly checkable records.</a:t>
            </a:r>
          </a:p>
        </p:txBody>
      </p:sp>
      <p:sp>
        <p:nvSpPr>
          <p:cNvPr id="60" name="TextBox 59"/>
          <p:cNvSpPr txBox="1"/>
          <p:nvPr/>
        </p:nvSpPr>
        <p:spPr>
          <a:xfrm>
            <a:off x="640080" y="6492240"/>
            <a:ext cx="10972800" cy="274320"/>
          </a:xfrm>
          <a:prstGeom prst="rect">
            <a:avLst/>
          </a:prstGeom>
          <a:noFill/>
        </p:spPr>
        <p:txBody>
          <a:bodyPr wrap="square" lIns="0" rIns="0" tIns="0" bIns="0">
            <a:spAutoFit/>
          </a:bodyPr>
          <a:lstStyle/>
          <a:p>
            <a:pPr>
              <a:spcAft>
                <a:spcPts val="600"/>
              </a:spcAft>
              <a:defRPr sz="1500" b="0">
                <a:solidFill>
                  <a:srgbClr val="FFFFFF"/>
                </a:solidFill>
                <a:latin typeface="Arial"/>
              </a:defRPr>
            </a:pPr>
            <a:r>
              <a:t>DEVNET · TEST USDC   |   Record integrity does not independently prove skill.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More than a CV.</a:t>
            </a:r>
          </a:p>
          <a:p>
            <a:pPr>
              <a:spcAft>
                <a:spcPts val="600"/>
              </a:spcAft>
              <a:defRPr sz="4200" b="1">
                <a:solidFill>
                  <a:srgbClr val="171717"/>
                </a:solidFill>
                <a:latin typeface="Arial"/>
              </a:defRPr>
            </a:pPr>
            <a:r>
              <a:t>More than a job platform.</a:t>
            </a:r>
          </a:p>
        </p:txBody>
      </p:sp>
      <p:sp>
        <p:nvSpPr>
          <p:cNvPr id="3" name="Rounded Rectangle 2"/>
          <p:cNvSpPr/>
          <p:nvPr/>
        </p:nvSpPr>
        <p:spPr>
          <a:xfrm>
            <a:off x="640080" y="2194560"/>
            <a:ext cx="3977639" cy="3959352"/>
          </a:xfrm>
          <a:prstGeom prst="roundRect">
            <a:avLst>
              <a:gd name="adj" fmla="val 8000"/>
            </a:avLst>
          </a:prstGeom>
          <a:solidFill>
            <a:srgbClr val="E7DECF"/>
          </a:solidFill>
          <a:ln>
            <a:noFill/>
          </a:ln>
        </p:spPr>
        <p:txBody>
          <a:bodyPr rtlCol="0" anchor="ctr"/>
          <a:lstStyle/>
          <a:p>
            <a:pPr algn="ctr"/>
          </a:p>
        </p:txBody>
      </p:sp>
      <p:sp>
        <p:nvSpPr>
          <p:cNvPr id="4" name="TextBox 3"/>
          <p:cNvSpPr txBox="1"/>
          <p:nvPr/>
        </p:nvSpPr>
        <p:spPr>
          <a:xfrm>
            <a:off x="914400" y="2468880"/>
            <a:ext cx="3474720" cy="548640"/>
          </a:xfrm>
          <a:prstGeom prst="rect">
            <a:avLst/>
          </a:prstGeom>
          <a:noFill/>
        </p:spPr>
        <p:txBody>
          <a:bodyPr wrap="square" lIns="0" rIns="0" tIns="0" bIns="0">
            <a:spAutoFit/>
          </a:bodyPr>
          <a:lstStyle/>
          <a:p>
            <a:pPr>
              <a:spcAft>
                <a:spcPts val="600"/>
              </a:spcAft>
              <a:defRPr sz="3100" b="1">
                <a:solidFill>
                  <a:srgbClr val="171717"/>
                </a:solidFill>
                <a:latin typeface="Arial"/>
              </a:defRPr>
            </a:pPr>
            <a:r>
              <a:t>Today</a:t>
            </a:r>
          </a:p>
        </p:txBody>
      </p:sp>
      <p:cxnSp>
        <p:nvCxnSpPr>
          <p:cNvPr id="5" name="Connector 4"/>
          <p:cNvCxnSpPr/>
          <p:nvPr/>
        </p:nvCxnSpPr>
        <p:spPr>
          <a:xfrm>
            <a:off x="1015898" y="3293211"/>
            <a:ext cx="263347" cy="0"/>
          </a:xfrm>
          <a:prstGeom prst="line">
            <a:avLst/>
          </a:prstGeom>
          <a:ln w="21590">
            <a:solidFill>
              <a:srgbClr val="C6532C"/>
            </a:solidFill>
          </a:ln>
        </p:spPr>
      </p:cxnSp>
      <p:cxnSp>
        <p:nvCxnSpPr>
          <p:cNvPr id="6" name="Connector 5"/>
          <p:cNvCxnSpPr/>
          <p:nvPr/>
        </p:nvCxnSpPr>
        <p:spPr>
          <a:xfrm>
            <a:off x="1279245" y="3293211"/>
            <a:ext cx="0" cy="345643"/>
          </a:xfrm>
          <a:prstGeom prst="line">
            <a:avLst/>
          </a:prstGeom>
          <a:ln w="21590">
            <a:solidFill>
              <a:srgbClr val="C6532C"/>
            </a:solidFill>
          </a:ln>
        </p:spPr>
      </p:cxnSp>
      <p:cxnSp>
        <p:nvCxnSpPr>
          <p:cNvPr id="7" name="Connector 6"/>
          <p:cNvCxnSpPr/>
          <p:nvPr/>
        </p:nvCxnSpPr>
        <p:spPr>
          <a:xfrm flipH="1">
            <a:off x="1015898" y="3638854"/>
            <a:ext cx="263347" cy="0"/>
          </a:xfrm>
          <a:prstGeom prst="line">
            <a:avLst/>
          </a:prstGeom>
          <a:ln w="21590">
            <a:solidFill>
              <a:srgbClr val="C6532C"/>
            </a:solidFill>
          </a:ln>
        </p:spPr>
      </p:cxnSp>
      <p:cxnSp>
        <p:nvCxnSpPr>
          <p:cNvPr id="8" name="Connector 7"/>
          <p:cNvCxnSpPr/>
          <p:nvPr/>
        </p:nvCxnSpPr>
        <p:spPr>
          <a:xfrm flipV="1">
            <a:off x="1015898" y="3293211"/>
            <a:ext cx="0" cy="345643"/>
          </a:xfrm>
          <a:prstGeom prst="line">
            <a:avLst/>
          </a:prstGeom>
          <a:ln w="21590">
            <a:solidFill>
              <a:srgbClr val="C6532C"/>
            </a:solidFill>
          </a:ln>
        </p:spPr>
      </p:cxnSp>
      <p:cxnSp>
        <p:nvCxnSpPr>
          <p:cNvPr id="9" name="Connector 8"/>
          <p:cNvCxnSpPr/>
          <p:nvPr/>
        </p:nvCxnSpPr>
        <p:spPr>
          <a:xfrm>
            <a:off x="1069390" y="3400196"/>
            <a:ext cx="156363" cy="0"/>
          </a:xfrm>
          <a:prstGeom prst="line">
            <a:avLst/>
          </a:prstGeom>
          <a:ln w="21590">
            <a:solidFill>
              <a:srgbClr val="C6532C"/>
            </a:solidFill>
          </a:ln>
        </p:spPr>
      </p:cxnSp>
      <p:cxnSp>
        <p:nvCxnSpPr>
          <p:cNvPr id="10" name="Connector 9"/>
          <p:cNvCxnSpPr/>
          <p:nvPr/>
        </p:nvCxnSpPr>
        <p:spPr>
          <a:xfrm>
            <a:off x="1069390" y="3466033"/>
            <a:ext cx="156363" cy="0"/>
          </a:xfrm>
          <a:prstGeom prst="line">
            <a:avLst/>
          </a:prstGeom>
          <a:ln w="21590">
            <a:solidFill>
              <a:srgbClr val="C6532C"/>
            </a:solidFill>
          </a:ln>
        </p:spPr>
      </p:cxnSp>
      <p:cxnSp>
        <p:nvCxnSpPr>
          <p:cNvPr id="11" name="Connector 10"/>
          <p:cNvCxnSpPr/>
          <p:nvPr/>
        </p:nvCxnSpPr>
        <p:spPr>
          <a:xfrm>
            <a:off x="1069390" y="3531870"/>
            <a:ext cx="156363" cy="0"/>
          </a:xfrm>
          <a:prstGeom prst="line">
            <a:avLst/>
          </a:prstGeom>
          <a:ln w="21590">
            <a:solidFill>
              <a:srgbClr val="C6532C"/>
            </a:solidFill>
          </a:ln>
        </p:spPr>
      </p:cxnSp>
      <p:sp>
        <p:nvSpPr>
          <p:cNvPr id="12" name="TextBox 11"/>
          <p:cNvSpPr txBox="1"/>
          <p:nvPr/>
        </p:nvSpPr>
        <p:spPr>
          <a:xfrm>
            <a:off x="1600200" y="3246120"/>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CVs</a:t>
            </a:r>
          </a:p>
        </p:txBody>
      </p:sp>
      <p:sp>
        <p:nvSpPr>
          <p:cNvPr id="13" name="TextBox 12"/>
          <p:cNvSpPr txBox="1"/>
          <p:nvPr/>
        </p:nvSpPr>
        <p:spPr>
          <a:xfrm>
            <a:off x="1600200" y="3685031"/>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Claims on a page.</a:t>
            </a:r>
          </a:p>
        </p:txBody>
      </p:sp>
      <p:cxnSp>
        <p:nvCxnSpPr>
          <p:cNvPr id="14" name="Connector 13"/>
          <p:cNvCxnSpPr/>
          <p:nvPr/>
        </p:nvCxnSpPr>
        <p:spPr>
          <a:xfrm>
            <a:off x="1015898" y="4225899"/>
            <a:ext cx="263347" cy="0"/>
          </a:xfrm>
          <a:prstGeom prst="line">
            <a:avLst/>
          </a:prstGeom>
          <a:ln w="21590">
            <a:solidFill>
              <a:srgbClr val="C6532C"/>
            </a:solidFill>
          </a:ln>
        </p:spPr>
      </p:cxnSp>
      <p:cxnSp>
        <p:nvCxnSpPr>
          <p:cNvPr id="15" name="Connector 14"/>
          <p:cNvCxnSpPr/>
          <p:nvPr/>
        </p:nvCxnSpPr>
        <p:spPr>
          <a:xfrm>
            <a:off x="1279245" y="4225899"/>
            <a:ext cx="0" cy="345643"/>
          </a:xfrm>
          <a:prstGeom prst="line">
            <a:avLst/>
          </a:prstGeom>
          <a:ln w="21590">
            <a:solidFill>
              <a:srgbClr val="C6532C"/>
            </a:solidFill>
          </a:ln>
        </p:spPr>
      </p:cxnSp>
      <p:cxnSp>
        <p:nvCxnSpPr>
          <p:cNvPr id="16" name="Connector 15"/>
          <p:cNvCxnSpPr/>
          <p:nvPr/>
        </p:nvCxnSpPr>
        <p:spPr>
          <a:xfrm flipH="1">
            <a:off x="1015898" y="4571542"/>
            <a:ext cx="263347" cy="0"/>
          </a:xfrm>
          <a:prstGeom prst="line">
            <a:avLst/>
          </a:prstGeom>
          <a:ln w="21590">
            <a:solidFill>
              <a:srgbClr val="C6532C"/>
            </a:solidFill>
          </a:ln>
        </p:spPr>
      </p:cxnSp>
      <p:cxnSp>
        <p:nvCxnSpPr>
          <p:cNvPr id="17" name="Connector 16"/>
          <p:cNvCxnSpPr/>
          <p:nvPr/>
        </p:nvCxnSpPr>
        <p:spPr>
          <a:xfrm flipV="1">
            <a:off x="1015898" y="4225899"/>
            <a:ext cx="0" cy="345643"/>
          </a:xfrm>
          <a:prstGeom prst="line">
            <a:avLst/>
          </a:prstGeom>
          <a:ln w="21590">
            <a:solidFill>
              <a:srgbClr val="C6532C"/>
            </a:solidFill>
          </a:ln>
        </p:spPr>
      </p:cxnSp>
      <p:sp>
        <p:nvSpPr>
          <p:cNvPr id="18" name="Oval 17"/>
          <p:cNvSpPr/>
          <p:nvPr/>
        </p:nvSpPr>
        <p:spPr>
          <a:xfrm>
            <a:off x="1081735" y="4304080"/>
            <a:ext cx="131673" cy="131673"/>
          </a:xfrm>
          <a:prstGeom prst="ellipse">
            <a:avLst/>
          </a:prstGeom>
          <a:solidFill>
            <a:srgbClr val="C6532C"/>
          </a:solidFill>
          <a:ln>
            <a:noFill/>
          </a:ln>
        </p:spPr>
        <p:txBody>
          <a:bodyPr rtlCol="0" anchor="ctr"/>
          <a:lstStyle/>
          <a:p>
            <a:pPr algn="ctr"/>
          </a:p>
        </p:txBody>
      </p:sp>
      <p:cxnSp>
        <p:nvCxnSpPr>
          <p:cNvPr id="19" name="Connector 18"/>
          <p:cNvCxnSpPr/>
          <p:nvPr/>
        </p:nvCxnSpPr>
        <p:spPr>
          <a:xfrm flipH="1">
            <a:off x="1081735" y="4435754"/>
            <a:ext cx="24689" cy="82296"/>
          </a:xfrm>
          <a:prstGeom prst="line">
            <a:avLst/>
          </a:prstGeom>
          <a:ln w="21590">
            <a:solidFill>
              <a:srgbClr val="C6532C"/>
            </a:solidFill>
          </a:ln>
        </p:spPr>
      </p:cxnSp>
      <p:cxnSp>
        <p:nvCxnSpPr>
          <p:cNvPr id="20" name="Connector 19"/>
          <p:cNvCxnSpPr/>
          <p:nvPr/>
        </p:nvCxnSpPr>
        <p:spPr>
          <a:xfrm>
            <a:off x="1180490" y="4435754"/>
            <a:ext cx="24689" cy="82296"/>
          </a:xfrm>
          <a:prstGeom prst="line">
            <a:avLst/>
          </a:prstGeom>
          <a:ln w="21590">
            <a:solidFill>
              <a:srgbClr val="C6532C"/>
            </a:solidFill>
          </a:ln>
        </p:spPr>
      </p:cxnSp>
      <p:sp>
        <p:nvSpPr>
          <p:cNvPr id="21" name="TextBox 20"/>
          <p:cNvSpPr txBox="1"/>
          <p:nvPr/>
        </p:nvSpPr>
        <p:spPr>
          <a:xfrm>
            <a:off x="1600200" y="4178808"/>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 tools</a:t>
            </a:r>
          </a:p>
        </p:txBody>
      </p:sp>
      <p:sp>
        <p:nvSpPr>
          <p:cNvPr id="22" name="TextBox 21"/>
          <p:cNvSpPr txBox="1"/>
          <p:nvPr/>
        </p:nvSpPr>
        <p:spPr>
          <a:xfrm>
            <a:off x="1600200" y="4617720"/>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Awards stored apart.</a:t>
            </a:r>
          </a:p>
        </p:txBody>
      </p:sp>
      <p:cxnSp>
        <p:nvCxnSpPr>
          <p:cNvPr id="23" name="Connector 22"/>
          <p:cNvCxnSpPr/>
          <p:nvPr/>
        </p:nvCxnSpPr>
        <p:spPr>
          <a:xfrm>
            <a:off x="974750" y="5253227"/>
            <a:ext cx="345643" cy="0"/>
          </a:xfrm>
          <a:prstGeom prst="line">
            <a:avLst/>
          </a:prstGeom>
          <a:ln w="21590">
            <a:solidFill>
              <a:srgbClr val="C6532C"/>
            </a:solidFill>
          </a:ln>
        </p:spPr>
      </p:cxnSp>
      <p:cxnSp>
        <p:nvCxnSpPr>
          <p:cNvPr id="24" name="Connector 23"/>
          <p:cNvCxnSpPr/>
          <p:nvPr/>
        </p:nvCxnSpPr>
        <p:spPr>
          <a:xfrm>
            <a:off x="1320393" y="5253227"/>
            <a:ext cx="0" cy="238659"/>
          </a:xfrm>
          <a:prstGeom prst="line">
            <a:avLst/>
          </a:prstGeom>
          <a:ln w="21590">
            <a:solidFill>
              <a:srgbClr val="C6532C"/>
            </a:solidFill>
          </a:ln>
        </p:spPr>
      </p:cxnSp>
      <p:cxnSp>
        <p:nvCxnSpPr>
          <p:cNvPr id="25" name="Connector 24"/>
          <p:cNvCxnSpPr/>
          <p:nvPr/>
        </p:nvCxnSpPr>
        <p:spPr>
          <a:xfrm flipH="1">
            <a:off x="974750" y="5491886"/>
            <a:ext cx="345643" cy="0"/>
          </a:xfrm>
          <a:prstGeom prst="line">
            <a:avLst/>
          </a:prstGeom>
          <a:ln w="21590">
            <a:solidFill>
              <a:srgbClr val="C6532C"/>
            </a:solidFill>
          </a:ln>
        </p:spPr>
      </p:cxnSp>
      <p:cxnSp>
        <p:nvCxnSpPr>
          <p:cNvPr id="26" name="Connector 25"/>
          <p:cNvCxnSpPr/>
          <p:nvPr/>
        </p:nvCxnSpPr>
        <p:spPr>
          <a:xfrm flipV="1">
            <a:off x="974750" y="5253227"/>
            <a:ext cx="0" cy="238659"/>
          </a:xfrm>
          <a:prstGeom prst="line">
            <a:avLst/>
          </a:prstGeom>
          <a:ln w="21590">
            <a:solidFill>
              <a:srgbClr val="C6532C"/>
            </a:solidFill>
          </a:ln>
        </p:spPr>
      </p:cxnSp>
      <p:cxnSp>
        <p:nvCxnSpPr>
          <p:cNvPr id="27" name="Connector 26"/>
          <p:cNvCxnSpPr/>
          <p:nvPr/>
        </p:nvCxnSpPr>
        <p:spPr>
          <a:xfrm flipV="1">
            <a:off x="1073505" y="5183276"/>
            <a:ext cx="0" cy="69951"/>
          </a:xfrm>
          <a:prstGeom prst="line">
            <a:avLst/>
          </a:prstGeom>
          <a:ln w="21590">
            <a:solidFill>
              <a:srgbClr val="C6532C"/>
            </a:solidFill>
          </a:ln>
        </p:spPr>
      </p:cxnSp>
      <p:cxnSp>
        <p:nvCxnSpPr>
          <p:cNvPr id="28" name="Connector 27"/>
          <p:cNvCxnSpPr/>
          <p:nvPr/>
        </p:nvCxnSpPr>
        <p:spPr>
          <a:xfrm>
            <a:off x="1073505" y="5183276"/>
            <a:ext cx="148133" cy="0"/>
          </a:xfrm>
          <a:prstGeom prst="line">
            <a:avLst/>
          </a:prstGeom>
          <a:ln w="21590">
            <a:solidFill>
              <a:srgbClr val="C6532C"/>
            </a:solidFill>
          </a:ln>
        </p:spPr>
      </p:cxnSp>
      <p:cxnSp>
        <p:nvCxnSpPr>
          <p:cNvPr id="29" name="Connector 28"/>
          <p:cNvCxnSpPr/>
          <p:nvPr/>
        </p:nvCxnSpPr>
        <p:spPr>
          <a:xfrm>
            <a:off x="1221638" y="5183276"/>
            <a:ext cx="0" cy="69951"/>
          </a:xfrm>
          <a:prstGeom prst="line">
            <a:avLst/>
          </a:prstGeom>
          <a:ln w="21590">
            <a:solidFill>
              <a:srgbClr val="C6532C"/>
            </a:solidFill>
          </a:ln>
        </p:spPr>
      </p:cxnSp>
      <p:cxnSp>
        <p:nvCxnSpPr>
          <p:cNvPr id="30" name="Connector 29"/>
          <p:cNvCxnSpPr/>
          <p:nvPr/>
        </p:nvCxnSpPr>
        <p:spPr>
          <a:xfrm>
            <a:off x="974750" y="5343753"/>
            <a:ext cx="345643" cy="0"/>
          </a:xfrm>
          <a:prstGeom prst="line">
            <a:avLst/>
          </a:prstGeom>
          <a:ln w="21590">
            <a:solidFill>
              <a:srgbClr val="C6532C"/>
            </a:solidFill>
          </a:ln>
        </p:spPr>
      </p:cxnSp>
      <p:sp>
        <p:nvSpPr>
          <p:cNvPr id="31" name="TextBox 30"/>
          <p:cNvSpPr txBox="1"/>
          <p:nvPr/>
        </p:nvSpPr>
        <p:spPr>
          <a:xfrm>
            <a:off x="1600200" y="5111496"/>
            <a:ext cx="2697480" cy="365760"/>
          </a:xfrm>
          <a:prstGeom prst="rect">
            <a:avLst/>
          </a:prstGeom>
          <a:noFill/>
        </p:spPr>
        <p:txBody>
          <a:bodyPr wrap="square" lIns="0" rIns="0" tIns="0" bIns="0">
            <a:spAutoFit/>
          </a:bodyPr>
          <a:lstStyle/>
          <a:p>
            <a:pPr>
              <a:spcAft>
                <a:spcPts val="600"/>
              </a:spcAft>
              <a:defRPr sz="2200" b="1">
                <a:solidFill>
                  <a:srgbClr val="171717"/>
                </a:solidFill>
                <a:latin typeface="Arial"/>
              </a:defRPr>
            </a:pPr>
            <a:r>
              <a:t>Work platforms</a:t>
            </a:r>
          </a:p>
        </p:txBody>
      </p:sp>
      <p:sp>
        <p:nvSpPr>
          <p:cNvPr id="32" name="TextBox 31"/>
          <p:cNvSpPr txBox="1"/>
          <p:nvPr/>
        </p:nvSpPr>
        <p:spPr>
          <a:xfrm>
            <a:off x="1600200" y="5550408"/>
            <a:ext cx="2697480" cy="530352"/>
          </a:xfrm>
          <a:prstGeom prst="rect">
            <a:avLst/>
          </a:prstGeom>
          <a:noFill/>
        </p:spPr>
        <p:txBody>
          <a:bodyPr wrap="square" lIns="0" rIns="0" tIns="0" bIns="0">
            <a:spAutoFit/>
          </a:bodyPr>
          <a:lstStyle/>
          <a:p>
            <a:pPr>
              <a:spcAft>
                <a:spcPts val="600"/>
              </a:spcAft>
              <a:defRPr sz="1700" b="0">
                <a:solidFill>
                  <a:srgbClr val="171717"/>
                </a:solidFill>
                <a:latin typeface="Arial"/>
              </a:defRPr>
            </a:pPr>
            <a:r>
              <a:t>Work stays elsewhere.</a:t>
            </a:r>
          </a:p>
        </p:txBody>
      </p:sp>
      <p:sp>
        <p:nvSpPr>
          <p:cNvPr id="33" name="TextBox 32"/>
          <p:cNvSpPr txBox="1"/>
          <p:nvPr/>
        </p:nvSpPr>
        <p:spPr>
          <a:xfrm>
            <a:off x="5056632" y="3776472"/>
            <a:ext cx="594360" cy="548640"/>
          </a:xfrm>
          <a:prstGeom prst="rect">
            <a:avLst/>
          </a:prstGeom>
          <a:noFill/>
        </p:spPr>
        <p:txBody>
          <a:bodyPr wrap="square" lIns="0" rIns="0" tIns="0" bIns="0">
            <a:spAutoFit/>
          </a:bodyPr>
          <a:lstStyle/>
          <a:p>
            <a:pPr>
              <a:spcAft>
                <a:spcPts val="600"/>
              </a:spcAft>
              <a:defRPr sz="3600" b="1">
                <a:solidFill>
                  <a:srgbClr val="C6532C"/>
                </a:solidFill>
                <a:latin typeface="Arial"/>
              </a:defRPr>
            </a:pPr>
            <a:r>
              <a:t>→</a:t>
            </a:r>
          </a:p>
        </p:txBody>
      </p:sp>
      <p:sp>
        <p:nvSpPr>
          <p:cNvPr id="34" name="Rounded Rectangle 33"/>
          <p:cNvSpPr/>
          <p:nvPr/>
        </p:nvSpPr>
        <p:spPr>
          <a:xfrm>
            <a:off x="6126480" y="2194560"/>
            <a:ext cx="5422392" cy="3959352"/>
          </a:xfrm>
          <a:prstGeom prst="roundRect">
            <a:avLst>
              <a:gd name="adj" fmla="val 8000"/>
            </a:avLst>
          </a:prstGeom>
          <a:solidFill>
            <a:srgbClr val="171717"/>
          </a:solidFill>
          <a:ln>
            <a:noFill/>
          </a:ln>
        </p:spPr>
        <p:txBody>
          <a:bodyPr rtlCol="0" anchor="ctr"/>
          <a:lstStyle/>
          <a:p>
            <a:pPr algn="ctr"/>
          </a:p>
        </p:txBody>
      </p:sp>
      <p:sp>
        <p:nvSpPr>
          <p:cNvPr id="35" name="TextBox 34"/>
          <p:cNvSpPr txBox="1"/>
          <p:nvPr/>
        </p:nvSpPr>
        <p:spPr>
          <a:xfrm>
            <a:off x="6419088" y="2468880"/>
            <a:ext cx="4754880" cy="594360"/>
          </a:xfrm>
          <a:prstGeom prst="rect">
            <a:avLst/>
          </a:prstGeom>
          <a:noFill/>
        </p:spPr>
        <p:txBody>
          <a:bodyPr wrap="square" lIns="0" rIns="0" tIns="0" bIns="0">
            <a:spAutoFit/>
          </a:bodyPr>
          <a:lstStyle/>
          <a:p>
            <a:pPr>
              <a:spcAft>
                <a:spcPts val="600"/>
              </a:spcAft>
              <a:defRPr sz="3100" b="1">
                <a:solidFill>
                  <a:srgbClr val="FFFFFF"/>
                </a:solidFill>
                <a:latin typeface="Arial"/>
              </a:defRPr>
            </a:pPr>
            <a:r>
              <a:t>With ProofPak</a:t>
            </a:r>
          </a:p>
        </p:txBody>
      </p:sp>
      <p:cxnSp>
        <p:nvCxnSpPr>
          <p:cNvPr id="36" name="Connector 35"/>
          <p:cNvCxnSpPr/>
          <p:nvPr/>
        </p:nvCxnSpPr>
        <p:spPr>
          <a:xfrm>
            <a:off x="6522232" y="3293851"/>
            <a:ext cx="269199" cy="0"/>
          </a:xfrm>
          <a:prstGeom prst="line">
            <a:avLst/>
          </a:prstGeom>
          <a:ln w="21590">
            <a:solidFill>
              <a:srgbClr val="FFFFFF"/>
            </a:solidFill>
          </a:ln>
        </p:spPr>
      </p:cxnSp>
      <p:cxnSp>
        <p:nvCxnSpPr>
          <p:cNvPr id="37" name="Connector 36"/>
          <p:cNvCxnSpPr/>
          <p:nvPr/>
        </p:nvCxnSpPr>
        <p:spPr>
          <a:xfrm>
            <a:off x="6791431" y="3293851"/>
            <a:ext cx="0" cy="353324"/>
          </a:xfrm>
          <a:prstGeom prst="line">
            <a:avLst/>
          </a:prstGeom>
          <a:ln w="21590">
            <a:solidFill>
              <a:srgbClr val="FFFFFF"/>
            </a:solidFill>
          </a:ln>
        </p:spPr>
      </p:cxnSp>
      <p:cxnSp>
        <p:nvCxnSpPr>
          <p:cNvPr id="38" name="Connector 37"/>
          <p:cNvCxnSpPr/>
          <p:nvPr/>
        </p:nvCxnSpPr>
        <p:spPr>
          <a:xfrm flipH="1">
            <a:off x="6522232" y="3647175"/>
            <a:ext cx="269199" cy="0"/>
          </a:xfrm>
          <a:prstGeom prst="line">
            <a:avLst/>
          </a:prstGeom>
          <a:ln w="21590">
            <a:solidFill>
              <a:srgbClr val="FFFFFF"/>
            </a:solidFill>
          </a:ln>
        </p:spPr>
      </p:cxnSp>
      <p:cxnSp>
        <p:nvCxnSpPr>
          <p:cNvPr id="39" name="Connector 38"/>
          <p:cNvCxnSpPr/>
          <p:nvPr/>
        </p:nvCxnSpPr>
        <p:spPr>
          <a:xfrm flipV="1">
            <a:off x="6522232" y="3293851"/>
            <a:ext cx="0" cy="353324"/>
          </a:xfrm>
          <a:prstGeom prst="line">
            <a:avLst/>
          </a:prstGeom>
          <a:ln w="21590">
            <a:solidFill>
              <a:srgbClr val="FFFFFF"/>
            </a:solidFill>
          </a:ln>
        </p:spPr>
      </p:cxnSp>
      <p:sp>
        <p:nvSpPr>
          <p:cNvPr id="40" name="Oval 39"/>
          <p:cNvSpPr/>
          <p:nvPr/>
        </p:nvSpPr>
        <p:spPr>
          <a:xfrm>
            <a:off x="6597944" y="3369564"/>
            <a:ext cx="113568" cy="113568"/>
          </a:xfrm>
          <a:prstGeom prst="ellipse">
            <a:avLst/>
          </a:prstGeom>
          <a:solidFill>
            <a:srgbClr val="FFFFFF"/>
          </a:solidFill>
          <a:ln>
            <a:noFill/>
          </a:ln>
        </p:spPr>
        <p:txBody>
          <a:bodyPr rtlCol="0" anchor="ctr"/>
          <a:lstStyle/>
          <a:p>
            <a:pPr algn="ctr"/>
          </a:p>
        </p:txBody>
      </p:sp>
      <p:cxnSp>
        <p:nvCxnSpPr>
          <p:cNvPr id="41" name="Connector 40"/>
          <p:cNvCxnSpPr/>
          <p:nvPr/>
        </p:nvCxnSpPr>
        <p:spPr>
          <a:xfrm>
            <a:off x="6581119" y="3542019"/>
            <a:ext cx="151425" cy="0"/>
          </a:xfrm>
          <a:prstGeom prst="line">
            <a:avLst/>
          </a:prstGeom>
          <a:ln w="21590">
            <a:solidFill>
              <a:srgbClr val="FFFFFF"/>
            </a:solidFill>
          </a:ln>
        </p:spPr>
      </p:cxnSp>
      <p:cxnSp>
        <p:nvCxnSpPr>
          <p:cNvPr id="42" name="Connector 41"/>
          <p:cNvCxnSpPr/>
          <p:nvPr/>
        </p:nvCxnSpPr>
        <p:spPr>
          <a:xfrm>
            <a:off x="6581119" y="3588288"/>
            <a:ext cx="151425" cy="0"/>
          </a:xfrm>
          <a:prstGeom prst="line">
            <a:avLst/>
          </a:prstGeom>
          <a:ln w="21590">
            <a:solidFill>
              <a:srgbClr val="FFFFFF"/>
            </a:solidFill>
          </a:ln>
        </p:spPr>
      </p:cxnSp>
      <p:sp>
        <p:nvSpPr>
          <p:cNvPr id="43" name="TextBox 42"/>
          <p:cNvSpPr txBox="1"/>
          <p:nvPr/>
        </p:nvSpPr>
        <p:spPr>
          <a:xfrm>
            <a:off x="7168896" y="3246120"/>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One professional record</a:t>
            </a:r>
          </a:p>
        </p:txBody>
      </p:sp>
      <p:sp>
        <p:nvSpPr>
          <p:cNvPr id="44" name="TextBox 43"/>
          <p:cNvSpPr txBox="1"/>
          <p:nvPr/>
        </p:nvSpPr>
        <p:spPr>
          <a:xfrm>
            <a:off x="7168896" y="3703320"/>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Skills, evidence and completed work.</a:t>
            </a:r>
          </a:p>
        </p:txBody>
      </p:sp>
      <p:cxnSp>
        <p:nvCxnSpPr>
          <p:cNvPr id="45" name="Connector 44"/>
          <p:cNvCxnSpPr/>
          <p:nvPr/>
        </p:nvCxnSpPr>
        <p:spPr>
          <a:xfrm flipH="1">
            <a:off x="6551676" y="4239158"/>
            <a:ext cx="63093" cy="336499"/>
          </a:xfrm>
          <a:prstGeom prst="line">
            <a:avLst/>
          </a:prstGeom>
          <a:ln w="21590">
            <a:solidFill>
              <a:srgbClr val="FFFFFF"/>
            </a:solidFill>
          </a:ln>
        </p:spPr>
      </p:cxnSp>
      <p:cxnSp>
        <p:nvCxnSpPr>
          <p:cNvPr id="46" name="Connector 45"/>
          <p:cNvCxnSpPr/>
          <p:nvPr/>
        </p:nvCxnSpPr>
        <p:spPr>
          <a:xfrm flipH="1">
            <a:off x="6698894" y="4239158"/>
            <a:ext cx="63094" cy="336499"/>
          </a:xfrm>
          <a:prstGeom prst="line">
            <a:avLst/>
          </a:prstGeom>
          <a:ln w="21590">
            <a:solidFill>
              <a:srgbClr val="FFFFFF"/>
            </a:solidFill>
          </a:ln>
        </p:spPr>
      </p:cxnSp>
      <p:cxnSp>
        <p:nvCxnSpPr>
          <p:cNvPr id="47" name="Connector 46"/>
          <p:cNvCxnSpPr/>
          <p:nvPr/>
        </p:nvCxnSpPr>
        <p:spPr>
          <a:xfrm>
            <a:off x="6488582" y="4352726"/>
            <a:ext cx="344912" cy="0"/>
          </a:xfrm>
          <a:prstGeom prst="line">
            <a:avLst/>
          </a:prstGeom>
          <a:ln w="21590">
            <a:solidFill>
              <a:srgbClr val="FFFFFF"/>
            </a:solidFill>
          </a:ln>
        </p:spPr>
      </p:cxnSp>
      <p:cxnSp>
        <p:nvCxnSpPr>
          <p:cNvPr id="48" name="Connector 47"/>
          <p:cNvCxnSpPr/>
          <p:nvPr/>
        </p:nvCxnSpPr>
        <p:spPr>
          <a:xfrm>
            <a:off x="6467551" y="4470501"/>
            <a:ext cx="344911" cy="0"/>
          </a:xfrm>
          <a:prstGeom prst="line">
            <a:avLst/>
          </a:prstGeom>
          <a:ln w="21590">
            <a:solidFill>
              <a:srgbClr val="FFFFFF"/>
            </a:solidFill>
          </a:ln>
        </p:spPr>
      </p:cxnSp>
      <p:sp>
        <p:nvSpPr>
          <p:cNvPr id="49" name="TextBox 48"/>
          <p:cNvSpPr txBox="1"/>
          <p:nvPr/>
        </p:nvSpPr>
        <p:spPr>
          <a:xfrm>
            <a:off x="7168896" y="4178808"/>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Clear sources</a:t>
            </a:r>
          </a:p>
        </p:txBody>
      </p:sp>
      <p:sp>
        <p:nvSpPr>
          <p:cNvPr id="50" name="TextBox 49"/>
          <p:cNvSpPr txBox="1"/>
          <p:nvPr/>
        </p:nvSpPr>
        <p:spPr>
          <a:xfrm>
            <a:off x="7168896" y="4636008"/>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Your claims and issued credentials.</a:t>
            </a:r>
          </a:p>
        </p:txBody>
      </p:sp>
      <p:cxnSp>
        <p:nvCxnSpPr>
          <p:cNvPr id="51" name="Connector 50"/>
          <p:cNvCxnSpPr/>
          <p:nvPr/>
        </p:nvCxnSpPr>
        <p:spPr>
          <a:xfrm>
            <a:off x="6522232" y="5159227"/>
            <a:ext cx="269199" cy="0"/>
          </a:xfrm>
          <a:prstGeom prst="line">
            <a:avLst/>
          </a:prstGeom>
          <a:ln w="21590">
            <a:solidFill>
              <a:srgbClr val="FFFFFF"/>
            </a:solidFill>
          </a:ln>
        </p:spPr>
      </p:cxnSp>
      <p:cxnSp>
        <p:nvCxnSpPr>
          <p:cNvPr id="52" name="Connector 51"/>
          <p:cNvCxnSpPr/>
          <p:nvPr/>
        </p:nvCxnSpPr>
        <p:spPr>
          <a:xfrm>
            <a:off x="6791431" y="5159227"/>
            <a:ext cx="0" cy="353324"/>
          </a:xfrm>
          <a:prstGeom prst="line">
            <a:avLst/>
          </a:prstGeom>
          <a:ln w="21590">
            <a:solidFill>
              <a:srgbClr val="FFFFFF"/>
            </a:solidFill>
          </a:ln>
        </p:spPr>
      </p:cxnSp>
      <p:cxnSp>
        <p:nvCxnSpPr>
          <p:cNvPr id="53" name="Connector 52"/>
          <p:cNvCxnSpPr/>
          <p:nvPr/>
        </p:nvCxnSpPr>
        <p:spPr>
          <a:xfrm flipH="1">
            <a:off x="6522232" y="5512551"/>
            <a:ext cx="269199" cy="0"/>
          </a:xfrm>
          <a:prstGeom prst="line">
            <a:avLst/>
          </a:prstGeom>
          <a:ln w="21590">
            <a:solidFill>
              <a:srgbClr val="FFFFFF"/>
            </a:solidFill>
          </a:ln>
        </p:spPr>
      </p:cxnSp>
      <p:cxnSp>
        <p:nvCxnSpPr>
          <p:cNvPr id="54" name="Connector 53"/>
          <p:cNvCxnSpPr/>
          <p:nvPr/>
        </p:nvCxnSpPr>
        <p:spPr>
          <a:xfrm flipV="1">
            <a:off x="6522232" y="5159227"/>
            <a:ext cx="0" cy="353324"/>
          </a:xfrm>
          <a:prstGeom prst="line">
            <a:avLst/>
          </a:prstGeom>
          <a:ln w="21590">
            <a:solidFill>
              <a:srgbClr val="FFFFFF"/>
            </a:solidFill>
          </a:ln>
        </p:spPr>
      </p:cxnSp>
      <p:sp>
        <p:nvSpPr>
          <p:cNvPr id="55" name="Oval 54"/>
          <p:cNvSpPr/>
          <p:nvPr/>
        </p:nvSpPr>
        <p:spPr>
          <a:xfrm>
            <a:off x="6589532" y="5239146"/>
            <a:ext cx="134599" cy="134599"/>
          </a:xfrm>
          <a:prstGeom prst="ellipse">
            <a:avLst/>
          </a:prstGeom>
          <a:solidFill>
            <a:srgbClr val="FFFFFF"/>
          </a:solidFill>
          <a:ln>
            <a:noFill/>
          </a:ln>
        </p:spPr>
        <p:txBody>
          <a:bodyPr rtlCol="0" anchor="ctr"/>
          <a:lstStyle/>
          <a:p>
            <a:pPr algn="ctr"/>
          </a:p>
        </p:txBody>
      </p:sp>
      <p:cxnSp>
        <p:nvCxnSpPr>
          <p:cNvPr id="56" name="Connector 55"/>
          <p:cNvCxnSpPr/>
          <p:nvPr/>
        </p:nvCxnSpPr>
        <p:spPr>
          <a:xfrm flipH="1">
            <a:off x="6589532" y="5373745"/>
            <a:ext cx="25237" cy="84125"/>
          </a:xfrm>
          <a:prstGeom prst="line">
            <a:avLst/>
          </a:prstGeom>
          <a:ln w="21590">
            <a:solidFill>
              <a:srgbClr val="FFFFFF"/>
            </a:solidFill>
          </a:ln>
        </p:spPr>
      </p:cxnSp>
      <p:cxnSp>
        <p:nvCxnSpPr>
          <p:cNvPr id="57" name="Connector 56"/>
          <p:cNvCxnSpPr/>
          <p:nvPr/>
        </p:nvCxnSpPr>
        <p:spPr>
          <a:xfrm>
            <a:off x="6690481" y="5373745"/>
            <a:ext cx="25238" cy="84125"/>
          </a:xfrm>
          <a:prstGeom prst="line">
            <a:avLst/>
          </a:prstGeom>
          <a:ln w="21590">
            <a:solidFill>
              <a:srgbClr val="FFFFFF"/>
            </a:solidFill>
          </a:ln>
        </p:spPr>
      </p:cxnSp>
      <p:sp>
        <p:nvSpPr>
          <p:cNvPr id="58" name="TextBox 57"/>
          <p:cNvSpPr txBox="1"/>
          <p:nvPr/>
        </p:nvSpPr>
        <p:spPr>
          <a:xfrm>
            <a:off x="7168896" y="5111496"/>
            <a:ext cx="4114800" cy="411480"/>
          </a:xfrm>
          <a:prstGeom prst="rect">
            <a:avLst/>
          </a:prstGeom>
          <a:noFill/>
        </p:spPr>
        <p:txBody>
          <a:bodyPr wrap="square" lIns="0" rIns="0" tIns="0" bIns="0">
            <a:spAutoFit/>
          </a:bodyPr>
          <a:lstStyle/>
          <a:p>
            <a:pPr>
              <a:spcAft>
                <a:spcPts val="600"/>
              </a:spcAft>
              <a:defRPr sz="2400" b="1">
                <a:solidFill>
                  <a:srgbClr val="FFFFFF"/>
                </a:solidFill>
                <a:latin typeface="Arial"/>
              </a:defRPr>
            </a:pPr>
            <a:r>
              <a:t>Reputation that grows</a:t>
            </a:r>
          </a:p>
        </p:txBody>
      </p:sp>
      <p:sp>
        <p:nvSpPr>
          <p:cNvPr id="59" name="TextBox 58"/>
          <p:cNvSpPr txBox="1"/>
          <p:nvPr/>
        </p:nvSpPr>
        <p:spPr>
          <a:xfrm>
            <a:off x="7168896" y="5568696"/>
            <a:ext cx="4041648" cy="502920"/>
          </a:xfrm>
          <a:prstGeom prst="rect">
            <a:avLst/>
          </a:prstGeom>
          <a:noFill/>
        </p:spPr>
        <p:txBody>
          <a:bodyPr wrap="square" lIns="0" rIns="0" tIns="0" bIns="0">
            <a:spAutoFit/>
          </a:bodyPr>
          <a:lstStyle/>
          <a:p>
            <a:pPr>
              <a:spcAft>
                <a:spcPts val="600"/>
              </a:spcAft>
              <a:defRPr sz="1800" b="0">
                <a:solidFill>
                  <a:srgbClr val="FFFFFF"/>
                </a:solidFill>
                <a:latin typeface="Arial"/>
              </a:defRPr>
            </a:pPr>
            <a:r>
              <a:t>Each achievement adds context.</a:t>
            </a:r>
          </a:p>
        </p:txBody>
      </p:sp>
      <p:sp>
        <p:nvSpPr>
          <p:cNvPr id="60" name="TextBox 59"/>
          <p:cNvSpPr txBox="1"/>
          <p:nvPr/>
        </p:nvSpPr>
        <p:spPr>
          <a:xfrm>
            <a:off x="685800" y="6437376"/>
            <a:ext cx="10881360" cy="365760"/>
          </a:xfrm>
          <a:prstGeom prst="rect">
            <a:avLst/>
          </a:prstGeom>
          <a:noFill/>
        </p:spPr>
        <p:txBody>
          <a:bodyPr wrap="square" lIns="0" rIns="0" tIns="0" bIns="0">
            <a:spAutoFit/>
          </a:bodyPr>
          <a:lstStyle/>
          <a:p>
            <a:pPr>
              <a:spcAft>
                <a:spcPts val="600"/>
              </a:spcAft>
              <a:defRPr sz="2000" b="1">
                <a:solidFill>
                  <a:srgbClr val="171717"/>
                </a:solidFill>
                <a:latin typeface="Arial"/>
              </a:defRPr>
            </a:pPr>
            <a:r>
              <a:t>Carry your work forward into the next opportunity.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100" b="1">
                <a:solidFill>
                  <a:srgbClr val="171717"/>
                </a:solidFill>
                <a:latin typeface="Arial"/>
              </a:defRPr>
            </a:pPr>
            <a:r>
              <a:t>A working product.</a:t>
            </a:r>
          </a:p>
          <a:p>
            <a:pPr>
              <a:spcAft>
                <a:spcPts val="600"/>
              </a:spcAft>
              <a:defRPr sz="4100" b="1">
                <a:solidFill>
                  <a:srgbClr val="171717"/>
                </a:solidFill>
                <a:latin typeface="Arial"/>
              </a:defRPr>
            </a:pPr>
            <a:r>
              <a:t>Ready for real-user testing.</a:t>
            </a:r>
          </a:p>
        </p:txBody>
      </p:sp>
      <p:sp>
        <p:nvSpPr>
          <p:cNvPr id="3" name="Rounded Rectangle 2"/>
          <p:cNvSpPr/>
          <p:nvPr/>
        </p:nvSpPr>
        <p:spPr>
          <a:xfrm>
            <a:off x="557784" y="2029967"/>
            <a:ext cx="5833872" cy="4261104"/>
          </a:xfrm>
          <a:prstGeom prst="roundRect">
            <a:avLst>
              <a:gd name="adj" fmla="val 8000"/>
            </a:avLst>
          </a:prstGeom>
          <a:solidFill>
            <a:srgbClr val="FFFFFF"/>
          </a:solidFill>
          <a:ln>
            <a:noFill/>
          </a:ln>
        </p:spPr>
        <p:txBody>
          <a:bodyPr rtlCol="0" anchor="ctr"/>
          <a:lstStyle/>
          <a:p>
            <a:pPr algn="ctr"/>
          </a:p>
        </p:txBody>
      </p:sp>
      <p:pic>
        <p:nvPicPr>
          <p:cNvPr id="4" name="Picture 3" descr="improved-passport.png"/>
          <p:cNvPicPr>
            <a:picLocks noChangeAspect="1"/>
          </p:cNvPicPr>
          <p:nvPr/>
        </p:nvPicPr>
        <p:blipFill>
          <a:blip r:embed="rId2"/>
          <a:stretch>
            <a:fillRect/>
          </a:stretch>
        </p:blipFill>
        <p:spPr>
          <a:xfrm>
            <a:off x="594360" y="2487071"/>
            <a:ext cx="5760720" cy="3346897"/>
          </a:xfrm>
          <a:prstGeom prst="rect">
            <a:avLst/>
          </a:prstGeom>
        </p:spPr>
      </p:pic>
      <p:sp>
        <p:nvSpPr>
          <p:cNvPr id="5" name="TextBox 4"/>
          <p:cNvSpPr txBox="1"/>
          <p:nvPr/>
        </p:nvSpPr>
        <p:spPr>
          <a:xfrm>
            <a:off x="621792" y="6382512"/>
            <a:ext cx="5669280" cy="393192"/>
          </a:xfrm>
          <a:prstGeom prst="rect">
            <a:avLst/>
          </a:prstGeom>
          <a:noFill/>
        </p:spPr>
        <p:txBody>
          <a:bodyPr wrap="square" lIns="0" rIns="0" tIns="0" bIns="0">
            <a:spAutoFit/>
          </a:bodyPr>
          <a:lstStyle/>
          <a:p>
            <a:pPr>
              <a:spcAft>
                <a:spcPts val="600"/>
              </a:spcAft>
              <a:defRPr sz="2200" b="1">
                <a:solidFill>
                  <a:srgbClr val="171717"/>
                </a:solidFill>
                <a:latin typeface="Arial"/>
              </a:defRPr>
            </a:pPr>
            <a:r>
              <a:t>Skill Passport</a:t>
            </a:r>
          </a:p>
        </p:txBody>
      </p:sp>
      <p:sp>
        <p:nvSpPr>
          <p:cNvPr id="6" name="Rounded Rectangle 5"/>
          <p:cNvSpPr/>
          <p:nvPr/>
        </p:nvSpPr>
        <p:spPr>
          <a:xfrm>
            <a:off x="6803136" y="2039112"/>
            <a:ext cx="4800600" cy="1783080"/>
          </a:xfrm>
          <a:prstGeom prst="roundRect">
            <a:avLst>
              <a:gd name="adj" fmla="val 8000"/>
            </a:avLst>
          </a:prstGeom>
          <a:solidFill>
            <a:srgbClr val="FFFFFF"/>
          </a:solidFill>
          <a:ln>
            <a:noFill/>
          </a:ln>
        </p:spPr>
        <p:txBody>
          <a:bodyPr rtlCol="0" anchor="ctr"/>
          <a:lstStyle/>
          <a:p>
            <a:pPr algn="ctr"/>
          </a:p>
        </p:txBody>
      </p:sp>
      <p:pic>
        <p:nvPicPr>
          <p:cNvPr id="7" name="Picture 6" descr="credential-focus.png"/>
          <p:cNvPicPr>
            <a:picLocks noChangeAspect="1"/>
          </p:cNvPicPr>
          <p:nvPr/>
        </p:nvPicPr>
        <p:blipFill>
          <a:blip r:embed="rId3"/>
          <a:stretch>
            <a:fillRect/>
          </a:stretch>
        </p:blipFill>
        <p:spPr>
          <a:xfrm>
            <a:off x="7810849" y="2075688"/>
            <a:ext cx="2785173" cy="1709928"/>
          </a:xfrm>
          <a:prstGeom prst="rect">
            <a:avLst/>
          </a:prstGeom>
        </p:spPr>
      </p:pic>
      <p:sp>
        <p:nvSpPr>
          <p:cNvPr id="8" name="TextBox 7"/>
          <p:cNvSpPr txBox="1"/>
          <p:nvPr/>
        </p:nvSpPr>
        <p:spPr>
          <a:xfrm>
            <a:off x="6839712" y="3895344"/>
            <a:ext cx="4727448" cy="393192"/>
          </a:xfrm>
          <a:prstGeom prst="rect">
            <a:avLst/>
          </a:prstGeom>
          <a:noFill/>
        </p:spPr>
        <p:txBody>
          <a:bodyPr wrap="square" lIns="0" rIns="0" tIns="0" bIns="0">
            <a:spAutoFit/>
          </a:bodyPr>
          <a:lstStyle/>
          <a:p>
            <a:pPr>
              <a:spcAft>
                <a:spcPts val="600"/>
              </a:spcAft>
              <a:defRPr sz="2000" b="1">
                <a:solidFill>
                  <a:srgbClr val="171717"/>
                </a:solidFill>
                <a:latin typeface="Arial"/>
              </a:defRPr>
            </a:pPr>
            <a:r>
              <a:t>Credential presentation</a:t>
            </a:r>
          </a:p>
        </p:txBody>
      </p:sp>
      <p:sp>
        <p:nvSpPr>
          <p:cNvPr id="9" name="Rounded Rectangle 8"/>
          <p:cNvSpPr/>
          <p:nvPr/>
        </p:nvSpPr>
        <p:spPr>
          <a:xfrm>
            <a:off x="6803136" y="4498848"/>
            <a:ext cx="4800600" cy="1773936"/>
          </a:xfrm>
          <a:prstGeom prst="roundRect">
            <a:avLst>
              <a:gd name="adj" fmla="val 8000"/>
            </a:avLst>
          </a:prstGeom>
          <a:solidFill>
            <a:srgbClr val="FFFFFF"/>
          </a:solidFill>
          <a:ln>
            <a:noFill/>
          </a:ln>
        </p:spPr>
        <p:txBody>
          <a:bodyPr rtlCol="0" anchor="ctr"/>
          <a:lstStyle/>
          <a:p>
            <a:pPr algn="ctr"/>
          </a:p>
        </p:txBody>
      </p:sp>
      <p:pic>
        <p:nvPicPr>
          <p:cNvPr id="10" name="Picture 9" descr="final-milestones.png"/>
          <p:cNvPicPr>
            <a:picLocks noChangeAspect="1"/>
          </p:cNvPicPr>
          <p:nvPr/>
        </p:nvPicPr>
        <p:blipFill>
          <a:blip r:embed="rId4"/>
          <a:stretch>
            <a:fillRect/>
          </a:stretch>
        </p:blipFill>
        <p:spPr>
          <a:xfrm>
            <a:off x="6839712" y="4545195"/>
            <a:ext cx="4727448" cy="1681240"/>
          </a:xfrm>
          <a:prstGeom prst="rect">
            <a:avLst/>
          </a:prstGeom>
        </p:spPr>
      </p:pic>
      <p:sp>
        <p:nvSpPr>
          <p:cNvPr id="11" name="TextBox 10"/>
          <p:cNvSpPr txBox="1"/>
          <p:nvPr/>
        </p:nvSpPr>
        <p:spPr>
          <a:xfrm>
            <a:off x="6839712" y="6382512"/>
            <a:ext cx="4727448" cy="393192"/>
          </a:xfrm>
          <a:prstGeom prst="rect">
            <a:avLst/>
          </a:prstGeom>
          <a:noFill/>
        </p:spPr>
        <p:txBody>
          <a:bodyPr wrap="square" lIns="0" rIns="0" tIns="0" bIns="0">
            <a:spAutoFit/>
          </a:bodyPr>
          <a:lstStyle/>
          <a:p>
            <a:pPr>
              <a:spcAft>
                <a:spcPts val="600"/>
              </a:spcAft>
              <a:defRPr sz="2000" b="1">
                <a:solidFill>
                  <a:srgbClr val="171717"/>
                </a:solidFill>
                <a:latin typeface="Arial"/>
              </a:defRPr>
            </a:pPr>
            <a:r>
              <a:t>Paid-project workflow</a:t>
            </a:r>
          </a:p>
        </p:txBody>
      </p:sp>
      <p:sp>
        <p:nvSpPr>
          <p:cNvPr id="12" name="Rounded Rectangle 11"/>
          <p:cNvSpPr/>
          <p:nvPr/>
        </p:nvSpPr>
        <p:spPr>
          <a:xfrm>
            <a:off x="8138160" y="1490472"/>
            <a:ext cx="3429000" cy="365760"/>
          </a:xfrm>
          <a:prstGeom prst="roundRect">
            <a:avLst>
              <a:gd name="adj" fmla="val 8000"/>
            </a:avLst>
          </a:prstGeom>
          <a:solidFill>
            <a:srgbClr val="E7DECF"/>
          </a:solidFill>
          <a:ln>
            <a:noFill/>
          </a:ln>
        </p:spPr>
        <p:txBody>
          <a:bodyPr rtlCol="0" anchor="ctr"/>
          <a:lstStyle/>
          <a:p>
            <a:pPr algn="ctr"/>
          </a:p>
        </p:txBody>
      </p:sp>
      <p:sp>
        <p:nvSpPr>
          <p:cNvPr id="13" name="TextBox 12"/>
          <p:cNvSpPr txBox="1"/>
          <p:nvPr/>
        </p:nvSpPr>
        <p:spPr>
          <a:xfrm>
            <a:off x="8247888" y="1572768"/>
            <a:ext cx="3209544" cy="219456"/>
          </a:xfrm>
          <a:prstGeom prst="rect">
            <a:avLst/>
          </a:prstGeom>
          <a:noFill/>
        </p:spPr>
        <p:txBody>
          <a:bodyPr wrap="square" lIns="0" rIns="0" tIns="0" bIns="0">
            <a:spAutoFit/>
          </a:bodyPr>
          <a:lstStyle/>
          <a:p>
            <a:pPr>
              <a:spcAft>
                <a:spcPts val="600"/>
              </a:spcAft>
              <a:defRPr sz="1100" b="1">
                <a:solidFill>
                  <a:srgbClr val="171717"/>
                </a:solidFill>
                <a:latin typeface="Arial"/>
              </a:defRPr>
            </a:pPr>
            <a:r>
              <a:t>DEMO + OFFLINE FIXTURE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005840"/>
          </a:xfrm>
          <a:prstGeom prst="rect">
            <a:avLst/>
          </a:prstGeom>
          <a:noFill/>
        </p:spPr>
        <p:txBody>
          <a:bodyPr wrap="square" lIns="0" rIns="0" tIns="0" bIns="0">
            <a:spAutoFit/>
          </a:bodyPr>
          <a:lstStyle/>
          <a:p>
            <a:pPr>
              <a:spcAft>
                <a:spcPts val="600"/>
              </a:spcAft>
              <a:defRPr sz="3900" b="1">
                <a:solidFill>
                  <a:srgbClr val="171717"/>
                </a:solidFill>
                <a:latin typeface="Arial"/>
              </a:defRPr>
            </a:pPr>
            <a:r>
              <a:t>Starting with Pakistan’s skilled talent.</a:t>
            </a:r>
          </a:p>
        </p:txBody>
      </p:sp>
      <p:sp>
        <p:nvSpPr>
          <p:cNvPr id="3" name="Rounded Rectangle 2"/>
          <p:cNvSpPr/>
          <p:nvPr/>
        </p:nvSpPr>
        <p:spPr>
          <a:xfrm>
            <a:off x="612648" y="1874519"/>
            <a:ext cx="4096512" cy="4562856"/>
          </a:xfrm>
          <a:prstGeom prst="roundRect">
            <a:avLst>
              <a:gd name="adj" fmla="val 8000"/>
            </a:avLst>
          </a:prstGeom>
          <a:solidFill>
            <a:srgbClr val="E7DECF"/>
          </a:solidFill>
          <a:ln>
            <a:noFill/>
          </a:ln>
        </p:spPr>
        <p:txBody>
          <a:bodyPr rtlCol="0" anchor="ctr"/>
          <a:lstStyle/>
          <a:p>
            <a:pPr algn="ctr"/>
          </a:p>
        </p:txBody>
      </p:sp>
      <p:sp>
        <p:nvSpPr>
          <p:cNvPr id="4" name="Freeform 3"/>
          <p:cNvSpPr/>
          <p:nvPr/>
        </p:nvSpPr>
        <p:spPr>
          <a:xfrm>
            <a:off x="896112" y="2084831"/>
            <a:ext cx="3429000" cy="2716682"/>
          </a:xfrm>
          <a:custGeom>
            <a:avLst/>
            <a:gdLst/>
            <a:ahLst/>
            <a:cxnLst/>
            <a:rect l="l" t="t" r="r" b="b"/>
            <a:pathLst>
              <a:path w="3750" h="2971">
                <a:moveTo>
                  <a:pt x="3750" y="362"/>
                </a:moveTo>
                <a:lnTo>
                  <a:pt x="3537" y="548"/>
                </a:lnTo>
                <a:lnTo>
                  <a:pt x="3290" y="581"/>
                </a:lnTo>
                <a:lnTo>
                  <a:pt x="2955" y="527"/>
                </a:lnTo>
                <a:lnTo>
                  <a:pt x="2846" y="622"/>
                </a:lnTo>
                <a:lnTo>
                  <a:pt x="2925" y="816"/>
                </a:lnTo>
                <a:lnTo>
                  <a:pt x="3001" y="966"/>
                </a:lnTo>
                <a:lnTo>
                  <a:pt x="3180" y="1075"/>
                </a:lnTo>
                <a:lnTo>
                  <a:pt x="2991" y="1203"/>
                </a:lnTo>
                <a:lnTo>
                  <a:pt x="2995" y="1360"/>
                </a:lnTo>
                <a:lnTo>
                  <a:pt x="2780" y="1582"/>
                </a:lnTo>
                <a:lnTo>
                  <a:pt x="2642" y="1806"/>
                </a:lnTo>
                <a:lnTo>
                  <a:pt x="2410" y="2038"/>
                </a:lnTo>
                <a:lnTo>
                  <a:pt x="2154" y="2021"/>
                </a:lnTo>
                <a:lnTo>
                  <a:pt x="1910" y="2253"/>
                </a:lnTo>
                <a:lnTo>
                  <a:pt x="2055" y="2352"/>
                </a:lnTo>
                <a:lnTo>
                  <a:pt x="2080" y="2523"/>
                </a:lnTo>
                <a:lnTo>
                  <a:pt x="2204" y="2635"/>
                </a:lnTo>
                <a:lnTo>
                  <a:pt x="2248" y="2824"/>
                </a:lnTo>
                <a:lnTo>
                  <a:pt x="1762" y="2824"/>
                </a:lnTo>
                <a:lnTo>
                  <a:pt x="1614" y="2971"/>
                </a:lnTo>
                <a:lnTo>
                  <a:pt x="1452" y="2915"/>
                </a:lnTo>
                <a:lnTo>
                  <a:pt x="1386" y="2757"/>
                </a:lnTo>
                <a:lnTo>
                  <a:pt x="1216" y="2588"/>
                </a:lnTo>
                <a:lnTo>
                  <a:pt x="808" y="2630"/>
                </a:lnTo>
                <a:lnTo>
                  <a:pt x="449" y="2634"/>
                </a:lnTo>
                <a:lnTo>
                  <a:pt x="138" y="2665"/>
                </a:lnTo>
                <a:lnTo>
                  <a:pt x="221" y="2408"/>
                </a:lnTo>
                <a:lnTo>
                  <a:pt x="540" y="2294"/>
                </a:lnTo>
                <a:lnTo>
                  <a:pt x="522" y="2192"/>
                </a:lnTo>
                <a:lnTo>
                  <a:pt x="416" y="2156"/>
                </a:lnTo>
                <a:lnTo>
                  <a:pt x="410" y="1962"/>
                </a:lnTo>
                <a:lnTo>
                  <a:pt x="198" y="1864"/>
                </a:lnTo>
                <a:lnTo>
                  <a:pt x="109" y="1731"/>
                </a:lnTo>
                <a:lnTo>
                  <a:pt x="0" y="1615"/>
                </a:lnTo>
                <a:lnTo>
                  <a:pt x="370" y="1728"/>
                </a:lnTo>
                <a:lnTo>
                  <a:pt x="592" y="1694"/>
                </a:lnTo>
                <a:lnTo>
                  <a:pt x="724" y="1723"/>
                </a:lnTo>
                <a:lnTo>
                  <a:pt x="768" y="1674"/>
                </a:lnTo>
                <a:lnTo>
                  <a:pt x="922" y="1694"/>
                </a:lnTo>
                <a:lnTo>
                  <a:pt x="1210" y="1602"/>
                </a:lnTo>
                <a:lnTo>
                  <a:pt x="1217" y="1414"/>
                </a:lnTo>
                <a:lnTo>
                  <a:pt x="1341" y="1288"/>
                </a:lnTo>
                <a:lnTo>
                  <a:pt x="1505" y="1289"/>
                </a:lnTo>
                <a:lnTo>
                  <a:pt x="1529" y="1227"/>
                </a:lnTo>
                <a:lnTo>
                  <a:pt x="1698" y="1198"/>
                </a:lnTo>
                <a:lnTo>
                  <a:pt x="1780" y="1219"/>
                </a:lnTo>
                <a:lnTo>
                  <a:pt x="1867" y="1157"/>
                </a:lnTo>
                <a:lnTo>
                  <a:pt x="1854" y="1024"/>
                </a:lnTo>
                <a:lnTo>
                  <a:pt x="1948" y="890"/>
                </a:lnTo>
                <a:lnTo>
                  <a:pt x="2089" y="834"/>
                </a:lnTo>
                <a:lnTo>
                  <a:pt x="2002" y="688"/>
                </a:lnTo>
                <a:lnTo>
                  <a:pt x="2212" y="695"/>
                </a:lnTo>
                <a:lnTo>
                  <a:pt x="2273" y="615"/>
                </a:lnTo>
                <a:lnTo>
                  <a:pt x="2264" y="531"/>
                </a:lnTo>
                <a:lnTo>
                  <a:pt x="2374" y="438"/>
                </a:lnTo>
                <a:lnTo>
                  <a:pt x="2349" y="328"/>
                </a:lnTo>
                <a:lnTo>
                  <a:pt x="2296" y="234"/>
                </a:lnTo>
                <a:lnTo>
                  <a:pt x="2426" y="138"/>
                </a:lnTo>
                <a:lnTo>
                  <a:pt x="2663" y="91"/>
                </a:lnTo>
                <a:lnTo>
                  <a:pt x="2917" y="66"/>
                </a:lnTo>
                <a:lnTo>
                  <a:pt x="3029" y="25"/>
                </a:lnTo>
                <a:lnTo>
                  <a:pt x="3158" y="0"/>
                </a:lnTo>
                <a:lnTo>
                  <a:pt x="3321" y="103"/>
                </a:lnTo>
                <a:lnTo>
                  <a:pt x="3386" y="273"/>
                </a:lnTo>
                <a:lnTo>
                  <a:pt x="3750" y="362"/>
                </a:lnTo>
                <a:close/>
              </a:path>
            </a:pathLst>
          </a:custGeom>
          <a:solidFill>
            <a:srgbClr val="C6532C"/>
          </a:solidFill>
          <a:ln>
            <a:noFill/>
          </a:ln>
        </p:spPr>
        <p:txBody>
          <a:bodyPr rtlCol="0" anchor="ctr"/>
          <a:lstStyle/>
          <a:p>
            <a:pPr algn="ctr"/>
          </a:p>
        </p:txBody>
      </p:sp>
      <p:sp>
        <p:nvSpPr>
          <p:cNvPr id="5" name="TextBox 4"/>
          <p:cNvSpPr txBox="1"/>
          <p:nvPr/>
        </p:nvSpPr>
        <p:spPr>
          <a:xfrm>
            <a:off x="932688" y="5047488"/>
            <a:ext cx="3474720" cy="530352"/>
          </a:xfrm>
          <a:prstGeom prst="rect">
            <a:avLst/>
          </a:prstGeom>
          <a:noFill/>
        </p:spPr>
        <p:txBody>
          <a:bodyPr wrap="square" lIns="0" rIns="0" tIns="0" bIns="0">
            <a:spAutoFit/>
          </a:bodyPr>
          <a:lstStyle/>
          <a:p>
            <a:pPr>
              <a:spcAft>
                <a:spcPts val="600"/>
              </a:spcAft>
              <a:defRPr sz="3000" b="1">
                <a:solidFill>
                  <a:srgbClr val="171717"/>
                </a:solidFill>
                <a:latin typeface="Arial"/>
              </a:defRPr>
            </a:pPr>
            <a:r>
              <a:t>Pakistan first.</a:t>
            </a:r>
          </a:p>
        </p:txBody>
      </p:sp>
      <p:sp>
        <p:nvSpPr>
          <p:cNvPr id="6" name="TextBox 5"/>
          <p:cNvSpPr txBox="1"/>
          <p:nvPr/>
        </p:nvSpPr>
        <p:spPr>
          <a:xfrm>
            <a:off x="932688" y="5678424"/>
            <a:ext cx="3474720" cy="594360"/>
          </a:xfrm>
          <a:prstGeom prst="rect">
            <a:avLst/>
          </a:prstGeom>
          <a:noFill/>
        </p:spPr>
        <p:txBody>
          <a:bodyPr wrap="square" lIns="0" rIns="0" tIns="0" bIns="0">
            <a:spAutoFit/>
          </a:bodyPr>
          <a:lstStyle/>
          <a:p>
            <a:pPr>
              <a:spcAft>
                <a:spcPts val="600"/>
              </a:spcAft>
              <a:defRPr sz="1800" b="0">
                <a:solidFill>
                  <a:srgbClr val="171717"/>
                </a:solidFill>
                <a:latin typeface="Arial"/>
              </a:defRPr>
            </a:pPr>
            <a:r>
              <a:t>A focused place to test the</a:t>
            </a:r>
          </a:p>
          <a:p>
            <a:pPr>
              <a:spcAft>
                <a:spcPts val="600"/>
              </a:spcAft>
              <a:defRPr sz="1800" b="0">
                <a:solidFill>
                  <a:srgbClr val="171717"/>
                </a:solidFill>
                <a:latin typeface="Arial"/>
              </a:defRPr>
            </a:pPr>
            <a:r>
              <a:t>first professional record.</a:t>
            </a:r>
          </a:p>
        </p:txBody>
      </p:sp>
      <p:sp>
        <p:nvSpPr>
          <p:cNvPr id="7" name="Oval 6"/>
          <p:cNvSpPr/>
          <p:nvPr/>
        </p:nvSpPr>
        <p:spPr>
          <a:xfrm>
            <a:off x="5475518" y="2083460"/>
            <a:ext cx="166786" cy="166786"/>
          </a:xfrm>
          <a:prstGeom prst="ellipse">
            <a:avLst/>
          </a:prstGeom>
          <a:solidFill>
            <a:srgbClr val="C6532C"/>
          </a:solidFill>
          <a:ln>
            <a:noFill/>
          </a:ln>
        </p:spPr>
        <p:txBody>
          <a:bodyPr rtlCol="0" anchor="ctr"/>
          <a:lstStyle/>
          <a:p>
            <a:pPr algn="ctr"/>
          </a:p>
        </p:txBody>
      </p:sp>
      <p:cxnSp>
        <p:nvCxnSpPr>
          <p:cNvPr id="8" name="Connector 7"/>
          <p:cNvCxnSpPr/>
          <p:nvPr/>
        </p:nvCxnSpPr>
        <p:spPr>
          <a:xfrm flipV="1">
            <a:off x="5397337" y="2370124"/>
            <a:ext cx="0" cy="125090"/>
          </a:xfrm>
          <a:prstGeom prst="line">
            <a:avLst/>
          </a:prstGeom>
          <a:ln w="21590">
            <a:solidFill>
              <a:srgbClr val="C6532C"/>
            </a:solidFill>
          </a:ln>
        </p:spPr>
      </p:cxnSp>
      <p:cxnSp>
        <p:nvCxnSpPr>
          <p:cNvPr id="9" name="Connector 8"/>
          <p:cNvCxnSpPr/>
          <p:nvPr/>
        </p:nvCxnSpPr>
        <p:spPr>
          <a:xfrm>
            <a:off x="5397337" y="2370124"/>
            <a:ext cx="323149" cy="0"/>
          </a:xfrm>
          <a:prstGeom prst="line">
            <a:avLst/>
          </a:prstGeom>
          <a:ln w="21590">
            <a:solidFill>
              <a:srgbClr val="C6532C"/>
            </a:solidFill>
          </a:ln>
        </p:spPr>
      </p:cxnSp>
      <p:cxnSp>
        <p:nvCxnSpPr>
          <p:cNvPr id="10" name="Connector 9"/>
          <p:cNvCxnSpPr/>
          <p:nvPr/>
        </p:nvCxnSpPr>
        <p:spPr>
          <a:xfrm>
            <a:off x="5720486" y="2370124"/>
            <a:ext cx="0" cy="125090"/>
          </a:xfrm>
          <a:prstGeom prst="line">
            <a:avLst/>
          </a:prstGeom>
          <a:ln w="21590">
            <a:solidFill>
              <a:srgbClr val="C6532C"/>
            </a:solidFill>
          </a:ln>
        </p:spPr>
      </p:cxnSp>
      <p:sp>
        <p:nvSpPr>
          <p:cNvPr id="11" name="TextBox 10"/>
          <p:cNvSpPr txBox="1"/>
          <p:nvPr/>
        </p:nvSpPr>
        <p:spPr>
          <a:xfrm>
            <a:off x="5303520" y="2825496"/>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Students</a:t>
            </a:r>
          </a:p>
        </p:txBody>
      </p:sp>
      <p:sp>
        <p:nvSpPr>
          <p:cNvPr id="12" name="TextBox 11"/>
          <p:cNvSpPr txBox="1"/>
          <p:nvPr/>
        </p:nvSpPr>
        <p:spPr>
          <a:xfrm>
            <a:off x="5303520" y="3758184"/>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Show work beyond a CV.</a:t>
            </a:r>
          </a:p>
        </p:txBody>
      </p:sp>
      <p:cxnSp>
        <p:nvCxnSpPr>
          <p:cNvPr id="13" name="Connector 12"/>
          <p:cNvCxnSpPr/>
          <p:nvPr/>
        </p:nvCxnSpPr>
        <p:spPr>
          <a:xfrm>
            <a:off x="8682776" y="2213762"/>
            <a:ext cx="437815" cy="0"/>
          </a:xfrm>
          <a:prstGeom prst="line">
            <a:avLst/>
          </a:prstGeom>
          <a:ln w="21590">
            <a:solidFill>
              <a:srgbClr val="C6532C"/>
            </a:solidFill>
          </a:ln>
        </p:spPr>
      </p:cxnSp>
      <p:cxnSp>
        <p:nvCxnSpPr>
          <p:cNvPr id="14" name="Connector 13"/>
          <p:cNvCxnSpPr/>
          <p:nvPr/>
        </p:nvCxnSpPr>
        <p:spPr>
          <a:xfrm>
            <a:off x="9120591" y="2213762"/>
            <a:ext cx="0" cy="302301"/>
          </a:xfrm>
          <a:prstGeom prst="line">
            <a:avLst/>
          </a:prstGeom>
          <a:ln w="21590">
            <a:solidFill>
              <a:srgbClr val="C6532C"/>
            </a:solidFill>
          </a:ln>
        </p:spPr>
      </p:cxnSp>
      <p:cxnSp>
        <p:nvCxnSpPr>
          <p:cNvPr id="15" name="Connector 14"/>
          <p:cNvCxnSpPr/>
          <p:nvPr/>
        </p:nvCxnSpPr>
        <p:spPr>
          <a:xfrm flipH="1">
            <a:off x="8682776" y="2516063"/>
            <a:ext cx="437815" cy="0"/>
          </a:xfrm>
          <a:prstGeom prst="line">
            <a:avLst/>
          </a:prstGeom>
          <a:ln w="21590">
            <a:solidFill>
              <a:srgbClr val="C6532C"/>
            </a:solidFill>
          </a:ln>
        </p:spPr>
      </p:cxnSp>
      <p:cxnSp>
        <p:nvCxnSpPr>
          <p:cNvPr id="16" name="Connector 15"/>
          <p:cNvCxnSpPr/>
          <p:nvPr/>
        </p:nvCxnSpPr>
        <p:spPr>
          <a:xfrm flipV="1">
            <a:off x="8682776" y="2213762"/>
            <a:ext cx="0" cy="302301"/>
          </a:xfrm>
          <a:prstGeom prst="line">
            <a:avLst/>
          </a:prstGeom>
          <a:ln w="21590">
            <a:solidFill>
              <a:srgbClr val="C6532C"/>
            </a:solidFill>
          </a:ln>
        </p:spPr>
      </p:cxnSp>
      <p:cxnSp>
        <p:nvCxnSpPr>
          <p:cNvPr id="17" name="Connector 16"/>
          <p:cNvCxnSpPr/>
          <p:nvPr/>
        </p:nvCxnSpPr>
        <p:spPr>
          <a:xfrm flipV="1">
            <a:off x="8807866" y="2125157"/>
            <a:ext cx="0" cy="88605"/>
          </a:xfrm>
          <a:prstGeom prst="line">
            <a:avLst/>
          </a:prstGeom>
          <a:ln w="21590">
            <a:solidFill>
              <a:srgbClr val="C6532C"/>
            </a:solidFill>
          </a:ln>
        </p:spPr>
      </p:cxnSp>
      <p:cxnSp>
        <p:nvCxnSpPr>
          <p:cNvPr id="18" name="Connector 17"/>
          <p:cNvCxnSpPr/>
          <p:nvPr/>
        </p:nvCxnSpPr>
        <p:spPr>
          <a:xfrm>
            <a:off x="8807866" y="2125157"/>
            <a:ext cx="187635" cy="0"/>
          </a:xfrm>
          <a:prstGeom prst="line">
            <a:avLst/>
          </a:prstGeom>
          <a:ln w="21590">
            <a:solidFill>
              <a:srgbClr val="C6532C"/>
            </a:solidFill>
          </a:ln>
        </p:spPr>
      </p:cxnSp>
      <p:cxnSp>
        <p:nvCxnSpPr>
          <p:cNvPr id="19" name="Connector 18"/>
          <p:cNvCxnSpPr/>
          <p:nvPr/>
        </p:nvCxnSpPr>
        <p:spPr>
          <a:xfrm>
            <a:off x="8995501" y="2125157"/>
            <a:ext cx="0" cy="88605"/>
          </a:xfrm>
          <a:prstGeom prst="line">
            <a:avLst/>
          </a:prstGeom>
          <a:ln w="21590">
            <a:solidFill>
              <a:srgbClr val="C6532C"/>
            </a:solidFill>
          </a:ln>
        </p:spPr>
      </p:cxnSp>
      <p:cxnSp>
        <p:nvCxnSpPr>
          <p:cNvPr id="20" name="Connector 19"/>
          <p:cNvCxnSpPr/>
          <p:nvPr/>
        </p:nvCxnSpPr>
        <p:spPr>
          <a:xfrm>
            <a:off x="8682776" y="2328428"/>
            <a:ext cx="437815" cy="0"/>
          </a:xfrm>
          <a:prstGeom prst="line">
            <a:avLst/>
          </a:prstGeom>
          <a:ln w="21590">
            <a:solidFill>
              <a:srgbClr val="C6532C"/>
            </a:solidFill>
          </a:ln>
        </p:spPr>
      </p:cxnSp>
      <p:sp>
        <p:nvSpPr>
          <p:cNvPr id="21" name="TextBox 20"/>
          <p:cNvSpPr txBox="1"/>
          <p:nvPr/>
        </p:nvSpPr>
        <p:spPr>
          <a:xfrm>
            <a:off x="8641080" y="2825496"/>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Freelancers</a:t>
            </a:r>
          </a:p>
        </p:txBody>
      </p:sp>
      <p:sp>
        <p:nvSpPr>
          <p:cNvPr id="22" name="TextBox 21"/>
          <p:cNvSpPr txBox="1"/>
          <p:nvPr/>
        </p:nvSpPr>
        <p:spPr>
          <a:xfrm>
            <a:off x="8641080" y="3758184"/>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Keep evidence of delivery.</a:t>
            </a:r>
          </a:p>
        </p:txBody>
      </p:sp>
      <p:cxnSp>
        <p:nvCxnSpPr>
          <p:cNvPr id="23" name="Connector 22"/>
          <p:cNvCxnSpPr/>
          <p:nvPr/>
        </p:nvCxnSpPr>
        <p:spPr>
          <a:xfrm flipH="1">
            <a:off x="5355640" y="4294753"/>
            <a:ext cx="114666" cy="135515"/>
          </a:xfrm>
          <a:prstGeom prst="line">
            <a:avLst/>
          </a:prstGeom>
          <a:ln w="21590">
            <a:solidFill>
              <a:srgbClr val="C6532C"/>
            </a:solidFill>
          </a:ln>
        </p:spPr>
      </p:cxnSp>
      <p:cxnSp>
        <p:nvCxnSpPr>
          <p:cNvPr id="24" name="Connector 23"/>
          <p:cNvCxnSpPr/>
          <p:nvPr/>
        </p:nvCxnSpPr>
        <p:spPr>
          <a:xfrm>
            <a:off x="5355640" y="4430268"/>
            <a:ext cx="114666" cy="135514"/>
          </a:xfrm>
          <a:prstGeom prst="line">
            <a:avLst/>
          </a:prstGeom>
          <a:ln w="21590">
            <a:solidFill>
              <a:srgbClr val="C6532C"/>
            </a:solidFill>
          </a:ln>
        </p:spPr>
      </p:cxnSp>
      <p:cxnSp>
        <p:nvCxnSpPr>
          <p:cNvPr id="25" name="Connector 24"/>
          <p:cNvCxnSpPr/>
          <p:nvPr/>
        </p:nvCxnSpPr>
        <p:spPr>
          <a:xfrm>
            <a:off x="5657941" y="4294753"/>
            <a:ext cx="114666" cy="135515"/>
          </a:xfrm>
          <a:prstGeom prst="line">
            <a:avLst/>
          </a:prstGeom>
          <a:ln w="21590">
            <a:solidFill>
              <a:srgbClr val="C6532C"/>
            </a:solidFill>
          </a:ln>
        </p:spPr>
      </p:cxnSp>
      <p:cxnSp>
        <p:nvCxnSpPr>
          <p:cNvPr id="26" name="Connector 25"/>
          <p:cNvCxnSpPr/>
          <p:nvPr/>
        </p:nvCxnSpPr>
        <p:spPr>
          <a:xfrm flipH="1">
            <a:off x="5657941" y="4430268"/>
            <a:ext cx="114666" cy="135514"/>
          </a:xfrm>
          <a:prstGeom prst="line">
            <a:avLst/>
          </a:prstGeom>
          <a:ln w="21590">
            <a:solidFill>
              <a:srgbClr val="C6532C"/>
            </a:solidFill>
          </a:ln>
        </p:spPr>
      </p:cxnSp>
      <p:cxnSp>
        <p:nvCxnSpPr>
          <p:cNvPr id="27" name="Connector 26"/>
          <p:cNvCxnSpPr/>
          <p:nvPr/>
        </p:nvCxnSpPr>
        <p:spPr>
          <a:xfrm flipH="1">
            <a:off x="5522427" y="4247845"/>
            <a:ext cx="83393" cy="364845"/>
          </a:xfrm>
          <a:prstGeom prst="line">
            <a:avLst/>
          </a:prstGeom>
          <a:ln w="21590">
            <a:solidFill>
              <a:srgbClr val="C6532C"/>
            </a:solidFill>
          </a:ln>
        </p:spPr>
      </p:cxnSp>
      <p:sp>
        <p:nvSpPr>
          <p:cNvPr id="28" name="TextBox 27"/>
          <p:cNvSpPr txBox="1"/>
          <p:nvPr/>
        </p:nvSpPr>
        <p:spPr>
          <a:xfrm>
            <a:off x="5303520" y="4937759"/>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Developers</a:t>
            </a:r>
          </a:p>
          <a:p>
            <a:pPr>
              <a:spcAft>
                <a:spcPts val="600"/>
              </a:spcAft>
              <a:defRPr sz="2500" b="1">
                <a:solidFill>
                  <a:srgbClr val="171717"/>
                </a:solidFill>
                <a:latin typeface="Arial"/>
              </a:defRPr>
            </a:pPr>
            <a:r>
              <a:t>&amp; graduates</a:t>
            </a:r>
          </a:p>
        </p:txBody>
      </p:sp>
      <p:sp>
        <p:nvSpPr>
          <p:cNvPr id="29" name="TextBox 28"/>
          <p:cNvSpPr txBox="1"/>
          <p:nvPr/>
        </p:nvSpPr>
        <p:spPr>
          <a:xfrm>
            <a:off x="5303520" y="5870448"/>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Show projects.</a:t>
            </a:r>
          </a:p>
          <a:p>
            <a:pPr>
              <a:spcAft>
                <a:spcPts val="600"/>
              </a:spcAft>
              <a:defRPr sz="1900" b="0">
                <a:solidFill>
                  <a:srgbClr val="171717"/>
                </a:solidFill>
                <a:latin typeface="Arial"/>
              </a:defRPr>
            </a:pPr>
            <a:r>
              <a:t>Find opportunities.</a:t>
            </a:r>
          </a:p>
        </p:txBody>
      </p:sp>
      <p:cxnSp>
        <p:nvCxnSpPr>
          <p:cNvPr id="30" name="Connector 29"/>
          <p:cNvCxnSpPr/>
          <p:nvPr/>
        </p:nvCxnSpPr>
        <p:spPr>
          <a:xfrm>
            <a:off x="8734897" y="4206148"/>
            <a:ext cx="333573" cy="0"/>
          </a:xfrm>
          <a:prstGeom prst="line">
            <a:avLst/>
          </a:prstGeom>
          <a:ln w="21590">
            <a:solidFill>
              <a:srgbClr val="C6532C"/>
            </a:solidFill>
          </a:ln>
        </p:spPr>
      </p:cxnSp>
      <p:cxnSp>
        <p:nvCxnSpPr>
          <p:cNvPr id="31" name="Connector 30"/>
          <p:cNvCxnSpPr/>
          <p:nvPr/>
        </p:nvCxnSpPr>
        <p:spPr>
          <a:xfrm>
            <a:off x="9068470" y="4206148"/>
            <a:ext cx="0" cy="437815"/>
          </a:xfrm>
          <a:prstGeom prst="line">
            <a:avLst/>
          </a:prstGeom>
          <a:ln w="21590">
            <a:solidFill>
              <a:srgbClr val="C6532C"/>
            </a:solidFill>
          </a:ln>
        </p:spPr>
      </p:cxnSp>
      <p:cxnSp>
        <p:nvCxnSpPr>
          <p:cNvPr id="32" name="Connector 31"/>
          <p:cNvCxnSpPr/>
          <p:nvPr/>
        </p:nvCxnSpPr>
        <p:spPr>
          <a:xfrm flipH="1">
            <a:off x="8734897" y="4643963"/>
            <a:ext cx="333573" cy="0"/>
          </a:xfrm>
          <a:prstGeom prst="line">
            <a:avLst/>
          </a:prstGeom>
          <a:ln w="21590">
            <a:solidFill>
              <a:srgbClr val="C6532C"/>
            </a:solidFill>
          </a:ln>
        </p:spPr>
      </p:cxnSp>
      <p:cxnSp>
        <p:nvCxnSpPr>
          <p:cNvPr id="33" name="Connector 32"/>
          <p:cNvCxnSpPr/>
          <p:nvPr/>
        </p:nvCxnSpPr>
        <p:spPr>
          <a:xfrm flipV="1">
            <a:off x="8734897" y="4206148"/>
            <a:ext cx="0" cy="437815"/>
          </a:xfrm>
          <a:prstGeom prst="line">
            <a:avLst/>
          </a:prstGeom>
          <a:ln w="21590">
            <a:solidFill>
              <a:srgbClr val="C6532C"/>
            </a:solidFill>
          </a:ln>
        </p:spPr>
      </p:cxnSp>
      <p:sp>
        <p:nvSpPr>
          <p:cNvPr id="34" name="Oval 33"/>
          <p:cNvSpPr/>
          <p:nvPr/>
        </p:nvSpPr>
        <p:spPr>
          <a:xfrm>
            <a:off x="8818290" y="4305178"/>
            <a:ext cx="166786" cy="166786"/>
          </a:xfrm>
          <a:prstGeom prst="ellipse">
            <a:avLst/>
          </a:prstGeom>
          <a:solidFill>
            <a:srgbClr val="C6532C"/>
          </a:solidFill>
          <a:ln>
            <a:noFill/>
          </a:ln>
        </p:spPr>
        <p:txBody>
          <a:bodyPr rtlCol="0" anchor="ctr"/>
          <a:lstStyle/>
          <a:p>
            <a:pPr algn="ctr"/>
          </a:p>
        </p:txBody>
      </p:sp>
      <p:cxnSp>
        <p:nvCxnSpPr>
          <p:cNvPr id="35" name="Connector 34"/>
          <p:cNvCxnSpPr/>
          <p:nvPr/>
        </p:nvCxnSpPr>
        <p:spPr>
          <a:xfrm flipH="1">
            <a:off x="8818290" y="4471964"/>
            <a:ext cx="31273" cy="104242"/>
          </a:xfrm>
          <a:prstGeom prst="line">
            <a:avLst/>
          </a:prstGeom>
          <a:ln w="21590">
            <a:solidFill>
              <a:srgbClr val="C6532C"/>
            </a:solidFill>
          </a:ln>
        </p:spPr>
      </p:cxnSp>
      <p:cxnSp>
        <p:nvCxnSpPr>
          <p:cNvPr id="36" name="Connector 35"/>
          <p:cNvCxnSpPr/>
          <p:nvPr/>
        </p:nvCxnSpPr>
        <p:spPr>
          <a:xfrm>
            <a:off x="8943380" y="4471964"/>
            <a:ext cx="31273" cy="104242"/>
          </a:xfrm>
          <a:prstGeom prst="line">
            <a:avLst/>
          </a:prstGeom>
          <a:ln w="21590">
            <a:solidFill>
              <a:srgbClr val="C6532C"/>
            </a:solidFill>
          </a:ln>
        </p:spPr>
      </p:cxnSp>
      <p:sp>
        <p:nvSpPr>
          <p:cNvPr id="37" name="TextBox 36"/>
          <p:cNvSpPr txBox="1"/>
          <p:nvPr/>
        </p:nvSpPr>
        <p:spPr>
          <a:xfrm>
            <a:off x="8641080" y="4937759"/>
            <a:ext cx="2971800" cy="822960"/>
          </a:xfrm>
          <a:prstGeom prst="rect">
            <a:avLst/>
          </a:prstGeom>
          <a:noFill/>
        </p:spPr>
        <p:txBody>
          <a:bodyPr wrap="square" lIns="0" rIns="0" tIns="0" bIns="0">
            <a:spAutoFit/>
          </a:bodyPr>
          <a:lstStyle/>
          <a:p>
            <a:pPr>
              <a:spcAft>
                <a:spcPts val="600"/>
              </a:spcAft>
              <a:defRPr sz="2500" b="1">
                <a:solidFill>
                  <a:srgbClr val="171717"/>
                </a:solidFill>
                <a:latin typeface="Arial"/>
              </a:defRPr>
            </a:pPr>
            <a:r>
              <a:t>Organizations</a:t>
            </a:r>
          </a:p>
        </p:txBody>
      </p:sp>
      <p:sp>
        <p:nvSpPr>
          <p:cNvPr id="38" name="TextBox 37"/>
          <p:cNvSpPr txBox="1"/>
          <p:nvPr/>
        </p:nvSpPr>
        <p:spPr>
          <a:xfrm>
            <a:off x="8641080" y="5870448"/>
            <a:ext cx="2971800" cy="713232"/>
          </a:xfrm>
          <a:prstGeom prst="rect">
            <a:avLst/>
          </a:prstGeom>
          <a:noFill/>
        </p:spPr>
        <p:txBody>
          <a:bodyPr wrap="square" lIns="0" rIns="0" tIns="0" bIns="0">
            <a:spAutoFit/>
          </a:bodyPr>
          <a:lstStyle/>
          <a:p>
            <a:pPr>
              <a:spcAft>
                <a:spcPts val="600"/>
              </a:spcAft>
              <a:defRPr sz="1900" b="0">
                <a:solidFill>
                  <a:srgbClr val="171717"/>
                </a:solidFill>
                <a:latin typeface="Arial"/>
              </a:defRPr>
            </a:pPr>
            <a:r>
              <a:t>Find talent.</a:t>
            </a:r>
          </a:p>
          <a:p>
            <a:pPr>
              <a:spcAft>
                <a:spcPts val="600"/>
              </a:spcAft>
              <a:defRPr sz="1900" b="0">
                <a:solidFill>
                  <a:srgbClr val="171717"/>
                </a:solidFill>
                <a:latin typeface="Arial"/>
              </a:defRPr>
            </a:pPr>
            <a:r>
              <a:t>Issue recognition.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100" b="1">
                <a:solidFill>
                  <a:srgbClr val="171717"/>
                </a:solidFill>
                <a:latin typeface="Arial"/>
              </a:defRPr>
            </a:pPr>
            <a:r>
              <a:t>Free for individuals.</a:t>
            </a:r>
          </a:p>
          <a:p>
            <a:pPr>
              <a:spcAft>
                <a:spcPts val="600"/>
              </a:spcAft>
              <a:defRPr sz="4100" b="1">
                <a:solidFill>
                  <a:srgbClr val="171717"/>
                </a:solidFill>
                <a:latin typeface="Arial"/>
              </a:defRPr>
            </a:pPr>
            <a:r>
              <a:t>Paid services for businesses.</a:t>
            </a:r>
          </a:p>
        </p:txBody>
      </p:sp>
      <p:sp>
        <p:nvSpPr>
          <p:cNvPr id="3" name="Rounded Rectangle 2"/>
          <p:cNvSpPr/>
          <p:nvPr/>
        </p:nvSpPr>
        <p:spPr>
          <a:xfrm>
            <a:off x="621792" y="2148840"/>
            <a:ext cx="5321808" cy="3456432"/>
          </a:xfrm>
          <a:prstGeom prst="roundRect">
            <a:avLst>
              <a:gd name="adj" fmla="val 8000"/>
            </a:avLst>
          </a:prstGeom>
          <a:solidFill>
            <a:srgbClr val="FFFFFF"/>
          </a:solidFill>
          <a:ln>
            <a:solidFill>
              <a:srgbClr val="E7DECF"/>
            </a:solidFill>
          </a:ln>
        </p:spPr>
        <p:txBody>
          <a:bodyPr rtlCol="0" anchor="ctr"/>
          <a:lstStyle/>
          <a:p>
            <a:pPr algn="ctr"/>
          </a:p>
        </p:txBody>
      </p:sp>
      <p:sp>
        <p:nvSpPr>
          <p:cNvPr id="4" name="Oval 3"/>
          <p:cNvSpPr/>
          <p:nvPr/>
        </p:nvSpPr>
        <p:spPr>
          <a:xfrm>
            <a:off x="1064818" y="2498598"/>
            <a:ext cx="190195" cy="190195"/>
          </a:xfrm>
          <a:prstGeom prst="ellipse">
            <a:avLst/>
          </a:prstGeom>
          <a:solidFill>
            <a:srgbClr val="C6532C"/>
          </a:solidFill>
          <a:ln>
            <a:noFill/>
          </a:ln>
        </p:spPr>
        <p:txBody>
          <a:bodyPr rtlCol="0" anchor="ctr"/>
          <a:lstStyle/>
          <a:p>
            <a:pPr algn="ctr"/>
          </a:p>
        </p:txBody>
      </p:sp>
      <p:cxnSp>
        <p:nvCxnSpPr>
          <p:cNvPr id="5" name="Connector 4"/>
          <p:cNvCxnSpPr/>
          <p:nvPr/>
        </p:nvCxnSpPr>
        <p:spPr>
          <a:xfrm flipV="1">
            <a:off x="975664" y="2825496"/>
            <a:ext cx="0" cy="142646"/>
          </a:xfrm>
          <a:prstGeom prst="line">
            <a:avLst/>
          </a:prstGeom>
          <a:ln w="21590">
            <a:solidFill>
              <a:srgbClr val="C6532C"/>
            </a:solidFill>
          </a:ln>
        </p:spPr>
      </p:cxnSp>
      <p:cxnSp>
        <p:nvCxnSpPr>
          <p:cNvPr id="6" name="Connector 5"/>
          <p:cNvCxnSpPr/>
          <p:nvPr/>
        </p:nvCxnSpPr>
        <p:spPr>
          <a:xfrm>
            <a:off x="975664" y="2825496"/>
            <a:ext cx="368504" cy="0"/>
          </a:xfrm>
          <a:prstGeom prst="line">
            <a:avLst/>
          </a:prstGeom>
          <a:ln w="21590">
            <a:solidFill>
              <a:srgbClr val="C6532C"/>
            </a:solidFill>
          </a:ln>
        </p:spPr>
      </p:cxnSp>
      <p:cxnSp>
        <p:nvCxnSpPr>
          <p:cNvPr id="7" name="Connector 6"/>
          <p:cNvCxnSpPr/>
          <p:nvPr/>
        </p:nvCxnSpPr>
        <p:spPr>
          <a:xfrm>
            <a:off x="1344168" y="2825496"/>
            <a:ext cx="0" cy="142646"/>
          </a:xfrm>
          <a:prstGeom prst="line">
            <a:avLst/>
          </a:prstGeom>
          <a:ln w="21590">
            <a:solidFill>
              <a:srgbClr val="C6532C"/>
            </a:solidFill>
          </a:ln>
        </p:spPr>
      </p:cxnSp>
      <p:sp>
        <p:nvSpPr>
          <p:cNvPr id="8" name="TextBox 7"/>
          <p:cNvSpPr txBox="1"/>
          <p:nvPr/>
        </p:nvSpPr>
        <p:spPr>
          <a:xfrm>
            <a:off x="1673352" y="2450592"/>
            <a:ext cx="3995928"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Individuals</a:t>
            </a:r>
          </a:p>
        </p:txBody>
      </p:sp>
      <p:sp>
        <p:nvSpPr>
          <p:cNvPr id="9" name="TextBox 8"/>
          <p:cNvSpPr txBox="1"/>
          <p:nvPr/>
        </p:nvSpPr>
        <p:spPr>
          <a:xfrm>
            <a:off x="1673352" y="3108960"/>
            <a:ext cx="3995928" cy="438912"/>
          </a:xfrm>
          <a:prstGeom prst="rect">
            <a:avLst/>
          </a:prstGeom>
          <a:noFill/>
        </p:spPr>
        <p:txBody>
          <a:bodyPr wrap="square" lIns="0" rIns="0" tIns="0" bIns="0">
            <a:spAutoFit/>
          </a:bodyPr>
          <a:lstStyle/>
          <a:p>
            <a:pPr>
              <a:spcAft>
                <a:spcPts val="600"/>
              </a:spcAft>
              <a:defRPr sz="2100" b="0">
                <a:solidFill>
                  <a:srgbClr val="171717"/>
                </a:solidFill>
                <a:latin typeface="Arial"/>
              </a:defRPr>
            </a:pPr>
            <a:r>
              <a:t>Free basic tools</a:t>
            </a:r>
          </a:p>
        </p:txBody>
      </p:sp>
      <p:cxnSp>
        <p:nvCxnSpPr>
          <p:cNvPr id="10" name="Connector 9"/>
          <p:cNvCxnSpPr/>
          <p:nvPr/>
        </p:nvCxnSpPr>
        <p:spPr>
          <a:xfrm>
            <a:off x="952804" y="3931920"/>
            <a:ext cx="64008" cy="64008"/>
          </a:xfrm>
          <a:prstGeom prst="line">
            <a:avLst/>
          </a:prstGeom>
          <a:ln w="21590">
            <a:solidFill>
              <a:srgbClr val="C6532C"/>
            </a:solidFill>
          </a:ln>
        </p:spPr>
      </p:cxnSp>
      <p:cxnSp>
        <p:nvCxnSpPr>
          <p:cNvPr id="11" name="Connector 10"/>
          <p:cNvCxnSpPr/>
          <p:nvPr/>
        </p:nvCxnSpPr>
        <p:spPr>
          <a:xfrm flipV="1">
            <a:off x="1016812" y="3855110"/>
            <a:ext cx="122896" cy="140818"/>
          </a:xfrm>
          <a:prstGeom prst="line">
            <a:avLst/>
          </a:prstGeom>
          <a:ln w="21590">
            <a:solidFill>
              <a:srgbClr val="C6532C"/>
            </a:solidFill>
          </a:ln>
        </p:spPr>
      </p:cxnSp>
      <p:sp>
        <p:nvSpPr>
          <p:cNvPr id="12" name="TextBox 11"/>
          <p:cNvSpPr txBox="1"/>
          <p:nvPr/>
        </p:nvSpPr>
        <p:spPr>
          <a:xfrm>
            <a:off x="1417320" y="3776472"/>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Build a Skill Passport</a:t>
            </a:r>
          </a:p>
        </p:txBody>
      </p:sp>
      <p:cxnSp>
        <p:nvCxnSpPr>
          <p:cNvPr id="13" name="Connector 12"/>
          <p:cNvCxnSpPr/>
          <p:nvPr/>
        </p:nvCxnSpPr>
        <p:spPr>
          <a:xfrm>
            <a:off x="952804" y="4453128"/>
            <a:ext cx="64008" cy="64008"/>
          </a:xfrm>
          <a:prstGeom prst="line">
            <a:avLst/>
          </a:prstGeom>
          <a:ln w="21590">
            <a:solidFill>
              <a:srgbClr val="C6532C"/>
            </a:solidFill>
          </a:ln>
        </p:spPr>
      </p:cxnSp>
      <p:cxnSp>
        <p:nvCxnSpPr>
          <p:cNvPr id="14" name="Connector 13"/>
          <p:cNvCxnSpPr/>
          <p:nvPr/>
        </p:nvCxnSpPr>
        <p:spPr>
          <a:xfrm flipV="1">
            <a:off x="1016812" y="4376318"/>
            <a:ext cx="122896" cy="140818"/>
          </a:xfrm>
          <a:prstGeom prst="line">
            <a:avLst/>
          </a:prstGeom>
          <a:ln w="21590">
            <a:solidFill>
              <a:srgbClr val="C6532C"/>
            </a:solidFill>
          </a:ln>
        </p:spPr>
      </p:cxnSp>
      <p:sp>
        <p:nvSpPr>
          <p:cNvPr id="15" name="TextBox 14"/>
          <p:cNvSpPr txBox="1"/>
          <p:nvPr/>
        </p:nvSpPr>
        <p:spPr>
          <a:xfrm>
            <a:off x="1417320" y="4297680"/>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Share your profile</a:t>
            </a:r>
          </a:p>
        </p:txBody>
      </p:sp>
      <p:cxnSp>
        <p:nvCxnSpPr>
          <p:cNvPr id="16" name="Connector 15"/>
          <p:cNvCxnSpPr/>
          <p:nvPr/>
        </p:nvCxnSpPr>
        <p:spPr>
          <a:xfrm>
            <a:off x="952804" y="4974336"/>
            <a:ext cx="64008" cy="64008"/>
          </a:xfrm>
          <a:prstGeom prst="line">
            <a:avLst/>
          </a:prstGeom>
          <a:ln w="21590">
            <a:solidFill>
              <a:srgbClr val="C6532C"/>
            </a:solidFill>
          </a:ln>
        </p:spPr>
      </p:cxnSp>
      <p:cxnSp>
        <p:nvCxnSpPr>
          <p:cNvPr id="17" name="Connector 16"/>
          <p:cNvCxnSpPr/>
          <p:nvPr/>
        </p:nvCxnSpPr>
        <p:spPr>
          <a:xfrm flipV="1">
            <a:off x="1016812" y="4897526"/>
            <a:ext cx="122896" cy="140818"/>
          </a:xfrm>
          <a:prstGeom prst="line">
            <a:avLst/>
          </a:prstGeom>
          <a:ln w="21590">
            <a:solidFill>
              <a:srgbClr val="C6532C"/>
            </a:solidFill>
          </a:ln>
        </p:spPr>
      </p:cxnSp>
      <p:sp>
        <p:nvSpPr>
          <p:cNvPr id="18" name="TextBox 17"/>
          <p:cNvSpPr txBox="1"/>
          <p:nvPr/>
        </p:nvSpPr>
        <p:spPr>
          <a:xfrm>
            <a:off x="1417320" y="4818888"/>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Discover opportunities</a:t>
            </a:r>
          </a:p>
        </p:txBody>
      </p:sp>
      <p:sp>
        <p:nvSpPr>
          <p:cNvPr id="19" name="Rounded Rectangle 18"/>
          <p:cNvSpPr/>
          <p:nvPr/>
        </p:nvSpPr>
        <p:spPr>
          <a:xfrm>
            <a:off x="6254496" y="2148840"/>
            <a:ext cx="5321808" cy="3456432"/>
          </a:xfrm>
          <a:prstGeom prst="roundRect">
            <a:avLst>
              <a:gd name="adj" fmla="val 8000"/>
            </a:avLst>
          </a:prstGeom>
          <a:solidFill>
            <a:srgbClr val="FFFFFF"/>
          </a:solidFill>
          <a:ln>
            <a:solidFill>
              <a:srgbClr val="E7DECF"/>
            </a:solidFill>
          </a:ln>
        </p:spPr>
        <p:txBody>
          <a:bodyPr rtlCol="0" anchor="ctr"/>
          <a:lstStyle/>
          <a:p>
            <a:pPr algn="ctr"/>
          </a:p>
        </p:txBody>
      </p:sp>
      <p:cxnSp>
        <p:nvCxnSpPr>
          <p:cNvPr id="20" name="Connector 19"/>
          <p:cNvCxnSpPr/>
          <p:nvPr/>
        </p:nvCxnSpPr>
        <p:spPr>
          <a:xfrm>
            <a:off x="6548932" y="2647188"/>
            <a:ext cx="499263" cy="0"/>
          </a:xfrm>
          <a:prstGeom prst="line">
            <a:avLst/>
          </a:prstGeom>
          <a:ln w="21590">
            <a:solidFill>
              <a:srgbClr val="C6532C"/>
            </a:solidFill>
          </a:ln>
        </p:spPr>
      </p:cxnSp>
      <p:cxnSp>
        <p:nvCxnSpPr>
          <p:cNvPr id="21" name="Connector 20"/>
          <p:cNvCxnSpPr/>
          <p:nvPr/>
        </p:nvCxnSpPr>
        <p:spPr>
          <a:xfrm>
            <a:off x="7048195" y="2647188"/>
            <a:ext cx="0" cy="344728"/>
          </a:xfrm>
          <a:prstGeom prst="line">
            <a:avLst/>
          </a:prstGeom>
          <a:ln w="21590">
            <a:solidFill>
              <a:srgbClr val="C6532C"/>
            </a:solidFill>
          </a:ln>
        </p:spPr>
      </p:cxnSp>
      <p:cxnSp>
        <p:nvCxnSpPr>
          <p:cNvPr id="22" name="Connector 21"/>
          <p:cNvCxnSpPr/>
          <p:nvPr/>
        </p:nvCxnSpPr>
        <p:spPr>
          <a:xfrm flipH="1">
            <a:off x="6548932" y="2991916"/>
            <a:ext cx="499263" cy="0"/>
          </a:xfrm>
          <a:prstGeom prst="line">
            <a:avLst/>
          </a:prstGeom>
          <a:ln w="21590">
            <a:solidFill>
              <a:srgbClr val="C6532C"/>
            </a:solidFill>
          </a:ln>
        </p:spPr>
      </p:cxnSp>
      <p:cxnSp>
        <p:nvCxnSpPr>
          <p:cNvPr id="23" name="Connector 22"/>
          <p:cNvCxnSpPr/>
          <p:nvPr/>
        </p:nvCxnSpPr>
        <p:spPr>
          <a:xfrm flipV="1">
            <a:off x="6548932" y="2647188"/>
            <a:ext cx="0" cy="344728"/>
          </a:xfrm>
          <a:prstGeom prst="line">
            <a:avLst/>
          </a:prstGeom>
          <a:ln w="21590">
            <a:solidFill>
              <a:srgbClr val="C6532C"/>
            </a:solidFill>
          </a:ln>
        </p:spPr>
      </p:cxnSp>
      <p:cxnSp>
        <p:nvCxnSpPr>
          <p:cNvPr id="24" name="Connector 23"/>
          <p:cNvCxnSpPr/>
          <p:nvPr/>
        </p:nvCxnSpPr>
        <p:spPr>
          <a:xfrm flipV="1">
            <a:off x="6691579" y="2546146"/>
            <a:ext cx="0" cy="101042"/>
          </a:xfrm>
          <a:prstGeom prst="line">
            <a:avLst/>
          </a:prstGeom>
          <a:ln w="21590">
            <a:solidFill>
              <a:srgbClr val="C6532C"/>
            </a:solidFill>
          </a:ln>
        </p:spPr>
      </p:cxnSp>
      <p:cxnSp>
        <p:nvCxnSpPr>
          <p:cNvPr id="25" name="Connector 24"/>
          <p:cNvCxnSpPr/>
          <p:nvPr/>
        </p:nvCxnSpPr>
        <p:spPr>
          <a:xfrm>
            <a:off x="6691579" y="2546146"/>
            <a:ext cx="213969" cy="0"/>
          </a:xfrm>
          <a:prstGeom prst="line">
            <a:avLst/>
          </a:prstGeom>
          <a:ln w="21590">
            <a:solidFill>
              <a:srgbClr val="C6532C"/>
            </a:solidFill>
          </a:ln>
        </p:spPr>
      </p:cxnSp>
      <p:cxnSp>
        <p:nvCxnSpPr>
          <p:cNvPr id="26" name="Connector 25"/>
          <p:cNvCxnSpPr/>
          <p:nvPr/>
        </p:nvCxnSpPr>
        <p:spPr>
          <a:xfrm>
            <a:off x="6905548" y="2546146"/>
            <a:ext cx="0" cy="101042"/>
          </a:xfrm>
          <a:prstGeom prst="line">
            <a:avLst/>
          </a:prstGeom>
          <a:ln w="21590">
            <a:solidFill>
              <a:srgbClr val="C6532C"/>
            </a:solidFill>
          </a:ln>
        </p:spPr>
      </p:cxnSp>
      <p:cxnSp>
        <p:nvCxnSpPr>
          <p:cNvPr id="27" name="Connector 26"/>
          <p:cNvCxnSpPr/>
          <p:nvPr/>
        </p:nvCxnSpPr>
        <p:spPr>
          <a:xfrm>
            <a:off x="6548932" y="2777947"/>
            <a:ext cx="499263" cy="0"/>
          </a:xfrm>
          <a:prstGeom prst="line">
            <a:avLst/>
          </a:prstGeom>
          <a:ln w="21590">
            <a:solidFill>
              <a:srgbClr val="C6532C"/>
            </a:solidFill>
          </a:ln>
        </p:spPr>
      </p:cxnSp>
      <p:sp>
        <p:nvSpPr>
          <p:cNvPr id="28" name="TextBox 27"/>
          <p:cNvSpPr txBox="1"/>
          <p:nvPr/>
        </p:nvSpPr>
        <p:spPr>
          <a:xfrm>
            <a:off x="7306056" y="2450592"/>
            <a:ext cx="3995928"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Organizations</a:t>
            </a:r>
          </a:p>
        </p:txBody>
      </p:sp>
      <p:sp>
        <p:nvSpPr>
          <p:cNvPr id="29" name="TextBox 28"/>
          <p:cNvSpPr txBox="1"/>
          <p:nvPr/>
        </p:nvSpPr>
        <p:spPr>
          <a:xfrm>
            <a:off x="7306056" y="3108960"/>
            <a:ext cx="3995928" cy="438912"/>
          </a:xfrm>
          <a:prstGeom prst="rect">
            <a:avLst/>
          </a:prstGeom>
          <a:noFill/>
        </p:spPr>
        <p:txBody>
          <a:bodyPr wrap="square" lIns="0" rIns="0" tIns="0" bIns="0">
            <a:spAutoFit/>
          </a:bodyPr>
          <a:lstStyle/>
          <a:p>
            <a:pPr>
              <a:spcAft>
                <a:spcPts val="600"/>
              </a:spcAft>
              <a:defRPr sz="2100" b="0">
                <a:solidFill>
                  <a:srgbClr val="171717"/>
                </a:solidFill>
                <a:latin typeface="Arial"/>
              </a:defRPr>
            </a:pPr>
            <a:r>
              <a:t>Potential paid tools</a:t>
            </a:r>
          </a:p>
        </p:txBody>
      </p:sp>
      <p:cxnSp>
        <p:nvCxnSpPr>
          <p:cNvPr id="30" name="Connector 29"/>
          <p:cNvCxnSpPr/>
          <p:nvPr/>
        </p:nvCxnSpPr>
        <p:spPr>
          <a:xfrm>
            <a:off x="6585508" y="3931920"/>
            <a:ext cx="64008" cy="64008"/>
          </a:xfrm>
          <a:prstGeom prst="line">
            <a:avLst/>
          </a:prstGeom>
          <a:ln w="21590">
            <a:solidFill>
              <a:srgbClr val="C6532C"/>
            </a:solidFill>
          </a:ln>
        </p:spPr>
      </p:cxnSp>
      <p:cxnSp>
        <p:nvCxnSpPr>
          <p:cNvPr id="31" name="Connector 30"/>
          <p:cNvCxnSpPr/>
          <p:nvPr/>
        </p:nvCxnSpPr>
        <p:spPr>
          <a:xfrm flipV="1">
            <a:off x="6649516" y="3855110"/>
            <a:ext cx="122896" cy="140818"/>
          </a:xfrm>
          <a:prstGeom prst="line">
            <a:avLst/>
          </a:prstGeom>
          <a:ln w="21590">
            <a:solidFill>
              <a:srgbClr val="C6532C"/>
            </a:solidFill>
          </a:ln>
        </p:spPr>
      </p:cxnSp>
      <p:sp>
        <p:nvSpPr>
          <p:cNvPr id="32" name="TextBox 31"/>
          <p:cNvSpPr txBox="1"/>
          <p:nvPr/>
        </p:nvSpPr>
        <p:spPr>
          <a:xfrm>
            <a:off x="7050024" y="3776472"/>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Issue credentials</a:t>
            </a:r>
          </a:p>
        </p:txBody>
      </p:sp>
      <p:cxnSp>
        <p:nvCxnSpPr>
          <p:cNvPr id="33" name="Connector 32"/>
          <p:cNvCxnSpPr/>
          <p:nvPr/>
        </p:nvCxnSpPr>
        <p:spPr>
          <a:xfrm>
            <a:off x="6585508" y="4453128"/>
            <a:ext cx="64008" cy="64008"/>
          </a:xfrm>
          <a:prstGeom prst="line">
            <a:avLst/>
          </a:prstGeom>
          <a:ln w="21590">
            <a:solidFill>
              <a:srgbClr val="C6532C"/>
            </a:solidFill>
          </a:ln>
        </p:spPr>
      </p:cxnSp>
      <p:cxnSp>
        <p:nvCxnSpPr>
          <p:cNvPr id="34" name="Connector 33"/>
          <p:cNvCxnSpPr/>
          <p:nvPr/>
        </p:nvCxnSpPr>
        <p:spPr>
          <a:xfrm flipV="1">
            <a:off x="6649516" y="4376318"/>
            <a:ext cx="122896" cy="140818"/>
          </a:xfrm>
          <a:prstGeom prst="line">
            <a:avLst/>
          </a:prstGeom>
          <a:ln w="21590">
            <a:solidFill>
              <a:srgbClr val="C6532C"/>
            </a:solidFill>
          </a:ln>
        </p:spPr>
      </p:cxnSp>
      <p:sp>
        <p:nvSpPr>
          <p:cNvPr id="35" name="TextBox 34"/>
          <p:cNvSpPr txBox="1"/>
          <p:nvPr/>
        </p:nvSpPr>
        <p:spPr>
          <a:xfrm>
            <a:off x="7050024" y="4297680"/>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Find practical talent</a:t>
            </a:r>
          </a:p>
        </p:txBody>
      </p:sp>
      <p:cxnSp>
        <p:nvCxnSpPr>
          <p:cNvPr id="36" name="Connector 35"/>
          <p:cNvCxnSpPr/>
          <p:nvPr/>
        </p:nvCxnSpPr>
        <p:spPr>
          <a:xfrm>
            <a:off x="6585508" y="4974336"/>
            <a:ext cx="64008" cy="64008"/>
          </a:xfrm>
          <a:prstGeom prst="line">
            <a:avLst/>
          </a:prstGeom>
          <a:ln w="21590">
            <a:solidFill>
              <a:srgbClr val="C6532C"/>
            </a:solidFill>
          </a:ln>
        </p:spPr>
      </p:cxnSp>
      <p:cxnSp>
        <p:nvCxnSpPr>
          <p:cNvPr id="37" name="Connector 36"/>
          <p:cNvCxnSpPr/>
          <p:nvPr/>
        </p:nvCxnSpPr>
        <p:spPr>
          <a:xfrm flipV="1">
            <a:off x="6649516" y="4897526"/>
            <a:ext cx="122896" cy="140818"/>
          </a:xfrm>
          <a:prstGeom prst="line">
            <a:avLst/>
          </a:prstGeom>
          <a:ln w="21590">
            <a:solidFill>
              <a:srgbClr val="C6532C"/>
            </a:solidFill>
          </a:ln>
        </p:spPr>
      </p:cxnSp>
      <p:sp>
        <p:nvSpPr>
          <p:cNvPr id="38" name="TextBox 37"/>
          <p:cNvSpPr txBox="1"/>
          <p:nvPr/>
        </p:nvSpPr>
        <p:spPr>
          <a:xfrm>
            <a:off x="7050024" y="4818888"/>
            <a:ext cx="4206240" cy="420624"/>
          </a:xfrm>
          <a:prstGeom prst="rect">
            <a:avLst/>
          </a:prstGeom>
          <a:noFill/>
        </p:spPr>
        <p:txBody>
          <a:bodyPr wrap="square" lIns="0" rIns="0" tIns="0" bIns="0">
            <a:spAutoFit/>
          </a:bodyPr>
          <a:lstStyle/>
          <a:p>
            <a:pPr>
              <a:spcAft>
                <a:spcPts val="600"/>
              </a:spcAft>
              <a:defRPr sz="2100" b="0">
                <a:solidFill>
                  <a:srgbClr val="171717"/>
                </a:solidFill>
                <a:latin typeface="Arial"/>
              </a:defRPr>
            </a:pPr>
            <a:r>
              <a:t>Manage opportunities</a:t>
            </a:r>
          </a:p>
        </p:txBody>
      </p:sp>
      <p:sp>
        <p:nvSpPr>
          <p:cNvPr id="39" name="Rounded Rectangle 38"/>
          <p:cNvSpPr/>
          <p:nvPr/>
        </p:nvSpPr>
        <p:spPr>
          <a:xfrm>
            <a:off x="621792" y="5925312"/>
            <a:ext cx="10954512" cy="640080"/>
          </a:xfrm>
          <a:prstGeom prst="roundRect">
            <a:avLst>
              <a:gd name="adj" fmla="val 8000"/>
            </a:avLst>
          </a:prstGeom>
          <a:solidFill>
            <a:srgbClr val="E7DECF"/>
          </a:solidFill>
          <a:ln>
            <a:noFill/>
          </a:ln>
        </p:spPr>
        <p:txBody>
          <a:bodyPr rtlCol="0" anchor="ctr"/>
          <a:lstStyle/>
          <a:p>
            <a:pPr algn="ctr"/>
          </a:p>
        </p:txBody>
      </p:sp>
      <p:cxnSp>
        <p:nvCxnSpPr>
          <p:cNvPr id="40" name="Connector 39"/>
          <p:cNvCxnSpPr/>
          <p:nvPr/>
        </p:nvCxnSpPr>
        <p:spPr>
          <a:xfrm>
            <a:off x="940368" y="6077651"/>
            <a:ext cx="222383" cy="0"/>
          </a:xfrm>
          <a:prstGeom prst="line">
            <a:avLst/>
          </a:prstGeom>
          <a:ln w="21590">
            <a:solidFill>
              <a:srgbClr val="C6532C"/>
            </a:solidFill>
          </a:ln>
        </p:spPr>
      </p:cxnSp>
      <p:cxnSp>
        <p:nvCxnSpPr>
          <p:cNvPr id="41" name="Connector 40"/>
          <p:cNvCxnSpPr/>
          <p:nvPr/>
        </p:nvCxnSpPr>
        <p:spPr>
          <a:xfrm>
            <a:off x="1162751" y="6077651"/>
            <a:ext cx="0" cy="291876"/>
          </a:xfrm>
          <a:prstGeom prst="line">
            <a:avLst/>
          </a:prstGeom>
          <a:ln w="21590">
            <a:solidFill>
              <a:srgbClr val="C6532C"/>
            </a:solidFill>
          </a:ln>
        </p:spPr>
      </p:cxnSp>
      <p:cxnSp>
        <p:nvCxnSpPr>
          <p:cNvPr id="42" name="Connector 41"/>
          <p:cNvCxnSpPr/>
          <p:nvPr/>
        </p:nvCxnSpPr>
        <p:spPr>
          <a:xfrm flipH="1">
            <a:off x="940368" y="6369527"/>
            <a:ext cx="222383" cy="0"/>
          </a:xfrm>
          <a:prstGeom prst="line">
            <a:avLst/>
          </a:prstGeom>
          <a:ln w="21590">
            <a:solidFill>
              <a:srgbClr val="C6532C"/>
            </a:solidFill>
          </a:ln>
        </p:spPr>
      </p:cxnSp>
      <p:cxnSp>
        <p:nvCxnSpPr>
          <p:cNvPr id="43" name="Connector 42"/>
          <p:cNvCxnSpPr/>
          <p:nvPr/>
        </p:nvCxnSpPr>
        <p:spPr>
          <a:xfrm flipV="1">
            <a:off x="940368" y="6077651"/>
            <a:ext cx="0" cy="291876"/>
          </a:xfrm>
          <a:prstGeom prst="line">
            <a:avLst/>
          </a:prstGeom>
          <a:ln w="21590">
            <a:solidFill>
              <a:srgbClr val="C6532C"/>
            </a:solidFill>
          </a:ln>
        </p:spPr>
      </p:cxnSp>
      <p:cxnSp>
        <p:nvCxnSpPr>
          <p:cNvPr id="44" name="Connector 43"/>
          <p:cNvCxnSpPr/>
          <p:nvPr/>
        </p:nvCxnSpPr>
        <p:spPr>
          <a:xfrm>
            <a:off x="985540" y="6167993"/>
            <a:ext cx="132039" cy="0"/>
          </a:xfrm>
          <a:prstGeom prst="line">
            <a:avLst/>
          </a:prstGeom>
          <a:ln w="21590">
            <a:solidFill>
              <a:srgbClr val="C6532C"/>
            </a:solidFill>
          </a:ln>
        </p:spPr>
      </p:cxnSp>
      <p:cxnSp>
        <p:nvCxnSpPr>
          <p:cNvPr id="45" name="Connector 44"/>
          <p:cNvCxnSpPr/>
          <p:nvPr/>
        </p:nvCxnSpPr>
        <p:spPr>
          <a:xfrm>
            <a:off x="985540" y="6223589"/>
            <a:ext cx="132039" cy="0"/>
          </a:xfrm>
          <a:prstGeom prst="line">
            <a:avLst/>
          </a:prstGeom>
          <a:ln w="21590">
            <a:solidFill>
              <a:srgbClr val="C6532C"/>
            </a:solidFill>
          </a:ln>
        </p:spPr>
      </p:cxnSp>
      <p:cxnSp>
        <p:nvCxnSpPr>
          <p:cNvPr id="46" name="Connector 45"/>
          <p:cNvCxnSpPr/>
          <p:nvPr/>
        </p:nvCxnSpPr>
        <p:spPr>
          <a:xfrm>
            <a:off x="985540" y="6279184"/>
            <a:ext cx="132039" cy="0"/>
          </a:xfrm>
          <a:prstGeom prst="line">
            <a:avLst/>
          </a:prstGeom>
          <a:ln w="21590">
            <a:solidFill>
              <a:srgbClr val="C6532C"/>
            </a:solidFill>
          </a:ln>
        </p:spPr>
      </p:cxnSp>
      <p:sp>
        <p:nvSpPr>
          <p:cNvPr id="47" name="TextBox 46"/>
          <p:cNvSpPr txBox="1"/>
          <p:nvPr/>
        </p:nvSpPr>
        <p:spPr>
          <a:xfrm>
            <a:off x="1444752" y="6099048"/>
            <a:ext cx="9875520" cy="365760"/>
          </a:xfrm>
          <a:prstGeom prst="rect">
            <a:avLst/>
          </a:prstGeom>
          <a:noFill/>
        </p:spPr>
        <p:txBody>
          <a:bodyPr wrap="square" lIns="0" rIns="0" tIns="0" bIns="0">
            <a:spAutoFit/>
          </a:bodyPr>
          <a:lstStyle/>
          <a:p>
            <a:pPr>
              <a:spcAft>
                <a:spcPts val="600"/>
              </a:spcAft>
              <a:defRPr sz="1700" b="0">
                <a:solidFill>
                  <a:srgbClr val="171717"/>
                </a:solidFill>
                <a:latin typeface="Arial"/>
              </a:defRPr>
            </a:pPr>
            <a:r>
              <a:t>Future option: project transaction fees, subject to validation and applicable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594360" y="457200"/>
            <a:ext cx="11018520" cy="1325880"/>
          </a:xfrm>
          <a:prstGeom prst="rect">
            <a:avLst/>
          </a:prstGeom>
          <a:noFill/>
        </p:spPr>
        <p:txBody>
          <a:bodyPr wrap="square" lIns="0" rIns="0" tIns="0" bIns="0">
            <a:spAutoFit/>
          </a:bodyPr>
          <a:lstStyle/>
          <a:p>
            <a:pPr>
              <a:spcAft>
                <a:spcPts val="600"/>
              </a:spcAft>
              <a:defRPr sz="4200" b="1">
                <a:solidFill>
                  <a:srgbClr val="171717"/>
                </a:solidFill>
                <a:latin typeface="Arial"/>
              </a:defRPr>
            </a:pPr>
            <a:r>
              <a:t>Start with communities.</a:t>
            </a:r>
          </a:p>
          <a:p>
            <a:pPr>
              <a:spcAft>
                <a:spcPts val="600"/>
              </a:spcAft>
              <a:defRPr sz="4200" b="1">
                <a:solidFill>
                  <a:srgbClr val="171717"/>
                </a:solidFill>
                <a:latin typeface="Arial"/>
              </a:defRPr>
            </a:pPr>
            <a:r>
              <a:t>Grow through real use.</a:t>
            </a:r>
          </a:p>
        </p:txBody>
      </p:sp>
      <p:sp>
        <p:nvSpPr>
          <p:cNvPr id="3" name="Rounded Rectangle 2"/>
          <p:cNvSpPr/>
          <p:nvPr/>
        </p:nvSpPr>
        <p:spPr>
          <a:xfrm>
            <a:off x="621792"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sp>
        <p:nvSpPr>
          <p:cNvPr id="4" name="Oval 3"/>
          <p:cNvSpPr/>
          <p:nvPr/>
        </p:nvSpPr>
        <p:spPr>
          <a:xfrm>
            <a:off x="1013338" y="2530144"/>
            <a:ext cx="158008" cy="158008"/>
          </a:xfrm>
          <a:prstGeom prst="ellipse">
            <a:avLst/>
          </a:prstGeom>
          <a:solidFill>
            <a:srgbClr val="C6532C"/>
          </a:solidFill>
          <a:ln>
            <a:noFill/>
          </a:ln>
        </p:spPr>
        <p:txBody>
          <a:bodyPr rtlCol="0" anchor="ctr"/>
          <a:lstStyle/>
          <a:p>
            <a:pPr algn="ctr"/>
          </a:p>
        </p:txBody>
      </p:sp>
      <p:cxnSp>
        <p:nvCxnSpPr>
          <p:cNvPr id="5" name="Connector 4"/>
          <p:cNvCxnSpPr/>
          <p:nvPr/>
        </p:nvCxnSpPr>
        <p:spPr>
          <a:xfrm flipV="1">
            <a:off x="939271" y="2801721"/>
            <a:ext cx="0" cy="118506"/>
          </a:xfrm>
          <a:prstGeom prst="line">
            <a:avLst/>
          </a:prstGeom>
          <a:ln w="21590">
            <a:solidFill>
              <a:srgbClr val="C6532C"/>
            </a:solidFill>
          </a:ln>
        </p:spPr>
      </p:cxnSp>
      <p:cxnSp>
        <p:nvCxnSpPr>
          <p:cNvPr id="6" name="Connector 5"/>
          <p:cNvCxnSpPr/>
          <p:nvPr/>
        </p:nvCxnSpPr>
        <p:spPr>
          <a:xfrm>
            <a:off x="939271" y="2801721"/>
            <a:ext cx="306141" cy="0"/>
          </a:xfrm>
          <a:prstGeom prst="line">
            <a:avLst/>
          </a:prstGeom>
          <a:ln w="21590">
            <a:solidFill>
              <a:srgbClr val="C6532C"/>
            </a:solidFill>
          </a:ln>
        </p:spPr>
      </p:cxnSp>
      <p:cxnSp>
        <p:nvCxnSpPr>
          <p:cNvPr id="7" name="Connector 6"/>
          <p:cNvCxnSpPr/>
          <p:nvPr/>
        </p:nvCxnSpPr>
        <p:spPr>
          <a:xfrm>
            <a:off x="1245412" y="2801721"/>
            <a:ext cx="0" cy="118506"/>
          </a:xfrm>
          <a:prstGeom prst="line">
            <a:avLst/>
          </a:prstGeom>
          <a:ln w="21590">
            <a:solidFill>
              <a:srgbClr val="C6532C"/>
            </a:solidFill>
          </a:ln>
        </p:spPr>
      </p:cxnSp>
      <p:sp>
        <p:nvSpPr>
          <p:cNvPr id="8" name="TextBox 7"/>
          <p:cNvSpPr txBox="1"/>
          <p:nvPr/>
        </p:nvSpPr>
        <p:spPr>
          <a:xfrm>
            <a:off x="1591056"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Reach</a:t>
            </a:r>
          </a:p>
        </p:txBody>
      </p:sp>
      <p:sp>
        <p:nvSpPr>
          <p:cNvPr id="9" name="TextBox 8"/>
          <p:cNvSpPr txBox="1"/>
          <p:nvPr/>
        </p:nvSpPr>
        <p:spPr>
          <a:xfrm>
            <a:off x="859536"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Developer + education</a:t>
            </a:r>
          </a:p>
          <a:p>
            <a:pPr>
              <a:spcAft>
                <a:spcPts val="600"/>
              </a:spcAft>
              <a:defRPr sz="2100" b="0">
                <a:solidFill>
                  <a:srgbClr val="171717"/>
                </a:solidFill>
                <a:latin typeface="Arial"/>
              </a:defRPr>
            </a:pPr>
            <a:r>
              <a:t>communities in Pakistan.</a:t>
            </a:r>
          </a:p>
        </p:txBody>
      </p:sp>
      <p:sp>
        <p:nvSpPr>
          <p:cNvPr id="10" name="TextBox 9"/>
          <p:cNvSpPr txBox="1"/>
          <p:nvPr/>
        </p:nvSpPr>
        <p:spPr>
          <a:xfrm>
            <a:off x="4059935" y="3182112"/>
            <a:ext cx="338328" cy="45720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sp>
        <p:nvSpPr>
          <p:cNvPr id="11" name="Rounded Rectangle 10"/>
          <p:cNvSpPr/>
          <p:nvPr/>
        </p:nvSpPr>
        <p:spPr>
          <a:xfrm>
            <a:off x="4398264"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cxnSp>
        <p:nvCxnSpPr>
          <p:cNvPr id="12" name="Connector 11"/>
          <p:cNvCxnSpPr/>
          <p:nvPr/>
        </p:nvCxnSpPr>
        <p:spPr>
          <a:xfrm>
            <a:off x="4666366" y="2653588"/>
            <a:ext cx="414771" cy="0"/>
          </a:xfrm>
          <a:prstGeom prst="line">
            <a:avLst/>
          </a:prstGeom>
          <a:ln w="21590">
            <a:solidFill>
              <a:srgbClr val="C6532C"/>
            </a:solidFill>
          </a:ln>
        </p:spPr>
      </p:cxnSp>
      <p:cxnSp>
        <p:nvCxnSpPr>
          <p:cNvPr id="13" name="Connector 12"/>
          <p:cNvCxnSpPr/>
          <p:nvPr/>
        </p:nvCxnSpPr>
        <p:spPr>
          <a:xfrm>
            <a:off x="5081137" y="2653588"/>
            <a:ext cx="0" cy="286390"/>
          </a:xfrm>
          <a:prstGeom prst="line">
            <a:avLst/>
          </a:prstGeom>
          <a:ln w="21590">
            <a:solidFill>
              <a:srgbClr val="C6532C"/>
            </a:solidFill>
          </a:ln>
        </p:spPr>
      </p:cxnSp>
      <p:cxnSp>
        <p:nvCxnSpPr>
          <p:cNvPr id="14" name="Connector 13"/>
          <p:cNvCxnSpPr/>
          <p:nvPr/>
        </p:nvCxnSpPr>
        <p:spPr>
          <a:xfrm flipH="1">
            <a:off x="4666366" y="2939978"/>
            <a:ext cx="414771" cy="0"/>
          </a:xfrm>
          <a:prstGeom prst="line">
            <a:avLst/>
          </a:prstGeom>
          <a:ln w="21590">
            <a:solidFill>
              <a:srgbClr val="C6532C"/>
            </a:solidFill>
          </a:ln>
        </p:spPr>
      </p:cxnSp>
      <p:cxnSp>
        <p:nvCxnSpPr>
          <p:cNvPr id="15" name="Connector 14"/>
          <p:cNvCxnSpPr/>
          <p:nvPr/>
        </p:nvCxnSpPr>
        <p:spPr>
          <a:xfrm flipV="1">
            <a:off x="4666366" y="2653588"/>
            <a:ext cx="0" cy="286390"/>
          </a:xfrm>
          <a:prstGeom prst="line">
            <a:avLst/>
          </a:prstGeom>
          <a:ln w="21590">
            <a:solidFill>
              <a:srgbClr val="C6532C"/>
            </a:solidFill>
          </a:ln>
        </p:spPr>
      </p:cxnSp>
      <p:cxnSp>
        <p:nvCxnSpPr>
          <p:cNvPr id="16" name="Connector 15"/>
          <p:cNvCxnSpPr/>
          <p:nvPr/>
        </p:nvCxnSpPr>
        <p:spPr>
          <a:xfrm flipV="1">
            <a:off x="4784872" y="2569646"/>
            <a:ext cx="0" cy="83942"/>
          </a:xfrm>
          <a:prstGeom prst="line">
            <a:avLst/>
          </a:prstGeom>
          <a:ln w="21590">
            <a:solidFill>
              <a:srgbClr val="C6532C"/>
            </a:solidFill>
          </a:ln>
        </p:spPr>
      </p:cxnSp>
      <p:cxnSp>
        <p:nvCxnSpPr>
          <p:cNvPr id="17" name="Connector 16"/>
          <p:cNvCxnSpPr/>
          <p:nvPr/>
        </p:nvCxnSpPr>
        <p:spPr>
          <a:xfrm>
            <a:off x="4784872" y="2569646"/>
            <a:ext cx="177759" cy="0"/>
          </a:xfrm>
          <a:prstGeom prst="line">
            <a:avLst/>
          </a:prstGeom>
          <a:ln w="21590">
            <a:solidFill>
              <a:srgbClr val="C6532C"/>
            </a:solidFill>
          </a:ln>
        </p:spPr>
      </p:cxnSp>
      <p:cxnSp>
        <p:nvCxnSpPr>
          <p:cNvPr id="18" name="Connector 17"/>
          <p:cNvCxnSpPr/>
          <p:nvPr/>
        </p:nvCxnSpPr>
        <p:spPr>
          <a:xfrm>
            <a:off x="4962631" y="2569646"/>
            <a:ext cx="0" cy="83942"/>
          </a:xfrm>
          <a:prstGeom prst="line">
            <a:avLst/>
          </a:prstGeom>
          <a:ln w="21590">
            <a:solidFill>
              <a:srgbClr val="C6532C"/>
            </a:solidFill>
          </a:ln>
        </p:spPr>
      </p:cxnSp>
      <p:cxnSp>
        <p:nvCxnSpPr>
          <p:cNvPr id="19" name="Connector 18"/>
          <p:cNvCxnSpPr/>
          <p:nvPr/>
        </p:nvCxnSpPr>
        <p:spPr>
          <a:xfrm>
            <a:off x="4666366" y="2762219"/>
            <a:ext cx="414771" cy="0"/>
          </a:xfrm>
          <a:prstGeom prst="line">
            <a:avLst/>
          </a:prstGeom>
          <a:ln w="21590">
            <a:solidFill>
              <a:srgbClr val="C6532C"/>
            </a:solidFill>
          </a:ln>
        </p:spPr>
      </p:cxnSp>
      <p:sp>
        <p:nvSpPr>
          <p:cNvPr id="20" name="TextBox 19"/>
          <p:cNvSpPr txBox="1"/>
          <p:nvPr/>
        </p:nvSpPr>
        <p:spPr>
          <a:xfrm>
            <a:off x="5367527"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Pilot</a:t>
            </a:r>
          </a:p>
        </p:txBody>
      </p:sp>
      <p:sp>
        <p:nvSpPr>
          <p:cNvPr id="21" name="TextBox 20"/>
          <p:cNvSpPr txBox="1"/>
          <p:nvPr/>
        </p:nvSpPr>
        <p:spPr>
          <a:xfrm>
            <a:off x="4636007"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Focused trials with</a:t>
            </a:r>
          </a:p>
          <a:p>
            <a:pPr>
              <a:spcAft>
                <a:spcPts val="600"/>
              </a:spcAft>
              <a:defRPr sz="2100" b="0">
                <a:solidFill>
                  <a:srgbClr val="171717"/>
                </a:solidFill>
                <a:latin typeface="Arial"/>
              </a:defRPr>
            </a:pPr>
            <a:r>
              <a:t>companies and issuers.</a:t>
            </a:r>
          </a:p>
        </p:txBody>
      </p:sp>
      <p:sp>
        <p:nvSpPr>
          <p:cNvPr id="22" name="TextBox 21"/>
          <p:cNvSpPr txBox="1"/>
          <p:nvPr/>
        </p:nvSpPr>
        <p:spPr>
          <a:xfrm>
            <a:off x="7836408" y="3182112"/>
            <a:ext cx="338328" cy="45720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sp>
        <p:nvSpPr>
          <p:cNvPr id="23" name="Rounded Rectangle 22"/>
          <p:cNvSpPr/>
          <p:nvPr/>
        </p:nvSpPr>
        <p:spPr>
          <a:xfrm>
            <a:off x="8174736" y="2221992"/>
            <a:ext cx="3392424" cy="2596896"/>
          </a:xfrm>
          <a:prstGeom prst="roundRect">
            <a:avLst>
              <a:gd name="adj" fmla="val 8000"/>
            </a:avLst>
          </a:prstGeom>
          <a:solidFill>
            <a:srgbClr val="FFFFFF"/>
          </a:solidFill>
          <a:ln>
            <a:solidFill>
              <a:srgbClr val="E7DECF"/>
            </a:solidFill>
          </a:ln>
        </p:spPr>
        <p:txBody>
          <a:bodyPr rtlCol="0" anchor="ctr"/>
          <a:lstStyle/>
          <a:p>
            <a:pPr algn="ctr"/>
          </a:p>
        </p:txBody>
      </p:sp>
      <p:cxnSp>
        <p:nvCxnSpPr>
          <p:cNvPr id="24" name="Connector 23"/>
          <p:cNvCxnSpPr/>
          <p:nvPr/>
        </p:nvCxnSpPr>
        <p:spPr>
          <a:xfrm>
            <a:off x="8492215" y="2540020"/>
            <a:ext cx="316017" cy="0"/>
          </a:xfrm>
          <a:prstGeom prst="line">
            <a:avLst/>
          </a:prstGeom>
          <a:ln w="21590">
            <a:solidFill>
              <a:srgbClr val="C6532C"/>
            </a:solidFill>
          </a:ln>
        </p:spPr>
      </p:cxnSp>
      <p:cxnSp>
        <p:nvCxnSpPr>
          <p:cNvPr id="25" name="Connector 24"/>
          <p:cNvCxnSpPr/>
          <p:nvPr/>
        </p:nvCxnSpPr>
        <p:spPr>
          <a:xfrm>
            <a:off x="8808232" y="2540020"/>
            <a:ext cx="0" cy="414772"/>
          </a:xfrm>
          <a:prstGeom prst="line">
            <a:avLst/>
          </a:prstGeom>
          <a:ln w="21590">
            <a:solidFill>
              <a:srgbClr val="C6532C"/>
            </a:solidFill>
          </a:ln>
        </p:spPr>
      </p:cxnSp>
      <p:cxnSp>
        <p:nvCxnSpPr>
          <p:cNvPr id="26" name="Connector 25"/>
          <p:cNvCxnSpPr/>
          <p:nvPr/>
        </p:nvCxnSpPr>
        <p:spPr>
          <a:xfrm flipH="1">
            <a:off x="8492215" y="2954792"/>
            <a:ext cx="316017" cy="0"/>
          </a:xfrm>
          <a:prstGeom prst="line">
            <a:avLst/>
          </a:prstGeom>
          <a:ln w="21590">
            <a:solidFill>
              <a:srgbClr val="C6532C"/>
            </a:solidFill>
          </a:ln>
        </p:spPr>
      </p:cxnSp>
      <p:cxnSp>
        <p:nvCxnSpPr>
          <p:cNvPr id="27" name="Connector 26"/>
          <p:cNvCxnSpPr/>
          <p:nvPr/>
        </p:nvCxnSpPr>
        <p:spPr>
          <a:xfrm flipV="1">
            <a:off x="8492215" y="2540020"/>
            <a:ext cx="0" cy="414772"/>
          </a:xfrm>
          <a:prstGeom prst="line">
            <a:avLst/>
          </a:prstGeom>
          <a:ln w="21590">
            <a:solidFill>
              <a:srgbClr val="C6532C"/>
            </a:solidFill>
          </a:ln>
        </p:spPr>
      </p:cxnSp>
      <p:sp>
        <p:nvSpPr>
          <p:cNvPr id="28" name="Oval 27"/>
          <p:cNvSpPr/>
          <p:nvPr/>
        </p:nvSpPr>
        <p:spPr>
          <a:xfrm>
            <a:off x="8571219" y="2633837"/>
            <a:ext cx="158008" cy="158008"/>
          </a:xfrm>
          <a:prstGeom prst="ellipse">
            <a:avLst/>
          </a:prstGeom>
          <a:solidFill>
            <a:srgbClr val="C6532C"/>
          </a:solidFill>
          <a:ln>
            <a:noFill/>
          </a:ln>
        </p:spPr>
        <p:txBody>
          <a:bodyPr rtlCol="0" anchor="ctr"/>
          <a:lstStyle/>
          <a:p>
            <a:pPr algn="ctr"/>
          </a:p>
        </p:txBody>
      </p:sp>
      <p:cxnSp>
        <p:nvCxnSpPr>
          <p:cNvPr id="29" name="Connector 28"/>
          <p:cNvCxnSpPr/>
          <p:nvPr/>
        </p:nvCxnSpPr>
        <p:spPr>
          <a:xfrm flipH="1">
            <a:off x="8571219" y="2791846"/>
            <a:ext cx="29627" cy="98755"/>
          </a:xfrm>
          <a:prstGeom prst="line">
            <a:avLst/>
          </a:prstGeom>
          <a:ln w="21590">
            <a:solidFill>
              <a:srgbClr val="C6532C"/>
            </a:solidFill>
          </a:ln>
        </p:spPr>
      </p:cxnSp>
      <p:cxnSp>
        <p:nvCxnSpPr>
          <p:cNvPr id="30" name="Connector 29"/>
          <p:cNvCxnSpPr/>
          <p:nvPr/>
        </p:nvCxnSpPr>
        <p:spPr>
          <a:xfrm>
            <a:off x="8689726" y="2791846"/>
            <a:ext cx="29626" cy="98755"/>
          </a:xfrm>
          <a:prstGeom prst="line">
            <a:avLst/>
          </a:prstGeom>
          <a:ln w="21590">
            <a:solidFill>
              <a:srgbClr val="C6532C"/>
            </a:solidFill>
          </a:ln>
        </p:spPr>
      </p:cxnSp>
      <p:sp>
        <p:nvSpPr>
          <p:cNvPr id="31" name="TextBox 30"/>
          <p:cNvSpPr txBox="1"/>
          <p:nvPr/>
        </p:nvSpPr>
        <p:spPr>
          <a:xfrm>
            <a:off x="9144000" y="2514600"/>
            <a:ext cx="2185416" cy="566928"/>
          </a:xfrm>
          <a:prstGeom prst="rect">
            <a:avLst/>
          </a:prstGeom>
          <a:noFill/>
        </p:spPr>
        <p:txBody>
          <a:bodyPr wrap="square" lIns="0" rIns="0" tIns="0" bIns="0">
            <a:spAutoFit/>
          </a:bodyPr>
          <a:lstStyle/>
          <a:p>
            <a:pPr>
              <a:spcAft>
                <a:spcPts val="600"/>
              </a:spcAft>
              <a:defRPr sz="3100" b="1">
                <a:solidFill>
                  <a:srgbClr val="171717"/>
                </a:solidFill>
                <a:latin typeface="Arial"/>
              </a:defRPr>
            </a:pPr>
            <a:r>
              <a:t>Grow</a:t>
            </a:r>
          </a:p>
        </p:txBody>
      </p:sp>
      <p:sp>
        <p:nvSpPr>
          <p:cNvPr id="32" name="TextBox 31"/>
          <p:cNvSpPr txBox="1"/>
          <p:nvPr/>
        </p:nvSpPr>
        <p:spPr>
          <a:xfrm>
            <a:off x="8412480" y="3447288"/>
            <a:ext cx="2926080" cy="1051560"/>
          </a:xfrm>
          <a:prstGeom prst="rect">
            <a:avLst/>
          </a:prstGeom>
          <a:noFill/>
        </p:spPr>
        <p:txBody>
          <a:bodyPr wrap="square" lIns="0" rIns="0" tIns="0" bIns="0">
            <a:spAutoFit/>
          </a:bodyPr>
          <a:lstStyle/>
          <a:p>
            <a:pPr>
              <a:spcAft>
                <a:spcPts val="600"/>
              </a:spcAft>
              <a:defRPr sz="2100" b="0">
                <a:solidFill>
                  <a:srgbClr val="171717"/>
                </a:solidFill>
                <a:latin typeface="Arial"/>
              </a:defRPr>
            </a:pPr>
            <a:r>
              <a:t>Completed journeys,</a:t>
            </a:r>
          </a:p>
          <a:p>
            <a:pPr>
              <a:spcAft>
                <a:spcPts val="600"/>
              </a:spcAft>
              <a:defRPr sz="2100" b="0">
                <a:solidFill>
                  <a:srgbClr val="171717"/>
                </a:solidFill>
                <a:latin typeface="Arial"/>
              </a:defRPr>
            </a:pPr>
            <a:r>
              <a:t>repeat use and feedback.</a:t>
            </a:r>
          </a:p>
        </p:txBody>
      </p:sp>
      <p:sp>
        <p:nvSpPr>
          <p:cNvPr id="33" name="Rounded Rectangle 32"/>
          <p:cNvSpPr/>
          <p:nvPr/>
        </p:nvSpPr>
        <p:spPr>
          <a:xfrm>
            <a:off x="621792" y="5266944"/>
            <a:ext cx="10954512" cy="1188720"/>
          </a:xfrm>
          <a:prstGeom prst="roundRect">
            <a:avLst>
              <a:gd name="adj" fmla="val 8000"/>
            </a:avLst>
          </a:prstGeom>
          <a:solidFill>
            <a:srgbClr val="E7DECF"/>
          </a:solidFill>
          <a:ln>
            <a:noFill/>
          </a:ln>
        </p:spPr>
        <p:txBody>
          <a:bodyPr rtlCol="0" anchor="ctr"/>
          <a:lstStyle/>
          <a:p>
            <a:pPr algn="ctr"/>
          </a:p>
        </p:txBody>
      </p:sp>
      <p:sp>
        <p:nvSpPr>
          <p:cNvPr id="34" name="Oval 33"/>
          <p:cNvSpPr/>
          <p:nvPr/>
        </p:nvSpPr>
        <p:spPr>
          <a:xfrm>
            <a:off x="1107704" y="5586069"/>
            <a:ext cx="169712" cy="169712"/>
          </a:xfrm>
          <a:prstGeom prst="ellipse">
            <a:avLst/>
          </a:prstGeom>
          <a:solidFill>
            <a:srgbClr val="C6532C"/>
          </a:solidFill>
          <a:ln>
            <a:noFill/>
          </a:ln>
        </p:spPr>
        <p:txBody>
          <a:bodyPr rtlCol="0" anchor="ctr"/>
          <a:lstStyle/>
          <a:p>
            <a:pPr algn="ctr"/>
          </a:p>
        </p:txBody>
      </p:sp>
      <p:cxnSp>
        <p:nvCxnSpPr>
          <p:cNvPr id="35" name="Connector 34"/>
          <p:cNvCxnSpPr/>
          <p:nvPr/>
        </p:nvCxnSpPr>
        <p:spPr>
          <a:xfrm flipV="1">
            <a:off x="1028151" y="5877763"/>
            <a:ext cx="0" cy="127284"/>
          </a:xfrm>
          <a:prstGeom prst="line">
            <a:avLst/>
          </a:prstGeom>
          <a:ln w="21590">
            <a:solidFill>
              <a:srgbClr val="C6532C"/>
            </a:solidFill>
          </a:ln>
        </p:spPr>
      </p:cxnSp>
      <p:cxnSp>
        <p:nvCxnSpPr>
          <p:cNvPr id="36" name="Connector 35"/>
          <p:cNvCxnSpPr/>
          <p:nvPr/>
        </p:nvCxnSpPr>
        <p:spPr>
          <a:xfrm>
            <a:off x="1028151" y="5877763"/>
            <a:ext cx="328818" cy="0"/>
          </a:xfrm>
          <a:prstGeom prst="line">
            <a:avLst/>
          </a:prstGeom>
          <a:ln w="21590">
            <a:solidFill>
              <a:srgbClr val="C6532C"/>
            </a:solidFill>
          </a:ln>
        </p:spPr>
      </p:cxnSp>
      <p:cxnSp>
        <p:nvCxnSpPr>
          <p:cNvPr id="37" name="Connector 36"/>
          <p:cNvCxnSpPr/>
          <p:nvPr/>
        </p:nvCxnSpPr>
        <p:spPr>
          <a:xfrm>
            <a:off x="1356969" y="5877763"/>
            <a:ext cx="0" cy="127284"/>
          </a:xfrm>
          <a:prstGeom prst="line">
            <a:avLst/>
          </a:prstGeom>
          <a:ln w="21590">
            <a:solidFill>
              <a:srgbClr val="C6532C"/>
            </a:solidFill>
          </a:ln>
        </p:spPr>
      </p:cxnSp>
      <p:sp>
        <p:nvSpPr>
          <p:cNvPr id="38" name="TextBox 37"/>
          <p:cNvSpPr txBox="1"/>
          <p:nvPr/>
        </p:nvSpPr>
        <p:spPr>
          <a:xfrm>
            <a:off x="1755648" y="5486400"/>
            <a:ext cx="3108960" cy="484632"/>
          </a:xfrm>
          <a:prstGeom prst="rect">
            <a:avLst/>
          </a:prstGeom>
          <a:noFill/>
        </p:spPr>
        <p:txBody>
          <a:bodyPr wrap="square" lIns="0" rIns="0" tIns="0" bIns="0">
            <a:spAutoFit/>
          </a:bodyPr>
          <a:lstStyle/>
          <a:p>
            <a:pPr>
              <a:spcAft>
                <a:spcPts val="600"/>
              </a:spcAft>
              <a:defRPr sz="2500" b="1">
                <a:solidFill>
                  <a:srgbClr val="171717"/>
                </a:solidFill>
                <a:latin typeface="Arial"/>
              </a:defRPr>
            </a:pPr>
            <a:r>
              <a:t>Founder advantage</a:t>
            </a:r>
          </a:p>
        </p:txBody>
      </p:sp>
      <p:sp>
        <p:nvSpPr>
          <p:cNvPr id="39" name="TextBox 38"/>
          <p:cNvSpPr txBox="1"/>
          <p:nvPr/>
        </p:nvSpPr>
        <p:spPr>
          <a:xfrm>
            <a:off x="4956048" y="5504688"/>
            <a:ext cx="6336792" cy="731520"/>
          </a:xfrm>
          <a:prstGeom prst="rect">
            <a:avLst/>
          </a:prstGeom>
          <a:noFill/>
        </p:spPr>
        <p:txBody>
          <a:bodyPr wrap="square" lIns="0" rIns="0" tIns="0" bIns="0">
            <a:spAutoFit/>
          </a:bodyPr>
          <a:lstStyle/>
          <a:p>
            <a:pPr>
              <a:spcAft>
                <a:spcPts val="600"/>
              </a:spcAft>
              <a:defRPr sz="2000" b="0">
                <a:solidFill>
                  <a:srgbClr val="171717"/>
                </a:solidFill>
                <a:latin typeface="Arial"/>
              </a:defRPr>
            </a:pPr>
            <a:r>
              <a:t>Experience building developer communities,</a:t>
            </a:r>
          </a:p>
          <a:p>
            <a:pPr>
              <a:spcAft>
                <a:spcPts val="600"/>
              </a:spcAft>
              <a:defRPr sz="2000" b="0">
                <a:solidFill>
                  <a:srgbClr val="171717"/>
                </a:solidFill>
                <a:latin typeface="Arial"/>
              </a:defRPr>
            </a:pPr>
            <a:r>
              <a:t>educational workshops and hackathons in Pakistan.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pic>
        <p:nvPicPr>
          <p:cNvPr id="2" name="Picture 1" descr="brand-mark-white.png"/>
          <p:cNvPicPr>
            <a:picLocks noChangeAspect="1"/>
          </p:cNvPicPr>
          <p:nvPr/>
        </p:nvPicPr>
        <p:blipFill>
          <a:blip r:embed="rId2"/>
          <a:stretch>
            <a:fillRect/>
          </a:stretch>
        </p:blipFill>
        <p:spPr>
          <a:xfrm>
            <a:off x="640080" y="502920"/>
            <a:ext cx="402336" cy="402336"/>
          </a:xfrm>
          <a:prstGeom prst="rect">
            <a:avLst/>
          </a:prstGeom>
        </p:spPr>
      </p:pic>
      <p:sp>
        <p:nvSpPr>
          <p:cNvPr id="3" name="TextBox 2"/>
          <p:cNvSpPr txBox="1"/>
          <p:nvPr/>
        </p:nvSpPr>
        <p:spPr>
          <a:xfrm>
            <a:off x="1161288" y="484632"/>
            <a:ext cx="1828800" cy="502920"/>
          </a:xfrm>
          <a:prstGeom prst="rect">
            <a:avLst/>
          </a:prstGeom>
          <a:noFill/>
        </p:spPr>
        <p:txBody>
          <a:bodyPr wrap="square" lIns="0" rIns="0" tIns="0" bIns="0">
            <a:spAutoFit/>
          </a:bodyPr>
          <a:lstStyle/>
          <a:p>
            <a:pPr>
              <a:spcAft>
                <a:spcPts val="600"/>
              </a:spcAft>
              <a:defRPr sz="2600" b="1">
                <a:solidFill>
                  <a:srgbClr val="FFFFFF"/>
                </a:solidFill>
                <a:latin typeface="Arial"/>
              </a:defRPr>
            </a:pPr>
            <a:r>
              <a:t>ProofPak</a:t>
            </a:r>
          </a:p>
        </p:txBody>
      </p:sp>
      <p:sp>
        <p:nvSpPr>
          <p:cNvPr id="4" name="TextBox 3"/>
          <p:cNvSpPr txBox="1"/>
          <p:nvPr/>
        </p:nvSpPr>
        <p:spPr>
          <a:xfrm>
            <a:off x="640080" y="1444752"/>
            <a:ext cx="10972800" cy="1764792"/>
          </a:xfrm>
          <a:prstGeom prst="rect">
            <a:avLst/>
          </a:prstGeom>
          <a:noFill/>
        </p:spPr>
        <p:txBody>
          <a:bodyPr wrap="square" lIns="0" rIns="0" tIns="0" bIns="0">
            <a:spAutoFit/>
          </a:bodyPr>
          <a:lstStyle/>
          <a:p>
            <a:pPr>
              <a:spcAft>
                <a:spcPts val="600"/>
              </a:spcAft>
              <a:defRPr sz="5300" b="1">
                <a:solidFill>
                  <a:srgbClr val="FFFFFF"/>
                </a:solidFill>
                <a:latin typeface="Arial"/>
              </a:defRPr>
            </a:pPr>
            <a:r>
              <a:t>Your work should</a:t>
            </a:r>
          </a:p>
          <a:p>
            <a:pPr>
              <a:spcAft>
                <a:spcPts val="600"/>
              </a:spcAft>
              <a:defRPr sz="5300" b="1">
                <a:solidFill>
                  <a:srgbClr val="FFFFFF"/>
                </a:solidFill>
                <a:latin typeface="Arial"/>
              </a:defRPr>
            </a:pPr>
            <a:r>
              <a:t>build your reputation.</a:t>
            </a:r>
          </a:p>
        </p:txBody>
      </p:sp>
      <p:cxnSp>
        <p:nvCxnSpPr>
          <p:cNvPr id="5" name="Connector 4"/>
          <p:cNvCxnSpPr/>
          <p:nvPr/>
        </p:nvCxnSpPr>
        <p:spPr>
          <a:xfrm>
            <a:off x="685800" y="3529584"/>
            <a:ext cx="1188719" cy="0"/>
          </a:xfrm>
          <a:prstGeom prst="line">
            <a:avLst/>
          </a:prstGeom>
          <a:ln w="63500">
            <a:solidFill>
              <a:srgbClr val="C6532C"/>
            </a:solidFill>
          </a:ln>
        </p:spPr>
      </p:cxnSp>
      <p:sp>
        <p:nvSpPr>
          <p:cNvPr id="6" name="TextBox 5"/>
          <p:cNvSpPr txBox="1"/>
          <p:nvPr/>
        </p:nvSpPr>
        <p:spPr>
          <a:xfrm>
            <a:off x="685800" y="3840480"/>
            <a:ext cx="10789920" cy="1078992"/>
          </a:xfrm>
          <a:prstGeom prst="rect">
            <a:avLst/>
          </a:prstGeom>
          <a:noFill/>
        </p:spPr>
        <p:txBody>
          <a:bodyPr wrap="square" lIns="0" rIns="0" tIns="0" bIns="0">
            <a:spAutoFit/>
          </a:bodyPr>
          <a:lstStyle/>
          <a:p>
            <a:pPr>
              <a:spcAft>
                <a:spcPts val="600"/>
              </a:spcAft>
              <a:defRPr sz="2900" b="0">
                <a:solidFill>
                  <a:srgbClr val="FFFFFF"/>
                </a:solidFill>
                <a:latin typeface="Arial"/>
              </a:defRPr>
            </a:pPr>
            <a:r>
              <a:t>A Skill Passport that grows with every</a:t>
            </a:r>
          </a:p>
          <a:p>
            <a:pPr>
              <a:spcAft>
                <a:spcPts val="600"/>
              </a:spcAft>
              <a:defRPr sz="2900" b="0">
                <a:solidFill>
                  <a:srgbClr val="FFFFFF"/>
                </a:solidFill>
                <a:latin typeface="Arial"/>
              </a:defRPr>
            </a:pPr>
            <a:r>
              <a:t>project, credential, and achievement.</a:t>
            </a:r>
          </a:p>
        </p:txBody>
      </p:sp>
      <p:sp>
        <p:nvSpPr>
          <p:cNvPr id="7" name="TextBox 6"/>
          <p:cNvSpPr txBox="1"/>
          <p:nvPr/>
        </p:nvSpPr>
        <p:spPr>
          <a:xfrm>
            <a:off x="685800" y="5404104"/>
            <a:ext cx="10789920" cy="457200"/>
          </a:xfrm>
          <a:prstGeom prst="rect">
            <a:avLst/>
          </a:prstGeom>
          <a:noFill/>
        </p:spPr>
        <p:txBody>
          <a:bodyPr wrap="square" lIns="0" rIns="0" tIns="0" bIns="0">
            <a:spAutoFit/>
          </a:bodyPr>
          <a:lstStyle/>
          <a:p>
            <a:pPr>
              <a:spcAft>
                <a:spcPts val="600"/>
              </a:spcAft>
              <a:defRPr sz="1800" b="0">
                <a:solidFill>
                  <a:srgbClr val="FFFFFF"/>
                </a:solidFill>
                <a:latin typeface="Arial"/>
              </a:defRPr>
            </a:pPr>
            <a:r>
              <a:t>Next: real-user testing  →  company + issuer pilots  →  wider support</a:t>
            </a:r>
          </a:p>
        </p:txBody>
      </p:sp>
      <p:sp>
        <p:nvSpPr>
          <p:cNvPr id="8" name="TextBox 7"/>
          <p:cNvSpPr txBox="1"/>
          <p:nvPr/>
        </p:nvSpPr>
        <p:spPr>
          <a:xfrm>
            <a:off x="685800" y="5989320"/>
            <a:ext cx="3017520" cy="658368"/>
          </a:xfrm>
          <a:prstGeom prst="rect">
            <a:avLst/>
          </a:prstGeom>
          <a:noFill/>
        </p:spPr>
        <p:txBody>
          <a:bodyPr wrap="square" lIns="0" rIns="0" tIns="0" bIns="0">
            <a:spAutoFit/>
          </a:bodyPr>
          <a:lstStyle/>
          <a:p>
            <a:pPr>
              <a:spcAft>
                <a:spcPts val="600"/>
              </a:spcAft>
              <a:defRPr sz="4000" b="1">
                <a:solidFill>
                  <a:srgbClr val="FFFFFF"/>
                </a:solidFill>
                <a:latin typeface="Arial"/>
              </a:defRPr>
            </a:pPr>
            <a:r>
              <a:t>ProofPak</a:t>
            </a:r>
          </a:p>
        </p:txBody>
      </p:sp>
      <p:sp>
        <p:nvSpPr>
          <p:cNvPr id="9" name="TextBox 8"/>
          <p:cNvSpPr txBox="1"/>
          <p:nvPr/>
        </p:nvSpPr>
        <p:spPr>
          <a:xfrm>
            <a:off x="3931920" y="5961888"/>
            <a:ext cx="7315200" cy="832104"/>
          </a:xfrm>
          <a:prstGeom prst="rect">
            <a:avLst/>
          </a:prstGeom>
          <a:noFill/>
        </p:spPr>
        <p:txBody>
          <a:bodyPr wrap="square" lIns="0" rIns="0" tIns="0" bIns="0">
            <a:spAutoFit/>
          </a:bodyPr>
          <a:lstStyle/>
          <a:p>
            <a:pPr>
              <a:spcAft>
                <a:spcPts val="600"/>
              </a:spcAft>
              <a:defRPr sz="2500" b="1">
                <a:solidFill>
                  <a:srgbClr val="FFFFFF"/>
                </a:solidFill>
                <a:latin typeface="Arial"/>
              </a:defRPr>
            </a:pPr>
            <a:r>
              <a:t>Prove your skills. Get work.</a:t>
            </a:r>
          </a:p>
          <a:p>
            <a:pPr>
              <a:spcAft>
                <a:spcPts val="600"/>
              </a:spcAft>
              <a:defRPr sz="2500" b="1">
                <a:solidFill>
                  <a:srgbClr val="FFFFFF"/>
                </a:solidFill>
                <a:latin typeface="Arial"/>
              </a:defRPr>
            </a:pPr>
            <a:r>
              <a:t>Build your reputation.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